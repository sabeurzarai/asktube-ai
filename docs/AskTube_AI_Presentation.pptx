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8814" autoAdjust="0"/>
  </p:normalViewPr>
  <p:slideViewPr>
    <p:cSldViewPr snapToGrid="0" snapToObjects="1">
      <p:cViewPr varScale="1">
        <p:scale>
          <a:sx n="87" d="100"/>
          <a:sy n="87" d="100"/>
        </p:scale>
        <p:origin x="1476" y="-19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12148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[30 sec] AskTube AI is my final project.</a:t>
            </a:r>
          </a:p>
          <a:p>
            <a:endParaRPr/>
          </a:p>
          <a:p>
            <a:r>
              <a:t>The idea is simple: the user searches for a YouTube video, the app processes the transcript, and then the user can chat with the video content.</a:t>
            </a:r>
          </a:p>
          <a:p>
            <a:endParaRPr/>
          </a:p>
          <a:p>
            <a:r>
              <a:t>The answers are not generic AI answers — they are grounded in the transcript and include timestamp citations, so the user can verify exactly where the answer came from.</a:t>
            </a:r>
          </a:p>
          <a:p>
            <a:endParaRPr/>
          </a:p>
          <a:p>
            <a:r>
              <a:t>KEY MESSAGE: This is a learning assistant for YouTube videos, not just a normal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[45 sec] The problem I wanted to solve is that YouTube has a lot of good learning content, but long videos are difficult to search inside.</a:t>
            </a:r>
          </a:p>
          <a:p>
            <a:endParaRPr/>
          </a:p>
          <a:p>
            <a:r>
              <a:t>AskTube AI turns the video transcript into a searchable knowledge base. The user searches, chooses a video, the backend processes the transcript, and then the user can ask questions.</a:t>
            </a:r>
          </a:p>
          <a:p>
            <a:endParaRPr/>
          </a:p>
          <a:p>
            <a:r>
              <a:t>The trust rule is very important: if the transcript does not contain the answer, the assistant refuses instead of inventing.</a:t>
            </a:r>
          </a:p>
          <a:p>
            <a:endParaRPr/>
          </a:p>
          <a:p>
            <a:r>
              <a:t>KEY MESSAGE: The value is speed plus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[40 sec] The user journey has four steps.</a:t>
            </a:r>
          </a:p>
          <a:p>
            <a:endParaRPr/>
          </a:p>
          <a:p>
            <a:r>
              <a:t>1. Search by text or voice.</a:t>
            </a:r>
          </a:p>
          <a:p>
            <a:r>
              <a:t>2. Choose a video from a Netflix-style carousel.</a:t>
            </a:r>
          </a:p>
          <a:p>
            <a:r>
              <a:t>3. The backend extracts the transcript, chunks it, embeds it, and stores it in ChromaDB.</a:t>
            </a:r>
          </a:p>
          <a:p>
            <a:r>
              <a:t>4. The user chats with the video and gets timestamped answers.</a:t>
            </a:r>
          </a:p>
          <a:p>
            <a:endParaRPr/>
          </a:p>
          <a:p>
            <a:r>
              <a:t>I added duration filters, loading states, smooth animations, and a 3D assistant to make the flow feel like a real product.</a:t>
            </a:r>
          </a:p>
          <a:p>
            <a:endParaRPr/>
          </a:p>
          <a:p>
            <a:r>
              <a:t>KEY MESSAGE: The technical pipeline is hidden behind a simple user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[55 sec] The architecture has three main layers.</a:t>
            </a:r>
          </a:p>
          <a:p>
            <a:endParaRPr/>
          </a:p>
          <a:p>
            <a:r>
              <a:t>Frontend: Next.js with TypeScript, Tailwind, Framer Motion, Embla carousel, and Three.js for the 3D assistant.</a:t>
            </a:r>
          </a:p>
          <a:p>
            <a:endParaRPr/>
          </a:p>
          <a:p>
            <a:r>
              <a:t>Backend: FastAPI with routes for search, transcripts, chunking, vector storage, chat, agent chat, speech, and evaluations.</a:t>
            </a:r>
          </a:p>
          <a:p>
            <a:endParaRPr/>
          </a:p>
          <a:p>
            <a:r>
              <a:t>AI and data layer: LangChain, OpenAI models, ChromaDB, Whisper fallback, and optional LangSmith tracing.</a:t>
            </a:r>
          </a:p>
          <a:p>
            <a:endParaRPr/>
          </a:p>
          <a:p>
            <a:r>
              <a:t>Everything runs with Docker Compose. There is also an observability layer: analytics events, RAG metrics, pipeline metrics, Prometheus metrics, and an /analytics dashboard.</a:t>
            </a:r>
          </a:p>
          <a:p>
            <a:endParaRPr/>
          </a:p>
          <a:p>
            <a:r>
              <a:t>KEY MESSAGE: Separated like a production app — UI, API, AI/data pipeline, and observability.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[55 sec] This is the most important backend flow.</a:t>
            </a:r>
          </a:p>
          <a:p>
            <a:endParaRPr/>
          </a:p>
          <a:p>
            <a:r>
              <a:t>When the user selects a video, the backend first gets metadata from the YouTube Data API. Then it tries to get the transcript using youtube-transcript-api — this was also the approach recommended by Carlos.</a:t>
            </a:r>
          </a:p>
          <a:p>
            <a:endParaRPr/>
          </a:p>
          <a:p>
            <a:r>
              <a:t>The transcript is split into chunks. Each chunk keeps timestamp metadata so the answer can cite exact moments later.</a:t>
            </a:r>
          </a:p>
          <a:p>
            <a:endParaRPr/>
          </a:p>
          <a:p>
            <a:r>
              <a:t>Then OpenAI embeddings are generated and stored in ChromaDB. After this step, the video is ready for RAG questions.</a:t>
            </a:r>
          </a:p>
          <a:p>
            <a:endParaRPr/>
          </a:p>
          <a:p>
            <a:r>
              <a:t>Whisper and yt-dlp exist only as a fallback if captions are unavailable. The normal flow does not download full videos.</a:t>
            </a:r>
          </a:p>
          <a:p>
            <a:endParaRPr/>
          </a:p>
          <a:p>
            <a:r>
              <a:t>KEY MESSAGE: Transcript first, audio fallback only when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[55 sec] To match the tool requirement, I implemented a </a:t>
            </a:r>
            <a:r>
              <a:rPr dirty="0" err="1"/>
              <a:t>LangChain</a:t>
            </a:r>
            <a:r>
              <a:rPr dirty="0"/>
              <a:t> tools layer.</a:t>
            </a:r>
          </a:p>
          <a:p>
            <a:endParaRPr dirty="0"/>
          </a:p>
          <a:p>
            <a:r>
              <a:rPr dirty="0"/>
              <a:t>Each tool wraps an existing backend service:</a:t>
            </a:r>
          </a:p>
          <a:p>
            <a:r>
              <a:rPr dirty="0"/>
              <a:t>- </a:t>
            </a:r>
            <a:r>
              <a:rPr dirty="0" err="1"/>
              <a:t>search_youtube_videos</a:t>
            </a:r>
            <a:endParaRPr dirty="0"/>
          </a:p>
          <a:p>
            <a:r>
              <a:rPr dirty="0"/>
              <a:t>- </a:t>
            </a:r>
            <a:r>
              <a:rPr dirty="0" err="1"/>
              <a:t>extract_transcript</a:t>
            </a:r>
            <a:endParaRPr dirty="0"/>
          </a:p>
          <a:p>
            <a:r>
              <a:rPr dirty="0"/>
              <a:t>- </a:t>
            </a:r>
            <a:r>
              <a:rPr dirty="0" err="1"/>
              <a:t>chunk_transcript</a:t>
            </a:r>
            <a:endParaRPr dirty="0"/>
          </a:p>
          <a:p>
            <a:r>
              <a:rPr dirty="0"/>
              <a:t>- </a:t>
            </a:r>
            <a:r>
              <a:rPr dirty="0" err="1"/>
              <a:t>store_video_vectors</a:t>
            </a:r>
            <a:endParaRPr dirty="0"/>
          </a:p>
          <a:p>
            <a:r>
              <a:rPr dirty="0"/>
              <a:t>- </a:t>
            </a:r>
            <a:r>
              <a:rPr dirty="0" err="1"/>
              <a:t>retrieve_context</a:t>
            </a:r>
            <a:endParaRPr dirty="0"/>
          </a:p>
          <a:p>
            <a:r>
              <a:rPr dirty="0"/>
              <a:t>- </a:t>
            </a:r>
            <a:r>
              <a:rPr dirty="0" err="1"/>
              <a:t>answer_question</a:t>
            </a:r>
            <a:endParaRPr dirty="0"/>
          </a:p>
          <a:p>
            <a:endParaRPr dirty="0"/>
          </a:p>
          <a:p>
            <a:r>
              <a:rPr dirty="0"/>
              <a:t>The </a:t>
            </a:r>
            <a:r>
              <a:rPr dirty="0" err="1"/>
              <a:t>AgentService</a:t>
            </a:r>
            <a:r>
              <a:rPr dirty="0"/>
              <a:t> binds these tools to the LLM. So the system is not just one prompt — it can decide which tool is needed and return the final answer with citations and the session ID.</a:t>
            </a:r>
          </a:p>
          <a:p>
            <a:endParaRPr dirty="0"/>
          </a:p>
          <a:p>
            <a:r>
              <a:rPr dirty="0"/>
              <a:t>There is also memory, so follow-up questions can use the previous conversation.</a:t>
            </a:r>
          </a:p>
          <a:p>
            <a:endParaRPr dirty="0"/>
          </a:p>
          <a:p>
            <a:r>
              <a:rPr dirty="0"/>
              <a:t>KEY MESSAGE: This directly covers the "LLM with tools and memory"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[45 sec] The RAG flow has four steps.</a:t>
            </a:r>
          </a:p>
          <a:p>
            <a:endParaRPr dirty="0"/>
          </a:p>
          <a:p>
            <a:r>
              <a:rPr dirty="0"/>
              <a:t>1. The user question retrieves the most relevant transcript chunks from </a:t>
            </a:r>
            <a:r>
              <a:rPr dirty="0" err="1"/>
              <a:t>ChromaDB</a:t>
            </a:r>
            <a:r>
              <a:rPr dirty="0"/>
              <a:t>.</a:t>
            </a:r>
          </a:p>
          <a:p>
            <a:r>
              <a:rPr dirty="0"/>
              <a:t>2. Those chunks, the memory, and the rules are injected into the prompt.</a:t>
            </a:r>
          </a:p>
          <a:p>
            <a:r>
              <a:rPr dirty="0"/>
              <a:t>3. The model writes the answer only from that context.</a:t>
            </a:r>
          </a:p>
          <a:p>
            <a:r>
              <a:rPr dirty="0"/>
              <a:t>4. The UI shows timestamp citations.</a:t>
            </a:r>
          </a:p>
          <a:p>
            <a:endParaRPr dirty="0"/>
          </a:p>
          <a:p>
            <a:r>
              <a:rPr dirty="0"/>
              <a:t>If the answer is not in the transcript, the assistant says it cannot answer from the video. This is the main anti-hallucination rule.</a:t>
            </a:r>
          </a:p>
          <a:p>
            <a:endParaRPr dirty="0"/>
          </a:p>
          <a:p>
            <a:r>
              <a:rPr dirty="0"/>
              <a:t>KEY MESSAGE: Retrieval controls what the model is allowed to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[35 sec] I added optional features to make the project feel more complete.</a:t>
            </a:r>
          </a:p>
          <a:p>
            <a:endParaRPr dirty="0"/>
          </a:p>
          <a:p>
            <a:r>
              <a:rPr dirty="0"/>
              <a:t>Voice search uses the browser Web Speech API first. If that fails, the app records audio and sends it to Whisper for transcription.</a:t>
            </a:r>
          </a:p>
          <a:p>
            <a:endParaRPr dirty="0"/>
          </a:p>
          <a:p>
            <a:r>
              <a:rPr dirty="0"/>
              <a:t>There is also text-to-speech for AI answers, a 3D assistant scene, animated loading states, responsive layouts, and accessibility improvements — labels, focus states, and reduced-motion support.</a:t>
            </a:r>
          </a:p>
          <a:p>
            <a:endParaRPr dirty="0"/>
          </a:p>
          <a:p>
            <a:r>
              <a:rPr dirty="0"/>
              <a:t>KEY MESSAGE: Optional features support the learning experience, but the core is still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[35 sec] I added an analytics and observability system so the app is not only functional, but measurable.</a:t>
            </a:r>
          </a:p>
          <a:p>
            <a:endParaRPr/>
          </a:p>
          <a:p>
            <a:r>
              <a:t>Frontend tracks: searches, video selections, voice search, carousel use, suggested prompts, transcript opens, and timestamp clicks.</a:t>
            </a:r>
          </a:p>
          <a:p>
            <a:endParaRPr/>
          </a:p>
          <a:p>
            <a:r>
              <a:t>Backend tracks RAG metrics: retrieval latency, generation latency, chunks retrieved, token estimates, citation coverage, and hallucination warnings.</a:t>
            </a:r>
          </a:p>
          <a:p>
            <a:endParaRPr/>
          </a:p>
          <a:p>
            <a:r>
              <a:t>There is a dashboard at /analytics and Prometheus metrics at /metrics.</a:t>
            </a:r>
          </a:p>
          <a:p>
            <a:endParaRPr/>
          </a:p>
          <a:p>
            <a:r>
              <a:t>KEY MESSAGE: The project can explain what users do, how the RAG system behaves, and where the pipeline is slow.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[35 sec] For testing, the backend has 98 pytest tests covering routes, services, tools, WebSocket ingestion, speech transcription, memory, vector storage, and RAG behavior.</a:t>
            </a:r>
          </a:p>
          <a:p>
            <a:endParaRPr/>
          </a:p>
          <a:p>
            <a:r>
              <a:t>I also created a RAG evaluation dataset with 17 cases testing answerable questions, refusals, citation accuracy, summaries, memory, and hallucination prevention.</a:t>
            </a:r>
          </a:p>
          <a:p>
            <a:endParaRPr/>
          </a:p>
          <a:p>
            <a:r>
              <a:t>LangSmith tracing can also be enabled to inspect latency, context, tool calls, and answer quality.</a:t>
            </a:r>
          </a:p>
          <a:p>
            <a:endParaRPr/>
          </a:p>
          <a:p>
            <a:r>
              <a:t>KEY MESSAGE: I did not only build the app — I also tested the AI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[40 sec] For the demo I will show the main flow: search, prepare, ask, and verify.</a:t>
            </a:r>
          </a:p>
          <a:p>
            <a:endParaRPr/>
          </a:p>
          <a:p>
            <a:r>
              <a:t>Steps:</a:t>
            </a:r>
          </a:p>
          <a:p>
            <a:r>
              <a:t>1. Search "python tutorial for beginners" with a duration filter.</a:t>
            </a:r>
          </a:p>
          <a:p>
            <a:r>
              <a:t>2. Pick a video and click Prepare — show the real ingestion progress.</a:t>
            </a:r>
          </a:p>
          <a:p>
            <a:r>
              <a:t>3. Ask: "What is Python used for?" — show timestamp citations.</a:t>
            </a:r>
          </a:p>
          <a:p>
            <a:r>
              <a:t>4. Ask a follow-up to demonstrate memory.</a:t>
            </a:r>
          </a:p>
          <a:p>
            <a:r>
              <a:t>5. Ask an unrelated question to show refusal behavior.</a:t>
            </a:r>
          </a:p>
          <a:p>
            <a:r>
              <a:t>6. Show /analytics and /metrics if time allows.</a:t>
            </a:r>
          </a:p>
          <a:p>
            <a:endParaRPr/>
          </a:p>
          <a:p>
            <a:r>
              <a:t>I can show the EC2 deployment to prove Docker works on a server. For the full transcript/RAG demo, local Docker is more reliable because YouTube blocks transcript requests from cloud IP ranges.</a:t>
            </a:r>
          </a:p>
          <a:p>
            <a:endParaRPr/>
          </a:p>
          <a:p>
            <a:r>
              <a:t>KEY MESSAGE: EC2 proves deployment; local demo proves full transcript ingestion.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[30 sec] To summarize, AskTube AI meets the main project requirements: LLM chatbot, tools, memory, vector database, text processing, UI, tests, evaluation, and deployment.</a:t>
            </a:r>
          </a:p>
          <a:p>
            <a:endParaRPr/>
          </a:p>
          <a:p>
            <a:r>
              <a:t>It also includes optional features: voice input, Whisper fallback, streaming, TTS, 3D assistant, analytics, Prometheus metrics, and LangSmith tracing.</a:t>
            </a:r>
          </a:p>
          <a:p>
            <a:endParaRPr/>
          </a:p>
          <a:p>
            <a:r>
              <a:t>The main future improvements: persistent user accounts, multi-video comparison, HTTPS with a custom domain, and a stronger production transcript proxy.</a:t>
            </a:r>
          </a:p>
          <a:p>
            <a:endParaRPr/>
          </a:p>
          <a:p>
            <a:r>
              <a:t>FINAL LINE: AskTube AI makes YouTube videos learnable by conversation, while keeping the answer grounded in the original transcript.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>
                <a:solidFill>
                  <a:srgbClr val="F6F8FF"/>
                </a:solidFill>
                <a:latin typeface="Aptos"/>
              </a:rPr>
              <a:t>AskTube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7132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22D3EE"/>
                </a:solidFill>
                <a:latin typeface="Aptos"/>
              </a:rPr>
              <a:t>Chat with YouTube videos through transcript-grounded AI.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989320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4A3B8"/>
                </a:solidFill>
                <a:latin typeface="Aptos"/>
              </a:rPr>
              <a:t>Final Project | Sabeur Zarai | IronHack | Docker + EC2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Aptos"/>
              </a:rPr>
              <a:t>Live demo: http://18.157.233.122:3001/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914400"/>
            <a:ext cx="4023360" cy="438912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35240" y="12984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spc="250">
                <a:solidFill>
                  <a:srgbClr val="22D3EE"/>
                </a:solidFill>
                <a:latin typeface="Aptos"/>
              </a:rPr>
              <a:t>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197510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spc="250">
                <a:solidFill>
                  <a:srgbClr val="EC4899"/>
                </a:solidFill>
                <a:latin typeface="Aptos"/>
              </a:rPr>
              <a:t>TRANSCRIPT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26517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spc="250">
                <a:solidFill>
                  <a:srgbClr val="F6F8FF"/>
                </a:solidFill>
                <a:latin typeface="Aptos"/>
              </a:rPr>
              <a:t>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4015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spc="250">
                <a:solidFill>
                  <a:srgbClr val="34D399"/>
                </a:solidFill>
                <a:latin typeface="Aptos"/>
              </a:rPr>
              <a:t>CITATIONS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35240" y="4069080"/>
            <a:ext cx="3154680" cy="0"/>
          </a:xfrm>
          <a:prstGeom prst="line">
            <a:avLst/>
          </a:prstGeom>
          <a:ln w="2540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35240" y="4315968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ptos"/>
              </a:rPr>
              <a:t>Netflix-inspired UI + FastAPI + LangChain + ChromaDB + analytics + EC2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01 / PRODUCT IDEA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051560"/>
            <a:ext cx="7863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6F8FF"/>
                </a:solidFill>
                <a:latin typeface="Aptos"/>
              </a:rPr>
              <a:t>YouTube is huge. Learning from long videos is slow.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203378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 err="1">
                <a:solidFill>
                  <a:srgbClr val="22D3EE"/>
                </a:solidFill>
                <a:latin typeface="Aptos"/>
              </a:rPr>
              <a:t>AskTube</a:t>
            </a:r>
            <a:r>
              <a:rPr sz="1800" b="0" dirty="0">
                <a:solidFill>
                  <a:srgbClr val="22D3EE"/>
                </a:solidFill>
                <a:latin typeface="Aptos"/>
              </a:rPr>
              <a:t> AI turns a video into a searchable, conversational knowledge base.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75404"/>
            <a:ext cx="3246120" cy="173736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875404"/>
            <a:ext cx="73152" cy="1737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3039996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USER 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378324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Search a topic, choose a video, let the app process the transcript, then ask questions with source timestamps.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875404"/>
            <a:ext cx="3246120" cy="173736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60520" y="2875404"/>
            <a:ext cx="73152" cy="17373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61688" y="3039996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34D399"/>
                </a:solidFill>
                <a:latin typeface="Aptos"/>
              </a:rPr>
              <a:t>TRUST RULE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3378324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The assistant answers from transcript evidence only. If the transcript cannot answer, it refuses instead of inventing.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62672" y="2875404"/>
            <a:ext cx="3246120" cy="173736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662672" y="2875404"/>
            <a:ext cx="73152" cy="17373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63840" y="3039996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WHY IT MATTERS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3378324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Learners can skip guessing where information lives and jump straight to the exact moment in the video.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02 / USER JOURNEY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9144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6F8FF"/>
                </a:solidFill>
                <a:latin typeface="Aptos"/>
              </a:rPr>
              <a:t>From search to cited answer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02437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04671" y="2867029"/>
            <a:ext cx="384048" cy="384048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5256" y="2949325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2885317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60805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Text or voice search through YouTube Data API.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2702437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136392" y="2867029"/>
            <a:ext cx="384048" cy="384048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36976" y="2949325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0168" y="2885317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Choose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3360805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Netflix-style carousel with selected video state.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2702437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468112" y="2867029"/>
            <a:ext cx="384048" cy="384048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568696" y="2949325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2885317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Process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3360805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Transcript, chunks, embeddings, vector storage.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35240" y="2702437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799831" y="2867029"/>
            <a:ext cx="384048" cy="384048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00415" y="2949325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85317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Chat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19" y="3360805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RAG answer with citations and memory.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724912" y="3360805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56632" y="3360805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388352" y="3360805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31520" y="5065008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dirty="0">
                <a:solidFill>
                  <a:srgbClr val="94A3B8"/>
                </a:solidFill>
                <a:latin typeface="Aptos"/>
              </a:rPr>
              <a:t>The UI is intentionally cinematic: dark mode, glass surfaces, duration filters, smooth transitions, a 3D assistant, and graceful loading/error states.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03 / ARCHITECTURE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6F8FF"/>
                </a:solidFill>
                <a:latin typeface="Aptos"/>
              </a:rPr>
              <a:t>Three layers, one learning loop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3154680" cy="20574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73152" cy="2057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6968" y="20391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377439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Next.js 14, TypeScript, TailwindCSS, shadcn/ui, Framer Motion, Embla, Three.js, React Three Fiber.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6280" y="1874519"/>
            <a:ext cx="3154680" cy="20574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26280" y="1874519"/>
            <a:ext cx="73152" cy="2057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27448" y="20391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BACKEND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2377439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FastAPI async routes for search, transcripts, chunks, vectorstore, chat, agent, speech, evaluations, and analytics.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1874519"/>
            <a:ext cx="3154680" cy="20574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366760" y="1874519"/>
            <a:ext cx="73152" cy="2057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67928" y="20391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34D399"/>
                </a:solidFill>
                <a:latin typeface="Aptos"/>
              </a:rPr>
              <a:t>AI +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67928" y="2377439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LangChain tools and agent, OpenAI models, ChromaDB vector storage, analytics DB, LangSmith tracing, Whisper fallback.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840480" y="2880360"/>
            <a:ext cx="640080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680960" y="2880360"/>
            <a:ext cx="640080" cy="0"/>
          </a:xfrm>
          <a:prstGeom prst="line">
            <a:avLst/>
          </a:prstGeom>
          <a:ln w="2540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14400" y="4980176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dirty="0">
                <a:solidFill>
                  <a:srgbClr val="94A3B8"/>
                </a:solidFill>
                <a:latin typeface="Aptos"/>
              </a:rPr>
              <a:t>Docker Compose runs frontend, backend, </a:t>
            </a:r>
            <a:r>
              <a:rPr sz="1700" b="0" dirty="0" err="1">
                <a:solidFill>
                  <a:srgbClr val="94A3B8"/>
                </a:solidFill>
                <a:latin typeface="Aptos"/>
              </a:rPr>
              <a:t>ChromaDB</a:t>
            </a:r>
            <a:r>
              <a:rPr sz="1700" b="0" dirty="0">
                <a:solidFill>
                  <a:srgbClr val="94A3B8"/>
                </a:solidFill>
                <a:latin typeface="Aptos"/>
              </a:rPr>
              <a:t>, and analytics storage together for local development and deployment testing.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04 / INGESTION PIPELINE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A YouTube video becomes retrieval-ready 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6089"/>
            <a:ext cx="6547104" cy="2966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FBBF24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YouTube Data API retrieves metadata, thumbnails, duration, and channel information, then applies the selected length filter.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FBBF24"/>
                </a:solidFill>
                <a:latin typeface="Aptos"/>
              </a:rPr>
              <a:t>- </a:t>
            </a:r>
            <a:r>
              <a:rPr sz="1700" dirty="0" err="1">
                <a:solidFill>
                  <a:srgbClr val="F6F8FF"/>
                </a:solidFill>
                <a:latin typeface="Aptos"/>
              </a:rPr>
              <a:t>youtube</a:t>
            </a:r>
            <a:r>
              <a:rPr sz="1700" dirty="0">
                <a:solidFill>
                  <a:srgbClr val="F6F8FF"/>
                </a:solidFill>
                <a:latin typeface="Aptos"/>
              </a:rPr>
              <a:t>-transcript-</a:t>
            </a:r>
            <a:r>
              <a:rPr sz="1700" dirty="0" err="1">
                <a:solidFill>
                  <a:srgbClr val="F6F8FF"/>
                </a:solidFill>
                <a:latin typeface="Aptos"/>
              </a:rPr>
              <a:t>api</a:t>
            </a:r>
            <a:r>
              <a:rPr sz="1700" dirty="0">
                <a:solidFill>
                  <a:srgbClr val="F6F8FF"/>
                </a:solidFill>
                <a:latin typeface="Aptos"/>
              </a:rPr>
              <a:t> is the primary source for public captions and timestamps.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FBBF24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Whisper is used only as a fallback when captions are unavailable and the deployment can safely fetch audio.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FBBF24"/>
                </a:solidFill>
                <a:latin typeface="Aptos"/>
              </a:rPr>
              <a:t>- </a:t>
            </a:r>
            <a:r>
              <a:rPr sz="1700" dirty="0" err="1">
                <a:solidFill>
                  <a:srgbClr val="F6F8FF"/>
                </a:solidFill>
                <a:latin typeface="Aptos"/>
              </a:rPr>
              <a:t>LangChain</a:t>
            </a:r>
            <a:r>
              <a:rPr sz="1700" dirty="0">
                <a:solidFill>
                  <a:srgbClr val="F6F8FF"/>
                </a:solidFill>
                <a:latin typeface="Aptos"/>
              </a:rPr>
              <a:t> chunking keeps timestamp metadata attached to every chunk.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FBBF24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OpenAI embeddings are stored in </a:t>
            </a:r>
            <a:r>
              <a:rPr sz="1700" dirty="0" err="1">
                <a:solidFill>
                  <a:srgbClr val="F6F8FF"/>
                </a:solidFill>
                <a:latin typeface="Aptos"/>
              </a:rPr>
              <a:t>ChromaDB</a:t>
            </a:r>
            <a:r>
              <a:rPr sz="1700" dirty="0">
                <a:solidFill>
                  <a:srgbClr val="F6F8FF"/>
                </a:solidFill>
                <a:latin typeface="Aptos"/>
              </a:rPr>
              <a:t> for similarity search.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691640"/>
            <a:ext cx="3474720" cy="34290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54112" y="2011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spc="150">
                <a:solidFill>
                  <a:srgbClr val="FBBF24"/>
                </a:solidFill>
                <a:latin typeface="Aptos"/>
              </a:rPr>
              <a:t>STATUS STREAM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5146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F6F8FF"/>
                </a:solidFill>
                <a:latin typeface="Aptos"/>
              </a:rPr>
              <a:t>metadata
transcript
chunking
embeddings
vector_storage
ready / error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52628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94A3B8"/>
                </a:solidFill>
                <a:latin typeface="Aptos"/>
              </a:rPr>
              <a:t>The processing screen reflects backend progress, not only decoration.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05 / LANGCHAIN AGENT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The chatbot uses tools, not just a single prompt.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974778"/>
            <a:ext cx="9875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 err="1">
                <a:solidFill>
                  <a:srgbClr val="94A3B8"/>
                </a:solidFill>
                <a:latin typeface="Aptos"/>
              </a:rPr>
              <a:t>AgentService</a:t>
            </a:r>
            <a:r>
              <a:rPr sz="1600" b="0" dirty="0">
                <a:solidFill>
                  <a:srgbClr val="94A3B8"/>
                </a:solidFill>
                <a:latin typeface="Aptos"/>
              </a:rPr>
              <a:t> binds </a:t>
            </a:r>
            <a:r>
              <a:rPr sz="1600" b="0" dirty="0" err="1">
                <a:solidFill>
                  <a:srgbClr val="94A3B8"/>
                </a:solidFill>
                <a:latin typeface="Aptos"/>
              </a:rPr>
              <a:t>StructuredTool</a:t>
            </a:r>
            <a:r>
              <a:rPr sz="1600" b="0" dirty="0">
                <a:solidFill>
                  <a:srgbClr val="94A3B8"/>
                </a:solidFill>
                <a:latin typeface="Aptos"/>
              </a:rPr>
              <a:t> objects to the LLM and returns answer, citations, tool steps, and </a:t>
            </a:r>
            <a:r>
              <a:rPr sz="1600" b="0" dirty="0" err="1">
                <a:solidFill>
                  <a:srgbClr val="94A3B8"/>
                </a:solidFill>
                <a:latin typeface="Aptos"/>
              </a:rPr>
              <a:t>session_id</a:t>
            </a:r>
            <a:r>
              <a:rPr sz="1600" b="0" dirty="0">
                <a:solidFill>
                  <a:srgbClr val="94A3B8"/>
                </a:solidFill>
                <a:latin typeface="Aptos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02230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511958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search_youtube_videos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59" y="2402230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0" y="2511958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extract_transcript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060598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3170326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chunk_transcript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59" y="3060598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06240" y="3170326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store_video_vectors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18966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3828694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ingest_video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23359" y="3718966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06240" y="3828694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retrieve_context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77334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" y="4487062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answer_question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2148840"/>
            <a:ext cx="3520440" cy="20574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452360" y="2148840"/>
            <a:ext cx="73152" cy="2057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653528" y="23134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GUARDRAILS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53528" y="2651760"/>
            <a:ext cx="32004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The final answer must use answer_question, stay transcript-only, and include timestamp citations. Off-topic questions should be refused.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52360" y="4434840"/>
            <a:ext cx="3520440" cy="105156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452360" y="4434840"/>
            <a:ext cx="73152" cy="10515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53528" y="4599431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MEMORY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53528" y="4937759"/>
            <a:ext cx="32004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ConversationMemoryService keeps session-based history so follow-up questions remain coherent.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06 / RAG ANSWERING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Answers are grounded in transcript evidence.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84554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41832" y="2749146"/>
            <a:ext cx="384048" cy="384048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42415" y="2831442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2767434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Retrieve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242922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ChromaDB returns top transcript chunks.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2584554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10712" y="2749146"/>
            <a:ext cx="384048" cy="384048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11296" y="2831442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4487" y="2767434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Inject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3242922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Prompt receives context, memory, and rules.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0" y="2584554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879592" y="2749146"/>
            <a:ext cx="384048" cy="384048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80176" y="2831442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3368" y="2767434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Generate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3242922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GPT-4o-mini writes from retrieved context.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2584554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348471" y="2749146"/>
            <a:ext cx="384048" cy="384048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49055" y="2831442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42248" y="2767434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Cite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59" y="3242922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Timestamp chips point to source moments.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971800" y="3242922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440680" y="3242922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909560" y="3242922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68680" y="4943821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94A3B8"/>
                </a:solidFill>
                <a:latin typeface="Aptos"/>
              </a:rPr>
              <a:t>If the transcript does not contain the answer, the system says it cannot answer from the video. This is the main anti-hallucination behavior.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07 / VOICE + CINEMATIC UX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6F8FF"/>
                </a:solidFill>
                <a:latin typeface="Aptos"/>
              </a:rPr>
              <a:t>The interface feels like a learning product, not a backend demo.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93117"/>
            <a:ext cx="3337560" cy="18288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493117"/>
            <a:ext cx="73152" cy="1828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6968" y="2657709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VOICE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996037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Browser Web Speech API captures live dictation with waveform feedback. If it fails, MediaRecorder sends audio to /api/speech/transcribe.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493117"/>
            <a:ext cx="3337560" cy="18288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34840" y="2493117"/>
            <a:ext cx="73152" cy="1828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36007" y="2657709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8B5CF6"/>
                </a:solidFill>
                <a:latin typeface="Aptos"/>
              </a:rPr>
              <a:t>ASSISTANT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2996037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A floating 3D robot moves through the journey, speaks short guidance, and opens a compact transcript-grounded chat.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2493117"/>
            <a:ext cx="3337560" cy="18288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83879" y="2493117"/>
            <a:ext cx="73152" cy="1828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85048" y="2657709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34D399"/>
                </a:solidFill>
                <a:latin typeface="Aptos"/>
              </a:rPr>
              <a:t>ACCESSIBILITY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2996037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Semantic labels, visible focus states, reduced-motion handling, screen-reader status messages, and touch-friendly layouts.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43821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94A3B8"/>
                </a:solidFill>
                <a:latin typeface="Aptos"/>
              </a:rPr>
              <a:t>Extra polish: loading skeletons, retry states, TTS answer playback, responsive stacking, and collapsible evidence panels.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08 / ANALYTICS + OBSERVABILITY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The platform is measurable, not just usable.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71386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Aptos"/>
              </a:rPr>
              <a:t>AskTube tracks product usage, RAG quality, pipeline performance, UX behaviour, and operational health.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920026"/>
            <a:ext cx="3246120" cy="169164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2920026"/>
            <a:ext cx="73152" cy="169164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86968" y="3084618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PRODUCT + 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422946"/>
            <a:ext cx="29260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search_submitted, video_selected, voice_search_completed, suggested_prompt_clicked, timestamp_clicked, 3d_chatbot_interacted.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920026"/>
            <a:ext cx="3246120" cy="169164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60520" y="2920026"/>
            <a:ext cx="73152" cy="1691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61688" y="3084618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AI / RAG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3422946"/>
            <a:ext cx="29260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retrieval latency, generation latency, chunks retrieved, token estimates, citation coverage, hallucination warnings.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2920026"/>
            <a:ext cx="3246120" cy="169164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635240" y="2920026"/>
            <a:ext cx="73152" cy="169164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36408" y="3084618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FBBF24"/>
                </a:solidFill>
                <a:latin typeface="Aptos"/>
              </a:rPr>
              <a:t>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36408" y="3422946"/>
            <a:ext cx="29260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transcript time, embedding duration, vector insert/query timing, chunk count, processing duration, Whisper fallback usage.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831448"/>
            <a:ext cx="4800600" cy="77724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500518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34D399"/>
                </a:solidFill>
                <a:latin typeface="Aptos"/>
              </a:rPr>
              <a:t>/analytics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50143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6F8FF"/>
                </a:solidFill>
                <a:latin typeface="Aptos"/>
              </a:rPr>
              <a:t>Next.js dashboard with overview, AI, pipeline, UX, business metrics, and recent events.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89320" y="4831448"/>
            <a:ext cx="4800600" cy="77724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17920" y="500518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22D3EE"/>
                </a:solidFill>
                <a:latin typeface="Aptos"/>
              </a:rPr>
              <a:t>/metrics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50143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6F8FF"/>
                </a:solidFill>
                <a:latin typeface="Aptos"/>
              </a:rPr>
              <a:t>Prometheus metrics for HTTP latency, RAG, embeddings, vector search, processing, and WebSockets.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09 / TESTING + EVALUATION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The project is testable, explainable, and demo-ready.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71039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2D3EE"/>
                </a:solidFill>
                <a:latin typeface="Aptos"/>
              </a:rPr>
              <a:t>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37967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40">
                <a:solidFill>
                  <a:srgbClr val="94A3B8"/>
                </a:solidFill>
                <a:latin typeface="Aptos"/>
              </a:rPr>
              <a:t>PYTEST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671039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C4899"/>
                </a:solidFill>
                <a:latin typeface="Aptos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3237967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40">
                <a:solidFill>
                  <a:srgbClr val="94A3B8"/>
                </a:solidFill>
                <a:latin typeface="Aptos"/>
              </a:rPr>
              <a:t>RAG EVAL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671039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34D399"/>
                </a:solidFill>
                <a:latin typeface="Aptos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3237967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40">
                <a:solidFill>
                  <a:srgbClr val="94A3B8"/>
                </a:solidFill>
                <a:latin typeface="Aptos"/>
              </a:rPr>
              <a:t>BEHAVIORAL FAILS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671039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BBF24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3237967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40">
                <a:solidFill>
                  <a:srgbClr val="94A3B8"/>
                </a:solidFill>
                <a:latin typeface="Aptos"/>
              </a:rPr>
              <a:t>DOCKER SERVICES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794760"/>
            <a:ext cx="104241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34D399"/>
                </a:solidFill>
                <a:latin typeface="Aptos"/>
              </a:rPr>
              <a:t>- </a:t>
            </a:r>
            <a:r>
              <a:rPr sz="1500">
                <a:solidFill>
                  <a:srgbClr val="F6F8FF"/>
                </a:solidFill>
                <a:latin typeface="Aptos"/>
              </a:rPr>
              <a:t>Coverage includes routes, services, tools, WebSocket ingest, speech transcription, and RAG behavior.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34D399"/>
                </a:solidFill>
                <a:latin typeface="Aptos"/>
              </a:rPr>
              <a:t>- </a:t>
            </a:r>
            <a:r>
              <a:rPr sz="1500">
                <a:solidFill>
                  <a:srgbClr val="F6F8FF"/>
                </a:solidFill>
                <a:latin typeface="Aptos"/>
              </a:rPr>
              <a:t>Evaluation cases test answerable questions, refusals, citation accuracy, summaries, memory, and hallucination prevention.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34D399"/>
                </a:solidFill>
                <a:latin typeface="Aptos"/>
              </a:rPr>
              <a:t>- </a:t>
            </a:r>
            <a:r>
              <a:rPr sz="1500">
                <a:solidFill>
                  <a:srgbClr val="F6F8FF"/>
                </a:solidFill>
                <a:latin typeface="Aptos"/>
              </a:rPr>
              <a:t>LangSmith tracing can inspect latency, context, answer quality, and chain behavior.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10 / LIVE DEMO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Demo path: search, prepare, ask, verify.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6364224" cy="4578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Live app: http://18.157.233.122:3001/ (EC2 deployment with </a:t>
            </a:r>
            <a:r>
              <a:rPr sz="1700" dirty="0" err="1">
                <a:solidFill>
                  <a:srgbClr val="F6F8FF"/>
                </a:solidFill>
                <a:latin typeface="Aptos"/>
              </a:rPr>
              <a:t>Webshare</a:t>
            </a:r>
            <a:r>
              <a:rPr sz="1700" dirty="0">
                <a:solidFill>
                  <a:srgbClr val="F6F8FF"/>
                </a:solidFill>
                <a:latin typeface="Aptos"/>
              </a:rPr>
              <a:t> proxy)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Search with a duration filter, for example: python tutorial for beginners under 10 minutes.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Pick a video and click Prepare to show real ingestion progress.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Ask: What is Python used for?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Show timestamp citations and the tool breadcrumb.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Ask a follow-up to demonstrate memory.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Ask an unrelated question to show refusal behavior.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Use mic input and Read aloud if time allows.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Show /analytics and /metrics if time allows.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Show EC2 health endpoint and explain the YouTube cloud-IP transcript limitation.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60920" y="1874518"/>
            <a:ext cx="3566160" cy="4233673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62672" y="217627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50">
                <a:solidFill>
                  <a:srgbClr val="EC4899"/>
                </a:solidFill>
                <a:latin typeface="Aptos"/>
              </a:rPr>
              <a:t>WHAT TO EMPHASIZE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62672" y="2743200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6F8FF"/>
                </a:solidFill>
                <a:latin typeface="Aptos"/>
              </a:rPr>
              <a:t>This is not a generic chatbot. It is a transcript-grounded learning workflow with tools, memory, vector search, citations, analytics, and a polished UI.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2672" y="4890938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94A3B8"/>
                </a:solidFill>
                <a:latin typeface="Aptos"/>
              </a:rPr>
              <a:t>Keep the demo focused on trust: every answer links back to the video. EC2 proves deployment; local run proves full transcript access when YouTube blocks cloud IPs.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9875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6F8FF"/>
                </a:solidFill>
                <a:latin typeface="Aptos"/>
              </a:rPr>
              <a:t>AskTube AI makes YouTube learnable by conversation.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22D3EE"/>
                </a:solidFill>
                <a:latin typeface="Aptos"/>
              </a:rPr>
              <a:t>Search videos. Build transcript knowledge. Ask questions. Verify with timestamps.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7347"/>
            <a:ext cx="3474720" cy="1640412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3297347"/>
            <a:ext cx="73152" cy="12344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3461939"/>
            <a:ext cx="31546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34D399"/>
                </a:solidFill>
                <a:latin typeface="Aptos"/>
              </a:rPr>
              <a:t>MANDATORY REQUIREMENTS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800267"/>
            <a:ext cx="31546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LLM chatbot, tools, memory, vector database, text processing, UI, tests, evaluation, and Docker deployment are covered.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3297346"/>
            <a:ext cx="3474720" cy="1640413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26280" y="3297347"/>
            <a:ext cx="73152" cy="1234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27448" y="3461939"/>
            <a:ext cx="31546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OPTIONAL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3800267"/>
            <a:ext cx="31546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Voice input, Whisper fallback, WebSocket streaming, TTS, 3D assistant, analytics, and LangSmith tracing are included.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3297346"/>
            <a:ext cx="3108960" cy="1640413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75320" y="3297347"/>
            <a:ext cx="73152" cy="123444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76488" y="3461939"/>
            <a:ext cx="2788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NEXT IMPROVEMENTS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6488" y="3800267"/>
            <a:ext cx="2788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Persistent user accounts, multi-video comparison, HTTPS custom domain, and a stronger production transcript proxy.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4247" y="5758076"/>
            <a:ext cx="27432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94A3B8"/>
                </a:solidFill>
                <a:latin typeface="Aptos"/>
              </a:rPr>
              <a:t>Thank you</a:t>
            </a:r>
            <a:r>
              <a:rPr lang="de-DE" sz="4000" b="1" dirty="0">
                <a:solidFill>
                  <a:srgbClr val="94A3B8"/>
                </a:solidFill>
                <a:latin typeface="Aptos"/>
              </a:rPr>
              <a:t>!</a:t>
            </a:r>
            <a:endParaRPr sz="4000" b="1" dirty="0">
              <a:solidFill>
                <a:srgbClr val="94A3B8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2572</Words>
  <Application>Microsoft Office PowerPoint</Application>
  <PresentationFormat>Widescreen</PresentationFormat>
  <Paragraphs>254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 Z</cp:lastModifiedBy>
  <cp:revision>5</cp:revision>
  <cp:lastPrinted>2026-05-27T10:28:28Z</cp:lastPrinted>
  <dcterms:created xsi:type="dcterms:W3CDTF">2013-01-27T09:14:16Z</dcterms:created>
  <dcterms:modified xsi:type="dcterms:W3CDTF">2026-05-27T10:38:42Z</dcterms:modified>
  <cp:category/>
</cp:coreProperties>
</file>