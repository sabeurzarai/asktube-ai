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457200">
      <a:defRPr sz="1500">
        <a:latin typeface="Arial"/>
      </a:defRPr>
    </a:lvl1pPr>
  </p:notesStyle>
  <p:clrMapOvr>
    <a:masterClrMapping/>
  </p:clrMapOvr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086100"/>
          </a:xfrm>
          <a:prstGeom prst="rect"/>
        </p:spPr>
      </p:sp>
      <p:sp>
        <p:nvSpPr>
          <p:cNvPr id="3" name="Notes Placeholder 2"/>
          <p:cNvSpPr>
            <a:spLocks noGrp="1"/>
          </p:cNvSpPr>
          <p:nvPr>
            <p:ph type="body" sz="quarter" idx="1"/>
          </p:nvPr>
        </p:nvSpPr>
        <p:spPr>
          <a:xfrm>
            <a:off x="685800" y="4114800"/>
            <a:ext cx="5486400" cy="4114800"/>
          </a:xfrm>
          <a:prstGeom prst="rect"/>
        </p:spPr>
        <p:txBody>
          <a:bodyPr/>
          <a:lstStyle/>
          <a:p>
            <a:r>
              <a:rPr lang="en-US" sz="1500"/>
              <a:t>AskTube AI is my final project: a learning assistant for YouTube videos.</a:t>
            </a:r>
          </a:p>
          <a:p>
            <a:r>
              <a:rPr lang="en-US" sz="1500"/>
              <a:t>The user searches, selects a video, the app processes the transcript, and then the user chats with the video content.</a:t>
            </a:r>
          </a:p>
          <a:p>
            <a:r>
              <a:rPr lang="en-US" sz="1500"/>
              <a:t>The important part is trust: answers are grounded in the transcript and include timestamp citations.</a:t>
            </a:r>
          </a:p>
          <a:p>
            <a:r>
              <a:rPr lang="en-US" sz="1500"/>
              <a:t>Key message: this is not a generic chatbot; it is a transcript-grounded learning workflow.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086100"/>
          </a:xfrm>
          <a:prstGeom prst="rect"/>
        </p:spPr>
      </p:sp>
      <p:sp>
        <p:nvSpPr>
          <p:cNvPr id="3" name="Notes Placeholder 2"/>
          <p:cNvSpPr>
            <a:spLocks noGrp="1"/>
          </p:cNvSpPr>
          <p:nvPr>
            <p:ph type="body" sz="quarter" idx="1"/>
          </p:nvPr>
        </p:nvSpPr>
        <p:spPr>
          <a:xfrm>
            <a:off x="685800" y="4114800"/>
            <a:ext cx="5486400" cy="4114800"/>
          </a:xfrm>
          <a:prstGeom prst="rect"/>
        </p:spPr>
        <p:txBody>
          <a:bodyPr/>
          <a:lstStyle/>
          <a:p>
            <a:r>
              <a:rPr lang="en-US" sz="1500"/>
              <a:t>The problem is that YouTube has a lot of good learning content, but long videos are hard to search inside.</a:t>
            </a:r>
          </a:p>
          <a:p>
            <a:r>
              <a:rPr lang="en-US" sz="1500"/>
              <a:t>AskTube AI turns the transcript into a searchable knowledge base.</a:t>
            </a:r>
          </a:p>
          <a:p>
            <a:r>
              <a:rPr lang="en-US" sz="1500"/>
              <a:t>The trust rule is central: if the transcript cannot answer, the assistant should refuse instead of inventing.</a:t>
            </a:r>
          </a:p>
          <a:p>
            <a:r>
              <a:rPr lang="en-US" sz="1500"/>
              <a:t>Key message: the project combines speed with verifiable answers.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086100"/>
          </a:xfrm>
          <a:prstGeom prst="rect"/>
        </p:spPr>
      </p:sp>
      <p:sp>
        <p:nvSpPr>
          <p:cNvPr id="3" name="Notes Placeholder 2"/>
          <p:cNvSpPr>
            <a:spLocks noGrp="1"/>
          </p:cNvSpPr>
          <p:nvPr>
            <p:ph type="body" sz="quarter" idx="1"/>
          </p:nvPr>
        </p:nvSpPr>
        <p:spPr>
          <a:xfrm>
            <a:off x="685800" y="4114800"/>
            <a:ext cx="5486400" cy="4114800"/>
          </a:xfrm>
          <a:prstGeom prst="rect"/>
        </p:spPr>
        <p:txBody>
          <a:bodyPr/>
          <a:lstStyle/>
          <a:p>
            <a:r>
              <a:rPr lang="en-US" sz="1500"/>
              <a:t>The user journey has four steps: search, choose, process, and chat.</a:t>
            </a:r>
          </a:p>
          <a:p>
            <a:r>
              <a:rPr lang="en-US" sz="1500"/>
              <a:t>Search can be text or voice, with optional duration filters.</a:t>
            </a:r>
          </a:p>
          <a:p>
            <a:r>
              <a:rPr lang="en-US" sz="1500"/>
              <a:t>After a video is selected, the backend extracts the transcript, chunks it, embeds it, and stores it in ChromaDB.</a:t>
            </a:r>
          </a:p>
          <a:p>
            <a:r>
              <a:rPr lang="en-US" sz="1500"/>
              <a:t>The technical pipeline is hidden behind a simple product flow.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086100"/>
          </a:xfrm>
          <a:prstGeom prst="rect"/>
        </p:spPr>
      </p:sp>
      <p:sp>
        <p:nvSpPr>
          <p:cNvPr id="3" name="Notes Placeholder 2"/>
          <p:cNvSpPr>
            <a:spLocks noGrp="1"/>
          </p:cNvSpPr>
          <p:nvPr>
            <p:ph type="body" sz="quarter" idx="1"/>
          </p:nvPr>
        </p:nvSpPr>
        <p:spPr>
          <a:xfrm>
            <a:off x="685800" y="4114800"/>
            <a:ext cx="5486400" cy="4114800"/>
          </a:xfrm>
          <a:prstGeom prst="rect"/>
        </p:spPr>
        <p:txBody>
          <a:bodyPr/>
          <a:lstStyle/>
          <a:p>
            <a:r>
              <a:rPr lang="en-US" sz="1500"/>
              <a:t>The architecture has three layers: frontend, backend API, and AI/data.</a:t>
            </a:r>
          </a:p>
          <a:p>
            <a:r>
              <a:rPr lang="en-US" sz="1500"/>
              <a:t>The frontend is Next.js with TypeScript, Tailwind, Framer Motion, Embla, and Three.js.</a:t>
            </a:r>
          </a:p>
          <a:p>
            <a:r>
              <a:rPr lang="en-US" sz="1500"/>
              <a:t>The backend is FastAPI with async routes for search, transcripts, chunking, vector storage, chat, agent chat, speech, and evaluations.</a:t>
            </a:r>
          </a:p>
          <a:p>
            <a:r>
              <a:rPr lang="en-US" sz="1500"/>
              <a:t>The AI layer uses LangChain, OpenAI models, ChromaDB, Whisper fallback, and optional LangSmith tracing.</a:t>
            </a:r>
          </a:p>
          <a:p>
            <a:r>
              <a:rPr lang="en-US" sz="1500"/>
              <a:t>Everything runs through Docker Compose.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086100"/>
          </a:xfrm>
          <a:prstGeom prst="rect"/>
        </p:spPr>
      </p:sp>
      <p:sp>
        <p:nvSpPr>
          <p:cNvPr id="3" name="Notes Placeholder 2"/>
          <p:cNvSpPr>
            <a:spLocks noGrp="1"/>
          </p:cNvSpPr>
          <p:nvPr>
            <p:ph type="body" sz="quarter" idx="1"/>
          </p:nvPr>
        </p:nvSpPr>
        <p:spPr>
          <a:xfrm>
            <a:off x="685800" y="4114800"/>
            <a:ext cx="5486400" cy="4114800"/>
          </a:xfrm>
          <a:prstGeom prst="rect"/>
        </p:spPr>
        <p:txBody>
          <a:bodyPr/>
          <a:lstStyle/>
          <a:p>
            <a:r>
              <a:rPr lang="en-US" sz="1500"/>
              <a:t>This is the key backend pipeline.</a:t>
            </a:r>
          </a:p>
          <a:p>
            <a:r>
              <a:rPr lang="en-US" sz="1500"/>
              <a:t>First, YouTube Data API gets metadata like title, thumbnail, duration, and channel.</a:t>
            </a:r>
          </a:p>
          <a:p>
            <a:r>
              <a:rPr lang="en-US" sz="1500"/>
              <a:t>Then youtube-transcript-api fetches public captions. This follows Carlos's recommendation to avoid downloading full videos.</a:t>
            </a:r>
          </a:p>
          <a:p>
            <a:r>
              <a:rPr lang="en-US" sz="1500"/>
              <a:t>The transcript is split into chunks, and each chunk keeps timestamp metadata.</a:t>
            </a:r>
          </a:p>
          <a:p>
            <a:r>
              <a:rPr lang="en-US" sz="1500"/>
              <a:t>OpenAI embeddings are stored in ChromaDB. Whisper and yt-dlp are fallback only when captions are unavailable.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086100"/>
          </a:xfrm>
          <a:prstGeom prst="rect"/>
        </p:spPr>
      </p:sp>
      <p:sp>
        <p:nvSpPr>
          <p:cNvPr id="3" name="Notes Placeholder 2"/>
          <p:cNvSpPr>
            <a:spLocks noGrp="1"/>
          </p:cNvSpPr>
          <p:nvPr>
            <p:ph type="body" sz="quarter" idx="1"/>
          </p:nvPr>
        </p:nvSpPr>
        <p:spPr>
          <a:xfrm>
            <a:off x="685800" y="4114800"/>
            <a:ext cx="5486400" cy="4114800"/>
          </a:xfrm>
          <a:prstGeom prst="rect"/>
        </p:spPr>
        <p:txBody>
          <a:bodyPr/>
          <a:lstStyle/>
          <a:p>
            <a:r>
              <a:rPr lang="en-US" sz="1500"/>
              <a:t>This slide shows how I covered the tools requirement.</a:t>
            </a:r>
          </a:p>
          <a:p>
            <a:r>
              <a:rPr lang="en-US" sz="1500"/>
              <a:t>Each LangChain tool wraps an existing backend service instead of duplicating logic.</a:t>
            </a:r>
          </a:p>
          <a:p>
            <a:r>
              <a:rPr lang="en-US" sz="1500"/>
              <a:t>The AgentService binds these tools to the model and returns the answer, citations, tool steps, and session_id.</a:t>
            </a:r>
          </a:p>
          <a:p>
            <a:r>
              <a:rPr lang="en-US" sz="1500"/>
              <a:t>Memory keeps follow-up questions coherent inside the same session.</a:t>
            </a:r>
          </a:p>
          <a:p>
            <a:r>
              <a:rPr lang="en-US" sz="1500"/>
              <a:t>Key message: this is an LLM with tools and memory, not one big prompt.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086100"/>
          </a:xfrm>
          <a:prstGeom prst="rect"/>
        </p:spPr>
      </p:sp>
      <p:sp>
        <p:nvSpPr>
          <p:cNvPr id="3" name="Notes Placeholder 2"/>
          <p:cNvSpPr>
            <a:spLocks noGrp="1"/>
          </p:cNvSpPr>
          <p:nvPr>
            <p:ph type="body" sz="quarter" idx="1"/>
          </p:nvPr>
        </p:nvSpPr>
        <p:spPr>
          <a:xfrm>
            <a:off x="685800" y="4114800"/>
            <a:ext cx="5486400" cy="4114800"/>
          </a:xfrm>
          <a:prstGeom prst="rect"/>
        </p:spPr>
        <p:txBody>
          <a:bodyPr/>
          <a:lstStyle/>
          <a:p>
            <a:r>
              <a:rPr lang="en-US" sz="1500"/>
              <a:t>The RAG flow has four steps: retrieve, inject, generate, and cite.</a:t>
            </a:r>
          </a:p>
          <a:p>
            <a:r>
              <a:rPr lang="en-US" sz="1500"/>
              <a:t>The question is matched against ChromaDB transcript chunks.</a:t>
            </a:r>
          </a:p>
          <a:p>
            <a:r>
              <a:rPr lang="en-US" sz="1500"/>
              <a:t>Only the retrieved transcript context, memory, and rules are passed to the model.</a:t>
            </a:r>
          </a:p>
          <a:p>
            <a:r>
              <a:rPr lang="en-US" sz="1500"/>
              <a:t>GPT-4o-mini writes from retrieved context, and the UI shows timestamp citations.</a:t>
            </a:r>
          </a:p>
          <a:p>
            <a:r>
              <a:rPr lang="en-US" sz="1500"/>
              <a:t>If the transcript does not contain the answer, the system should refuse. That is the anti-hallucination behavior.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086100"/>
          </a:xfrm>
          <a:prstGeom prst="rect"/>
        </p:spPr>
      </p:sp>
      <p:sp>
        <p:nvSpPr>
          <p:cNvPr id="3" name="Notes Placeholder 2"/>
          <p:cNvSpPr>
            <a:spLocks noGrp="1"/>
          </p:cNvSpPr>
          <p:nvPr>
            <p:ph type="body" sz="quarter" idx="1"/>
          </p:nvPr>
        </p:nvSpPr>
        <p:spPr>
          <a:xfrm>
            <a:off x="685800" y="4114800"/>
            <a:ext cx="5486400" cy="4114800"/>
          </a:xfrm>
          <a:prstGeom prst="rect"/>
        </p:spPr>
        <p:txBody>
          <a:bodyPr/>
          <a:lstStyle/>
          <a:p>
            <a:r>
              <a:rPr lang="en-US" sz="1500"/>
              <a:t>These are optional UX features that make the project feel like a real learning product.</a:t>
            </a:r>
          </a:p>
          <a:p>
            <a:r>
              <a:rPr lang="en-US" sz="1500"/>
              <a:t>Voice search uses the browser Web Speech API first, then Whisper fallback if needed.</a:t>
            </a:r>
          </a:p>
          <a:p>
            <a:r>
              <a:rPr lang="en-US" sz="1500"/>
              <a:t>There is a 3D assistant, loading skeletons, retry states, text-to-speech for answers, responsive layouts, and accessibility work.</a:t>
            </a:r>
          </a:p>
          <a:p>
            <a:r>
              <a:rPr lang="en-US" sz="1500"/>
              <a:t>Key message: the UX supports the learning flow, but the core project remains RAG.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086100"/>
          </a:xfrm>
          <a:prstGeom prst="rect"/>
        </p:spPr>
      </p:sp>
      <p:sp>
        <p:nvSpPr>
          <p:cNvPr id="3" name="Notes Placeholder 2"/>
          <p:cNvSpPr>
            <a:spLocks noGrp="1"/>
          </p:cNvSpPr>
          <p:nvPr>
            <p:ph type="body" sz="quarter" idx="1"/>
          </p:nvPr>
        </p:nvSpPr>
        <p:spPr>
          <a:xfrm>
            <a:off x="685800" y="4114800"/>
            <a:ext cx="5486400" cy="4114800"/>
          </a:xfrm>
          <a:prstGeom prst="rect"/>
        </p:spPr>
        <p:txBody>
          <a:bodyPr/>
          <a:lstStyle/>
          <a:p>
            <a:r>
              <a:rPr lang="en-US" sz="1500"/>
              <a:t>The backend has 98 pytest tests covering routes, services, tools, WebSocket ingestion, speech, memory, vector storage, and RAG behavior.</a:t>
            </a:r>
          </a:p>
          <a:p>
            <a:r>
              <a:rPr lang="en-US" sz="1500"/>
              <a:t>There is also a 17-case RAG evaluation dataset.</a:t>
            </a:r>
          </a:p>
          <a:p>
            <a:r>
              <a:rPr lang="en-US" sz="1500"/>
              <a:t>The evaluation cases check answerable questions, refusals, citation accuracy, summaries, memory, and hallucination prevention.</a:t>
            </a:r>
          </a:p>
          <a:p>
            <a:r>
              <a:rPr lang="en-US" sz="1500"/>
              <a:t>LangSmith tracing can inspect latency, context, tool calls, and answer quality.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086100"/>
          </a:xfrm>
          <a:prstGeom prst="rect"/>
        </p:spPr>
      </p:sp>
      <p:sp>
        <p:nvSpPr>
          <p:cNvPr id="3" name="Notes Placeholder 2"/>
          <p:cNvSpPr>
            <a:spLocks noGrp="1"/>
          </p:cNvSpPr>
          <p:nvPr>
            <p:ph type="body" sz="quarter" idx="1"/>
          </p:nvPr>
        </p:nvSpPr>
        <p:spPr>
          <a:xfrm>
            <a:off x="685800" y="4114800"/>
            <a:ext cx="5486400" cy="4114800"/>
          </a:xfrm>
          <a:prstGeom prst="rect"/>
        </p:spPr>
        <p:txBody>
          <a:bodyPr/>
          <a:lstStyle/>
          <a:p>
            <a:r>
              <a:rPr lang="en-US" sz="1500"/>
              <a:t>The live demo path is: search, prepare, ask, and verify.</a:t>
            </a:r>
          </a:p>
          <a:p>
            <a:r>
              <a:rPr lang="en-US" sz="1500"/>
              <a:t>I can show EC2 to prove Docker deployment: frontend on port 3001 and backend health on port 8000.</a:t>
            </a:r>
          </a:p>
          <a:p>
            <a:r>
              <a:rPr lang="en-US" sz="1500"/>
              <a:t>For the most reliable full transcript/RAG demo, local Docker is better because YouTube often blocks transcript access from cloud IPs.</a:t>
            </a:r>
          </a:p>
          <a:p>
            <a:r>
              <a:rPr lang="en-US" sz="1500"/>
              <a:t>This is an infrastructure limitation of YouTube transcript access, not a broken RAG pipeline.</a:t>
            </a:r>
          </a:p>
          <a:p>
            <a:r>
              <a:rPr lang="en-US" sz="1500"/>
              <a:t>Keep the demo focused on trust: every useful answer links back to transcript timestamps.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086100"/>
          </a:xfrm>
          <a:prstGeom prst="rect"/>
        </p:spPr>
      </p:sp>
      <p:sp>
        <p:nvSpPr>
          <p:cNvPr id="3" name="Notes Placeholder 2"/>
          <p:cNvSpPr>
            <a:spLocks noGrp="1"/>
          </p:cNvSpPr>
          <p:nvPr>
            <p:ph type="body" sz="quarter" idx="1"/>
          </p:nvPr>
        </p:nvSpPr>
        <p:spPr>
          <a:xfrm>
            <a:off x="685800" y="4114800"/>
            <a:ext cx="5486400" cy="4114800"/>
          </a:xfrm>
          <a:prstGeom prst="rect"/>
        </p:spPr>
        <p:txBody>
          <a:bodyPr/>
          <a:lstStyle/>
          <a:p>
            <a:r>
              <a:rPr lang="en-US" sz="1500"/>
              <a:t>To close: AskTube AI covers the mandatory requirements: LLM chatbot, tools, memory, vector database, text processing, UI, tests, evaluation, and deployment.</a:t>
            </a:r>
          </a:p>
          <a:p>
            <a:r>
              <a:rPr lang="en-US" sz="1500"/>
              <a:t>It also includes optional features: voice input, Whisper fallback, streaming, TTS, 3D assistant, and LangSmith tracing.</a:t>
            </a:r>
          </a:p>
          <a:p>
            <a:r>
              <a:rPr lang="en-US" sz="1500"/>
              <a:t>Future improvements are persistent user accounts, multi-video comparison, HTTPS custom domain, and a stronger production transcript proxy.</a:t>
            </a:r>
          </a:p>
          <a:p>
            <a:r>
              <a:rPr lang="en-US" sz="1500"/>
              <a:t>Final sentence: AskTube AI makes YouTube videos learnable by conversation while keeping answers grounded in the original transcript.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F6F8FF"/>
                </a:solidFill>
                <a:latin typeface="Aptos"/>
              </a:rPr>
              <a:t>AskTube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22D3EE"/>
                </a:solidFill>
                <a:latin typeface="Aptos"/>
              </a:rPr>
              <a:t>Chat with YouTube videos through transcript-grounded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6199632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Aptos"/>
              </a:rPr>
              <a:t>Final Project | Sabeur Zarai | IronHack | Docker + EC2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914400"/>
            <a:ext cx="4023360" cy="438912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35240" y="12984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22D3EE"/>
                </a:solidFill>
                <a:latin typeface="Aptos"/>
              </a:rPr>
              <a:t>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97510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EC4899"/>
                </a:solidFill>
                <a:latin typeface="Aptos"/>
              </a:rPr>
              <a:t>TRANSCRIPT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6517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spc="250">
                <a:solidFill>
                  <a:srgbClr val="F6F8FF"/>
                </a:solidFill>
                <a:latin typeface="Aptos"/>
              </a:rPr>
              <a:t>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4015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34D399"/>
                </a:solidFill>
                <a:latin typeface="Aptos"/>
              </a:rPr>
              <a:t>CITATIONS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35240" y="4069080"/>
            <a:ext cx="3154680" cy="0"/>
          </a:xfrm>
          <a:prstGeom prst="line">
            <a:avLst/>
          </a:prstGeom>
          <a:ln w="2540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4315968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Netflix-inspired UI + FastAPI + LangChain + ChromaDB + EC2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01 / PRODUCT IDEA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051560"/>
            <a:ext cx="708660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dirty="0">
                <a:solidFill>
                  <a:srgbClr val="F6F8FF"/>
                </a:solidFill>
                <a:latin typeface="Aptos"/>
              </a:rPr>
              <a:t>YouTube is huge. Learning from long videos is slow.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12140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22D3EE"/>
                </a:solidFill>
                <a:latin typeface="Aptos"/>
              </a:rPr>
              <a:t>AskTube</a:t>
            </a:r>
            <a:r>
              <a:rPr sz="1800" b="0" dirty="0">
                <a:solidFill>
                  <a:srgbClr val="22D3EE"/>
                </a:solidFill>
                <a:latin typeface="Aptos"/>
              </a:rPr>
              <a:t> AI turns a video into a searchable, conversational knowledge 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035808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3035808"/>
            <a:ext cx="73152" cy="1737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USER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538728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Search a topic, choose a video, let the app process the transcript, then ask questions with source timestamps.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3035808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3035808"/>
            <a:ext cx="73152" cy="17373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61688" y="3200400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TRUST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538728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The assistant answers from transcript evidence only. If the transcript cannot answer, it refuses instead of inventing.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2" y="3035808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62672" y="3035808"/>
            <a:ext cx="73152" cy="1737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0" y="3200400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538728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Learners can skip guessing where information lives and jump straight to the exact moment in the video.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02 / USER JOURNEY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914400"/>
            <a:ext cx="6364224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dirty="0">
                <a:solidFill>
                  <a:srgbClr val="F6F8FF"/>
                </a:solidFill>
                <a:latin typeface="Aptos"/>
              </a:rPr>
              <a:t>From search to cited answer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4671" y="2084832"/>
            <a:ext cx="384048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" y="21671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10312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Text or voice search through YouTube Data API.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192024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136392" y="2084832"/>
            <a:ext cx="384048" cy="384048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36976" y="21671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10312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Choose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Netflix-style carousel with selected video state.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192024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468112" y="2084832"/>
            <a:ext cx="384048" cy="38404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68696" y="21671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10312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Process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Transcript, chunks, embeddings, vector storage.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192024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799831" y="2084832"/>
            <a:ext cx="384048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00415" y="21671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10312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F6F8FF"/>
                </a:solidFill>
                <a:latin typeface="Aptos"/>
              </a:rPr>
              <a:t>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19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RAG answer with citations and memory.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24912" y="257860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56632" y="257860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388352" y="257860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48006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94A3B8"/>
                </a:solidFill>
                <a:latin typeface="Aptos"/>
              </a:rPr>
              <a:t>The UI is intentionally cinematic: dark mode, glass surfaces, duration filters, smooth transitions, a 3D assistant, and graceful loading/error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03 / ARCHITECTURE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Three layers, one learning 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73152" cy="2057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Next.js 14, TypeScript, TailwindCSS, shadcn/ui, Framer Motion, Embla, Three.js, React Three Fiber.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26280" y="1874519"/>
            <a:ext cx="73152" cy="2057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2744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BACKEND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FastAPI async routes for search, transcripts, chunks, vectorstore, chat, agent, speech, and evaluations.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366760" y="1874519"/>
            <a:ext cx="73152" cy="2057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6792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AI +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792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LangChain tools and agent, OpenAI models, ChromaDB vector storage, LangSmith tracing, Whisper fallback.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40480" y="2880360"/>
            <a:ext cx="640080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80960" y="2880360"/>
            <a:ext cx="640080" cy="0"/>
          </a:xfrm>
          <a:prstGeom prst="line">
            <a:avLst/>
          </a:prstGeom>
          <a:ln w="2540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489204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4A3B8"/>
                </a:solidFill>
                <a:latin typeface="Aptos"/>
              </a:rPr>
              <a:t>Docker Compose runs frontend, backend, and ChromaDB together for local development and deployment testing.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04 / INGESTION PIPELINE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A YouTube video becomes retrieval-ready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YouTube Data API retrieves metadata, thumbnails, duration, and channel information, then applies the selected length filter.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youtube-transcript-api is the primary source for public captions and timestamps.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Whisper is used only as a fallback when captions are unavailable and the deployment can safely fetch audio.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LangChain chunking keeps timestamp metadata attached to every chunk.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OpenAI embeddings are stored in ChromaDB for similarity 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691640"/>
            <a:ext cx="3474720" cy="34290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54112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50">
                <a:solidFill>
                  <a:srgbClr val="FBBF24"/>
                </a:solidFill>
                <a:latin typeface="Aptos"/>
              </a:rPr>
              <a:t>STATUS 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146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6F8FF"/>
                </a:solidFill>
                <a:latin typeface="Aptos"/>
              </a:rPr>
              <a:t>metadata
transcript
chunking
embeddings
vector_storage
ready /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66344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The processing screen reflects backend progress, not only decoration.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05 / LANGCHAIN AGENT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chatbot uses tools, not just a single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01952"/>
            <a:ext cx="66659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94A3B8"/>
                </a:solidFill>
                <a:latin typeface="Aptos"/>
              </a:rPr>
              <a:t>AgentService</a:t>
            </a:r>
            <a:r>
              <a:rPr sz="1600" b="0" dirty="0">
                <a:solidFill>
                  <a:srgbClr val="94A3B8"/>
                </a:solidFill>
                <a:latin typeface="Aptos"/>
              </a:rPr>
              <a:t> binds </a:t>
            </a:r>
            <a:r>
              <a:rPr sz="1600" b="0" dirty="0" err="1">
                <a:solidFill>
                  <a:srgbClr val="94A3B8"/>
                </a:solidFill>
                <a:latin typeface="Aptos"/>
              </a:rPr>
              <a:t>StructuredTool</a:t>
            </a:r>
            <a:r>
              <a:rPr sz="1600" b="0" dirty="0">
                <a:solidFill>
                  <a:srgbClr val="94A3B8"/>
                </a:solidFill>
                <a:latin typeface="Aptos"/>
              </a:rPr>
              <a:t> objects to the LLM and returns answer, citations, tool steps, and </a:t>
            </a:r>
            <a:r>
              <a:rPr sz="1600" b="0" dirty="0" err="1">
                <a:solidFill>
                  <a:srgbClr val="94A3B8"/>
                </a:solidFill>
                <a:latin typeface="Aptos"/>
              </a:rPr>
              <a:t>session_id</a:t>
            </a:r>
            <a:r>
              <a:rPr sz="1600" b="0" dirty="0">
                <a:solidFill>
                  <a:srgbClr val="94A3B8"/>
                </a:solidFill>
                <a:latin typeface="Aptos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50592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search_youtube_videos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59" y="2450592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0" y="256032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extract_transcript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108960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3218688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chunk_transcript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59" y="3108960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06240" y="3218688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store_video_vectors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67328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3877056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ingest_video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59" y="3767328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06240" y="3877056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retrieve_context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425696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4535424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answer_question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148840"/>
            <a:ext cx="352044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452360" y="2148840"/>
            <a:ext cx="73152" cy="2057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53528" y="23134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GUARDRAILS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3528" y="2651760"/>
            <a:ext cx="3200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The final answer must use answer_question, stay transcript-only, and include timestamp citations. Off-topic questions should be refused.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4434840"/>
            <a:ext cx="3520440" cy="10515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452360" y="4434840"/>
            <a:ext cx="73152" cy="10515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53528" y="4599431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MEMORY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3528" y="4937759"/>
            <a:ext cx="3200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ConversationMemoryService keeps session-based history so follow-up questions remain coherent.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06 / RAG ANSWERING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Answers are grounded in transcript evidence.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3230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41832" y="2596896"/>
            <a:ext cx="384048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2415" y="267919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61518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Retrieve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ChromaDB returns top transcript chunks.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43230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10712" y="2596896"/>
            <a:ext cx="384048" cy="384048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11296" y="267919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61518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Inject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09067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Prompt receives context, memory, and rules.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243230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879592" y="2596896"/>
            <a:ext cx="384048" cy="38404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0176" y="267919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261518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Generate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309067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GPT-4o-mini writes from retrieved context.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243230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348471" y="2596896"/>
            <a:ext cx="384048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49055" y="267919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261518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309067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Timestamp chips point to source moments.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971800" y="3090672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40680" y="3090672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9560" y="3090672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68680" y="48006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94A3B8"/>
                </a:solidFill>
                <a:latin typeface="Aptos"/>
              </a:rPr>
              <a:t>If the transcript does not contain the answer, the system says it cannot answer from the video. This is the main anti-hallucination behavior.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07 / VOICE + CINEMATIC UX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6F8FF"/>
                </a:solidFill>
                <a:latin typeface="Aptos"/>
              </a:rPr>
              <a:t>The interface feels like a learning product, not a backend demo.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68880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468880"/>
            <a:ext cx="73152" cy="1828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263347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VOICE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Browser Web Speech API captures live dictation with waveform feedback. If it fails, MediaRecorder sends audio to /api/speech/transcribe.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468880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2468880"/>
            <a:ext cx="73152" cy="1828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7" y="263347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8B5CF6"/>
                </a:solidFill>
                <a:latin typeface="Aptos"/>
              </a:rPr>
              <a:t>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9718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A floating 3D robot moves through the journey, speaks short guidance, and opens a compact transcript-grounded chat.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2468880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2468880"/>
            <a:ext cx="73152" cy="1828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5048" y="263347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ACCESSIBILITY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9718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Semantic labels, visible focus states, reduced-motion handling, screen-reader status messages, and touch-friendly layouts.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006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Aptos"/>
              </a:rPr>
              <a:t>Extra polish: loading skeletons, retry states, TTS answer playback, responsive stacking, and collapsible evidence panels.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08 / TESTING + EVALUATION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project is testable, explainable, and demo-ready.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2D3EE"/>
                </a:solidFill>
                <a:latin typeface="Aptos"/>
              </a:rPr>
              <a:t>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626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PYTEST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395728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C4899"/>
                </a:solidFill>
                <a:latin typeface="Aptos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96265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RAG EVAL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395728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4D399"/>
                </a:solidFill>
                <a:latin typeface="Apto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96265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BEHAVIORAL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395728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BBF24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96265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DOCKER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94760"/>
            <a:ext cx="10424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Coverage includes routes, services, tools, WebSocket ingest, speech transcription, and RAG behavior.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Evaluation cases test answerable questions, refusals, citation accuracy, summaries, memory, and hallucination prevention.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LangSmith tracing can inspect latency, context, answer quality, and chain behavior.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09 / LIVE DEMO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Demo path: search, prepare, ask, verify.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6409944" cy="4201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Open localhost:3000 for the full RAG demo, or EC2 :3001 to show deployment.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Search with a duration filter, for example: python tutorial for beginners under 10 minutes.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Pick a video and click Prepare to show real ingestion progress.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Ask: What is Python used for?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Show timestamp citations and the tool breadcrumb.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Ask a follow-up to demonstrate memory.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Ask an unrelated question to show refusal behavior.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Use mic input and Read aloud if time allows.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Show EC2 health endpoint and explain the YouTube cloud-IP transcript limitation.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1874519"/>
            <a:ext cx="3566160" cy="34290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62672" y="21762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50">
                <a:solidFill>
                  <a:srgbClr val="EC4899"/>
                </a:solidFill>
                <a:latin typeface="Aptos"/>
              </a:rPr>
              <a:t>WHAT TO EMPHASIZE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2" y="274320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6F8FF"/>
                </a:solidFill>
                <a:latin typeface="Aptos"/>
              </a:rPr>
              <a:t>This is not a generic chatbot. It is a transcript-grounded learning workflow with tools, memory, vector search, citations, and a polished UI.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2" y="4251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Keep the demo focused on trust: every answer links back to the video. EC2 proves deployment; local run proves full transcript access when YouTube blocks cloud IPs.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9875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6F8FF"/>
                </a:solidFill>
                <a:latin typeface="Aptos"/>
              </a:rPr>
              <a:t>AskTube AI makes YouTube learnable by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22D3EE"/>
                </a:solidFill>
                <a:latin typeface="Aptos"/>
              </a:rPr>
              <a:t>Search videos. Build transcript knowledge. Ask questions. Verify with timestamps.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27831"/>
            <a:ext cx="3474720" cy="158191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3227831"/>
            <a:ext cx="73152" cy="1234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3392423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MANDATORY 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730751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LLM chatbot, tools, memory, vector database, text processing, UI, tests, evaluation, and Docker deployment are covered.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227830"/>
            <a:ext cx="3474720" cy="1581911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6280" y="3227831"/>
            <a:ext cx="73152" cy="1234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3392423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OPTIONAL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3730751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Voice input, Whisper fallback, WebSocket streaming, TTS, 3D assistant, and LangSmith tracing are included.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3227831"/>
            <a:ext cx="3108960" cy="1609346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75320" y="3227831"/>
            <a:ext cx="73152" cy="12344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6488" y="3392423"/>
            <a:ext cx="2788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NEXT IMPROVEMENTS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3730751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6F8FF"/>
                </a:solidFill>
                <a:latin typeface="Aptos"/>
              </a:rPr>
              <a:t>Persistent user accounts, multi-video comparison, HTTPS custom domain, and a stronger production transcript proxy.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5486400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94A3B8"/>
                </a:solidFill>
                <a:latin typeface="Aptos"/>
              </a:rPr>
              <a:t>Thank you</a:t>
            </a:r>
            <a:r>
              <a:rPr lang="de-DE" sz="1400" b="1" dirty="0">
                <a:solidFill>
                  <a:srgbClr val="94A3B8"/>
                </a:solidFill>
                <a:latin typeface="Aptos"/>
              </a:rPr>
              <a:t>!</a:t>
            </a:r>
            <a:endParaRPr sz="1400" b="1" dirty="0">
              <a:solidFill>
                <a:srgbClr val="94A3B8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1061</Words>
  <Application>Microsoft Office PowerPoint</Application>
  <PresentationFormat>Widescreen</PresentationFormat>
  <Paragraphs>125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 Z</cp:lastModifiedBy>
  <cp:revision>2</cp:revision>
  <dcterms:created xsi:type="dcterms:W3CDTF">2013-01-27T09:14:16Z</dcterms:created>
  <dcterms:modified xsi:type="dcterms:W3CDTF">2026-05-26T10:12:04Z</dcterms:modified>
  <cp:category/>
</cp:coreProperties>
</file>