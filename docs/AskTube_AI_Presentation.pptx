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45" autoAdjust="0"/>
  </p:normalViewPr>
  <p:slideViewPr>
    <p:cSldViewPr snapToGrid="0" snapToObjects="1">
      <p:cViewPr varScale="1">
        <p:scale>
          <a:sx n="88" d="100"/>
          <a:sy n="88" d="100"/>
        </p:scale>
        <p:origin x="1434"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56213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 seconds</a:t>
            </a:r>
          </a:p>
          <a:p>
            <a:endParaRPr/>
          </a:p>
          <a:p>
            <a:r>
              <a:t>Hi, I'm Sabeur. AskTube AI is an AI platform that lets you chat with any YouTube video using its transcript. It is not a generic chatbot — every answer is grounded in the video, with timestamp citations so you can verify exactly where the information comes from.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YouTube has over 800 million videos. Learning from long videos is frustrating — you scrub back and forth looking for one specific answer.</a:t>
            </a:r>
          </a:p>
          <a:p>
            <a:endParaRPr/>
          </a:p>
          <a:p>
            <a:r>
              <a:t>AskTube solves this by turning any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flow is four steps. Search for a topic by text or voice. Pick a video from a carousel. The app processes the transcript in real time — you see each step happening. Then you chat with the video content and get answers with clickable timestamp citations.</a:t>
            </a:r>
          </a:p>
          <a:p>
            <a:endParaRPr/>
          </a:p>
          <a:p>
            <a:r>
              <a:t>The whole journey is guided by a 3D robot companion that moves around the screen and speaks at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Three layers. Frontend: Next.js 14, TypeScript, TailwindCSS, Framer Motion, and Three.js for the 3D robot. Backend: FastAPI with async routes for search, transcripts, chunking, vector storage, chat, agent, and speech. AI layer: LangChain tools, OpenAI GPT-4o-mini for chat and text-embedding-3-small for vectors, ChromaDB as the vector store, and Whisper as a fallback for videos without captions.</a:t>
            </a:r>
          </a:p>
          <a:p>
            <a:endParaRPr/>
          </a:p>
          <a:p>
            <a:r>
              <a:t>Everything ships as three Docker containers orchestrated by Docker Compose and deployed on AWS EC2.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endParaRPr/>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 seconds</a:t>
            </a:r>
          </a:p>
          <a:p>
            <a:endParaRPr/>
          </a:p>
          <a:p>
            <a:r>
              <a:t>The chat is not just a single prompt — it uses a real tool-calling agent. I built seven LangChain StructuredTools: search YouTube, extract transcript, chunk, store vectors, full ingest, retrieve context, and answer question.</a:t>
            </a:r>
          </a:p>
          <a:p>
            <a:endParaRPr/>
          </a:p>
          <a:p>
            <a:r>
              <a:t>The agent decides which tools to call based on the question. For a chat question it calls retrieve_context then answer_question. For a new video request it chains through the full ingestion flow automatically.</a:t>
            </a:r>
          </a:p>
          <a:p>
            <a:endParaRPr/>
          </a:p>
          <a:p>
            <a:r>
              <a:t>Two guardrails are enforced: answers must come from the transcript only, and off-topic questions must be refused. ConversationMemoryService keeps session history so follow-up questions stay coherent.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seconds</a:t>
            </a:r>
          </a:p>
          <a:p>
            <a:endParaRPr/>
          </a:p>
          <a:p>
            <a:r>
              <a:t>The RAG pipeline is four steps. Retrieve: ChromaDB finds the most relevant transcript chunks by semantic similarity. Inject: the prompt receives those chunks, the conversation memory, and strict grounding rules. Generate: GPT-4o-mini writes an answer using only what is in the context. Cite: the response includes timestamp chips that link to the exact moment in the video.</a:t>
            </a:r>
          </a:p>
          <a:p>
            <a:endParaRPr/>
          </a:p>
          <a:p>
            <a:r>
              <a:t>If the answer is not in the transcript, the system says it cannot answer from this video. That refusal is the core anti-hallucination mechanism.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seconds</a:t>
            </a:r>
          </a:p>
          <a:p>
            <a:endParaRPr/>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project has 98 pytest tests covering routes, services, tools, WebSocket ingest, speech,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~90 seconds</a:t>
            </a:r>
          </a:p>
          <a:p>
            <a:endParaRPr dirty="0"/>
          </a:p>
          <a:p>
            <a:r>
              <a:rPr dirty="0"/>
              <a:t>Let me show you the live app. Open http://18.157.233.122:3001/ — this is running on AWS EC2 with a </a:t>
            </a:r>
            <a:r>
              <a:rPr dirty="0" err="1"/>
              <a:t>Webshare</a:t>
            </a:r>
            <a:r>
              <a:rPr dirty="0"/>
              <a:t> residential proxy to bypass YouTube's cloud IP restrictions.</a:t>
            </a:r>
          </a:p>
          <a:p>
            <a:endParaRPr dirty="0"/>
          </a:p>
          <a:p>
            <a:r>
              <a:rPr dirty="0"/>
              <a:t>[Search] I'll type 'python tutorial for beginners' and apply a duration filter. [Results appear] Pick a video and click Prepare. [Watch the progress steps: metadata, transcript, chunking, embeddings, storage.]</a:t>
            </a:r>
          </a:p>
          <a:p>
            <a:endParaRPr dirty="0"/>
          </a:p>
          <a:p>
            <a:r>
              <a:rPr dirty="0"/>
              <a:t>[Chat] Now I ask: 'What is Python used for?' — [Answer appears with timestamp chips] See the citations — each one links to the exact moment in the video. [Click a timestamp]</a:t>
            </a:r>
          </a:p>
          <a:p>
            <a:endParaRPr dirty="0"/>
          </a:p>
          <a:p>
            <a:r>
              <a:rPr dirty="0"/>
              <a:t>[Follow-up] Now a follow-up: 'Can you give me an example?' — the memory keeps the context so it understands what I mean.</a:t>
            </a:r>
          </a:p>
          <a:p>
            <a:endParaRPr dirty="0"/>
          </a:p>
          <a:p>
            <a:r>
              <a:rPr dirty="0"/>
              <a:t>[Refusal] Now I ask something off-topic like 'What is the weather today?' — it refuses. It only answers from the video transcript. That is the trust guarantee.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~15 seconds</a:t>
            </a:r>
          </a:p>
          <a:p>
            <a:endParaRPr dirty="0"/>
          </a:p>
          <a:p>
            <a:r>
              <a:rPr dirty="0" err="1"/>
              <a:t>AskTube</a:t>
            </a:r>
            <a:r>
              <a:rPr dirty="0"/>
              <a:t> AI covers all the mandatory </a:t>
            </a:r>
            <a:r>
              <a:rPr dirty="0" err="1"/>
              <a:t>IronHack</a:t>
            </a:r>
            <a:r>
              <a:rPr dirty="0"/>
              <a:t> requirements: LLM chatbot, </a:t>
            </a:r>
            <a:r>
              <a:rPr dirty="0" err="1"/>
              <a:t>LangChain</a:t>
            </a:r>
            <a:r>
              <a:rPr dirty="0"/>
              <a:t> tools, conversational memory, </a:t>
            </a:r>
            <a:r>
              <a:rPr dirty="0" err="1"/>
              <a:t>ChromaDB</a:t>
            </a:r>
            <a:r>
              <a:rPr dirty="0"/>
              <a:t> vector database, text processing, a polished UI, 98 tests, RAG evaluation, and Docker deployment on EC2.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502920"/>
          </a:xfrm>
          <a:prstGeom prst="rect">
            <a:avLst/>
          </a:prstGeom>
          <a:noFill/>
        </p:spPr>
        <p:txBody>
          <a:bodyPr wrap="square">
            <a:spAutoFit/>
          </a:bodyPr>
          <a:lstStyle/>
          <a:p>
            <a:pPr algn="l"/>
            <a:r>
              <a:rPr sz="2100" b="0" dirty="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a:solidFill>
                  <a:srgbClr val="22D3EE"/>
                </a:solidFill>
                <a:latin typeface="Aptos"/>
              </a:rPr>
              <a:t>Live demo: http://18.157.233.122:3001/</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457200"/>
          </a:xfrm>
          <a:prstGeom prst="rect">
            <a:avLst/>
          </a:prstGeom>
          <a:noFill/>
        </p:spPr>
        <p:txBody>
          <a:bodyPr wrap="square">
            <a:spAutoFit/>
          </a:bodyPr>
          <a:lstStyle/>
          <a:p>
            <a:pPr algn="l"/>
            <a:r>
              <a:rPr sz="1300" b="0">
                <a:solidFill>
                  <a:srgbClr val="94A3B8"/>
                </a:solidFill>
                <a:latin typeface="Aptos"/>
              </a:rPr>
              <a:t>Netflix-inspired UI + FastAPI + LangChain + ChromaDB + EC2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051560"/>
            <a:ext cx="7863840" cy="685800"/>
          </a:xfrm>
          <a:prstGeom prst="rect">
            <a:avLst/>
          </a:prstGeom>
          <a:noFill/>
        </p:spPr>
        <p:txBody>
          <a:bodyPr wrap="square">
            <a:spAutoFit/>
          </a:bodyPr>
          <a:lstStyle/>
          <a:p>
            <a:pPr algn="l"/>
            <a:r>
              <a:rPr sz="3400" b="1">
                <a:solidFill>
                  <a:srgbClr val="F6F8FF"/>
                </a:solidFill>
                <a:latin typeface="Aptos"/>
              </a:rPr>
              <a:t>YouTube is huge. Learning from long videos is slow.</a:t>
            </a:r>
          </a:p>
        </p:txBody>
      </p:sp>
      <p:sp>
        <p:nvSpPr>
          <p:cNvPr id="8" name="TextBox 7"/>
          <p:cNvSpPr txBox="1"/>
          <p:nvPr/>
        </p:nvSpPr>
        <p:spPr>
          <a:xfrm>
            <a:off x="621792" y="2013862"/>
            <a:ext cx="7315200" cy="411480"/>
          </a:xfrm>
          <a:prstGeom prst="rect">
            <a:avLst/>
          </a:prstGeom>
          <a:noFill/>
        </p:spPr>
        <p:txBody>
          <a:bodyPr wrap="square">
            <a:spAutoFit/>
          </a:bodyPr>
          <a:lstStyle/>
          <a:p>
            <a:pPr algn="l"/>
            <a:r>
              <a:rPr sz="1800" b="0" dirty="0" err="1">
                <a:solidFill>
                  <a:srgbClr val="22D3EE"/>
                </a:solidFill>
                <a:latin typeface="Aptos"/>
              </a:rPr>
              <a:t>AskTube</a:t>
            </a:r>
            <a:r>
              <a:rPr sz="1800" b="0" dirty="0">
                <a:solidFill>
                  <a:srgbClr val="22D3EE"/>
                </a:solidFill>
                <a:latin typeface="Aptos"/>
              </a:rPr>
              <a:t> AI turns a video into a searchable, conversational knowledge base.</a:t>
            </a:r>
          </a:p>
        </p:txBody>
      </p:sp>
      <p:sp>
        <p:nvSpPr>
          <p:cNvPr id="9" name="Rounded Rectangle 8"/>
          <p:cNvSpPr/>
          <p:nvPr/>
        </p:nvSpPr>
        <p:spPr>
          <a:xfrm>
            <a:off x="658368" y="2743200"/>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2743200"/>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2907792"/>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246120"/>
            <a:ext cx="2926079" cy="1097280"/>
          </a:xfrm>
          <a:prstGeom prst="rect">
            <a:avLst/>
          </a:prstGeom>
          <a:noFill/>
        </p:spPr>
        <p:txBody>
          <a:bodyPr wrap="square">
            <a:spAutoFit/>
          </a:bodyPr>
          <a:lstStyle/>
          <a:p>
            <a:pPr algn="l"/>
            <a:r>
              <a:rPr sz="14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2743200"/>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2743200"/>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2907792"/>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246120"/>
            <a:ext cx="2926079" cy="1097280"/>
          </a:xfrm>
          <a:prstGeom prst="rect">
            <a:avLst/>
          </a:prstGeom>
          <a:noFill/>
        </p:spPr>
        <p:txBody>
          <a:bodyPr wrap="square">
            <a:spAutoFit/>
          </a:bodyPr>
          <a:lstStyle/>
          <a:p>
            <a:pPr algn="l"/>
            <a:r>
              <a:rPr sz="14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2743200"/>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62672" y="2743200"/>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63840" y="2907792"/>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246120"/>
            <a:ext cx="2926079" cy="1097280"/>
          </a:xfrm>
          <a:prstGeom prst="rect">
            <a:avLst/>
          </a:prstGeom>
          <a:noFill/>
        </p:spPr>
        <p:txBody>
          <a:bodyPr wrap="square">
            <a:spAutoFit/>
          </a:bodyPr>
          <a:lstStyle/>
          <a:p>
            <a:pPr algn="l"/>
            <a:r>
              <a:rPr sz="14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14400"/>
            <a:ext cx="5486400" cy="548640"/>
          </a:xfrm>
          <a:prstGeom prst="rect">
            <a:avLst/>
          </a:prstGeom>
          <a:noFill/>
        </p:spPr>
        <p:txBody>
          <a:bodyPr wrap="square">
            <a:spAutoFit/>
          </a:bodyPr>
          <a:lstStyle/>
          <a:p>
            <a:pPr algn="l"/>
            <a:r>
              <a:rPr sz="3400" b="1">
                <a:solidFill>
                  <a:srgbClr val="F6F8FF"/>
                </a:solidFill>
                <a:latin typeface="Aptos"/>
              </a:rPr>
              <a:t>From search to cited answer</a:t>
            </a:r>
          </a:p>
        </p:txBody>
      </p:sp>
      <p:sp>
        <p:nvSpPr>
          <p:cNvPr id="8" name="Rounded Rectangle 7"/>
          <p:cNvSpPr/>
          <p:nvPr/>
        </p:nvSpPr>
        <p:spPr>
          <a:xfrm>
            <a:off x="640080" y="2616926"/>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04671" y="2781518"/>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2863814"/>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799806"/>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3275294"/>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2616926"/>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136392" y="2781518"/>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36976" y="2863814"/>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799806"/>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3275294"/>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2616926"/>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68112" y="2781518"/>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8696" y="2863814"/>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799806"/>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3275294"/>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2616926"/>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99831" y="2781518"/>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2863814"/>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799806"/>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3275294"/>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327529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327529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327529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31520" y="4800600"/>
            <a:ext cx="10424160" cy="502920"/>
          </a:xfrm>
          <a:prstGeom prst="rect">
            <a:avLst/>
          </a:prstGeom>
          <a:noFill/>
        </p:spPr>
        <p:txBody>
          <a:bodyPr wrap="square">
            <a:spAutoFit/>
          </a:bodyPr>
          <a:lstStyle/>
          <a:p>
            <a:pPr algn="l"/>
            <a:r>
              <a:rPr sz="1700" b="0">
                <a:solidFill>
                  <a:srgbClr val="94A3B8"/>
                </a:solidFill>
                <a:latin typeface="Aptos"/>
              </a:rPr>
              <a:t>The UI is intentionally cinematic: dark mode, glass surfaces, duration filters, smooth transitions, a 3D assistant, and graceful loading/error states.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6766560" cy="548640"/>
          </a:xfrm>
          <a:prstGeom prst="rect">
            <a:avLst/>
          </a:prstGeom>
          <a:noFill/>
        </p:spPr>
        <p:txBody>
          <a:bodyPr wrap="square">
            <a:spAutoFit/>
          </a:bodyPr>
          <a:lstStyle/>
          <a:p>
            <a:pPr algn="l"/>
            <a:r>
              <a:rPr sz="3400" b="1">
                <a:solidFill>
                  <a:srgbClr val="F6F8FF"/>
                </a:solidFill>
                <a:latin typeface="Aptos"/>
              </a:rPr>
              <a:t>Three layers, one learning loop</a:t>
            </a:r>
          </a:p>
        </p:txBody>
      </p:sp>
      <p:sp>
        <p:nvSpPr>
          <p:cNvPr id="8" name="Rounded Rectangle 7"/>
          <p:cNvSpPr/>
          <p:nvPr/>
        </p:nvSpPr>
        <p:spPr>
          <a:xfrm>
            <a:off x="685800" y="2266405"/>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266405"/>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430998"/>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769325"/>
            <a:ext cx="2834640" cy="1417320"/>
          </a:xfrm>
          <a:prstGeom prst="rect">
            <a:avLst/>
          </a:prstGeom>
          <a:noFill/>
        </p:spPr>
        <p:txBody>
          <a:bodyPr wrap="square">
            <a:spAutoFit/>
          </a:bodyPr>
          <a:lstStyle/>
          <a:p>
            <a:pPr algn="l"/>
            <a:r>
              <a:rPr sz="14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2266405"/>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26280" y="2266405"/>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27448" y="2430998"/>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769325"/>
            <a:ext cx="2834640" cy="1417320"/>
          </a:xfrm>
          <a:prstGeom prst="rect">
            <a:avLst/>
          </a:prstGeom>
          <a:noFill/>
        </p:spPr>
        <p:txBody>
          <a:bodyPr wrap="square">
            <a:spAutoFit/>
          </a:bodyPr>
          <a:lstStyle/>
          <a:p>
            <a:pPr algn="l"/>
            <a:r>
              <a:rPr sz="1400" b="0">
                <a:solidFill>
                  <a:srgbClr val="F6F8FF"/>
                </a:solidFill>
                <a:latin typeface="Aptos"/>
              </a:rPr>
              <a:t>FastAPI async routes for search, transcripts, chunks, vectorstore, chat, agent, speech, and evaluations.</a:t>
            </a:r>
          </a:p>
        </p:txBody>
      </p:sp>
      <p:sp>
        <p:nvSpPr>
          <p:cNvPr id="16" name="Rounded Rectangle 15"/>
          <p:cNvSpPr/>
          <p:nvPr/>
        </p:nvSpPr>
        <p:spPr>
          <a:xfrm>
            <a:off x="8366760" y="2266405"/>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66760" y="2266405"/>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67928" y="2430998"/>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769325"/>
            <a:ext cx="2834640" cy="1417320"/>
          </a:xfrm>
          <a:prstGeom prst="rect">
            <a:avLst/>
          </a:prstGeom>
          <a:noFill/>
        </p:spPr>
        <p:txBody>
          <a:bodyPr wrap="square">
            <a:spAutoFit/>
          </a:bodyPr>
          <a:lstStyle/>
          <a:p>
            <a:pPr algn="l"/>
            <a:r>
              <a:rPr sz="1400" b="0">
                <a:solidFill>
                  <a:srgbClr val="F6F8FF"/>
                </a:solidFill>
                <a:latin typeface="Aptos"/>
              </a:rPr>
              <a:t>LangChain tools and agent, OpenAI models, ChromaDB vector storage, LangSmith tracing, Whisper fallback.</a:t>
            </a:r>
          </a:p>
        </p:txBody>
      </p:sp>
      <p:cxnSp>
        <p:nvCxnSpPr>
          <p:cNvPr id="20" name="Connector 19"/>
          <p:cNvCxnSpPr/>
          <p:nvPr/>
        </p:nvCxnSpPr>
        <p:spPr>
          <a:xfrm>
            <a:off x="3840480" y="3272246"/>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3272246"/>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4892040"/>
            <a:ext cx="9875520" cy="411480"/>
          </a:xfrm>
          <a:prstGeom prst="rect">
            <a:avLst/>
          </a:prstGeom>
          <a:noFill/>
        </p:spPr>
        <p:txBody>
          <a:bodyPr wrap="square">
            <a:spAutoFit/>
          </a:bodyPr>
          <a:lstStyle/>
          <a:p>
            <a:pPr algn="l"/>
            <a:r>
              <a:rPr sz="1700" b="0">
                <a:solidFill>
                  <a:srgbClr val="94A3B8"/>
                </a:solidFill>
                <a:latin typeface="Aptos"/>
              </a:rPr>
              <a:t>Docker Compose runs frontend, backend, and ChromaDB together for local development and deployment testing.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A YouTube video becomes retrieval-ready text.</a:t>
            </a:r>
          </a:p>
        </p:txBody>
      </p:sp>
      <p:sp>
        <p:nvSpPr>
          <p:cNvPr id="8" name="TextBox 7"/>
          <p:cNvSpPr txBox="1"/>
          <p:nvPr/>
        </p:nvSpPr>
        <p:spPr>
          <a:xfrm>
            <a:off x="777240" y="1828800"/>
            <a:ext cx="6565392" cy="2966646"/>
          </a:xfrm>
          <a:prstGeom prst="rect">
            <a:avLst/>
          </a:prstGeom>
          <a:noFill/>
        </p:spPr>
        <p:txBody>
          <a:bodyPr wrap="square">
            <a:spAutoFit/>
          </a:bodyPr>
          <a:lstStyle/>
          <a:p>
            <a:pPr>
              <a:lnSpc>
                <a:spcPct val="105000"/>
              </a:lnSpc>
              <a:spcAft>
                <a:spcPts val="800"/>
              </a:spcAft>
            </a:pPr>
            <a:r>
              <a:rPr sz="1700" b="1" dirty="0">
                <a:solidFill>
                  <a:srgbClr val="FBBF24"/>
                </a:solidFill>
                <a:latin typeface="Aptos"/>
              </a:rPr>
              <a:t>- </a:t>
            </a:r>
            <a:r>
              <a:rPr sz="1700" dirty="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700" b="1" dirty="0">
                <a:solidFill>
                  <a:srgbClr val="FBBF24"/>
                </a:solidFill>
                <a:latin typeface="Aptos"/>
              </a:rPr>
              <a:t>- </a:t>
            </a:r>
            <a:r>
              <a:rPr sz="1700" dirty="0" err="1">
                <a:solidFill>
                  <a:srgbClr val="F6F8FF"/>
                </a:solidFill>
                <a:latin typeface="Aptos"/>
              </a:rPr>
              <a:t>youtube</a:t>
            </a:r>
            <a:r>
              <a:rPr sz="1700" dirty="0">
                <a:solidFill>
                  <a:srgbClr val="F6F8FF"/>
                </a:solidFill>
                <a:latin typeface="Aptos"/>
              </a:rPr>
              <a:t>-transcript-</a:t>
            </a:r>
            <a:r>
              <a:rPr sz="1700" dirty="0" err="1">
                <a:solidFill>
                  <a:srgbClr val="F6F8FF"/>
                </a:solidFill>
                <a:latin typeface="Aptos"/>
              </a:rPr>
              <a:t>api</a:t>
            </a:r>
            <a:r>
              <a:rPr sz="1700" dirty="0">
                <a:solidFill>
                  <a:srgbClr val="F6F8FF"/>
                </a:solidFill>
                <a:latin typeface="Aptos"/>
              </a:rPr>
              <a:t> is the primary source for public captions and timestamps.</a:t>
            </a:r>
          </a:p>
          <a:p>
            <a:pPr>
              <a:lnSpc>
                <a:spcPct val="105000"/>
              </a:lnSpc>
              <a:spcAft>
                <a:spcPts val="800"/>
              </a:spcAft>
            </a:pPr>
            <a:r>
              <a:rPr sz="1700" b="1" dirty="0">
                <a:solidFill>
                  <a:srgbClr val="FBBF24"/>
                </a:solidFill>
                <a:latin typeface="Aptos"/>
              </a:rPr>
              <a:t>- </a:t>
            </a:r>
            <a:r>
              <a:rPr sz="1700" dirty="0">
                <a:solidFill>
                  <a:srgbClr val="F6F8FF"/>
                </a:solidFill>
                <a:latin typeface="Aptos"/>
              </a:rPr>
              <a:t>Whisper is used only as a fallback when captions are unavailable and the deployment can safely fetch audio.</a:t>
            </a:r>
          </a:p>
          <a:p>
            <a:pPr>
              <a:lnSpc>
                <a:spcPct val="105000"/>
              </a:lnSpc>
              <a:spcAft>
                <a:spcPts val="800"/>
              </a:spcAft>
            </a:pPr>
            <a:r>
              <a:rPr sz="1700" b="1" dirty="0">
                <a:solidFill>
                  <a:srgbClr val="FBBF24"/>
                </a:solidFill>
                <a:latin typeface="Aptos"/>
              </a:rPr>
              <a:t>- </a:t>
            </a:r>
            <a:r>
              <a:rPr sz="1700" dirty="0" err="1">
                <a:solidFill>
                  <a:srgbClr val="F6F8FF"/>
                </a:solidFill>
                <a:latin typeface="Aptos"/>
              </a:rPr>
              <a:t>LangChain</a:t>
            </a:r>
            <a:r>
              <a:rPr sz="1700" dirty="0">
                <a:solidFill>
                  <a:srgbClr val="F6F8FF"/>
                </a:solidFill>
                <a:latin typeface="Aptos"/>
              </a:rPr>
              <a:t> chunking keeps timestamp metadata attached to every chunk.</a:t>
            </a:r>
          </a:p>
          <a:p>
            <a:pPr>
              <a:lnSpc>
                <a:spcPct val="105000"/>
              </a:lnSpc>
              <a:spcAft>
                <a:spcPts val="800"/>
              </a:spcAft>
            </a:pPr>
            <a:r>
              <a:rPr sz="1700" b="1" dirty="0">
                <a:solidFill>
                  <a:srgbClr val="FBBF24"/>
                </a:solidFill>
                <a:latin typeface="Aptos"/>
              </a:rPr>
              <a:t>- </a:t>
            </a:r>
            <a:r>
              <a:rPr sz="1700" dirty="0">
                <a:solidFill>
                  <a:srgbClr val="F6F8FF"/>
                </a:solidFill>
                <a:latin typeface="Aptos"/>
              </a:rPr>
              <a:t>OpenAI embeddings are stored in </a:t>
            </a:r>
            <a:r>
              <a:rPr sz="1700" dirty="0" err="1">
                <a:solidFill>
                  <a:srgbClr val="F6F8FF"/>
                </a:solidFill>
                <a:latin typeface="Aptos"/>
              </a:rPr>
              <a:t>ChromaDB</a:t>
            </a:r>
            <a:r>
              <a:rPr sz="1700" dirty="0">
                <a:solidFill>
                  <a:srgbClr val="F6F8FF"/>
                </a:solidFill>
                <a:latin typeface="Aptos"/>
              </a:rPr>
              <a:t> for similarity search.</a:t>
            </a:r>
          </a:p>
        </p:txBody>
      </p:sp>
      <p:sp>
        <p:nvSpPr>
          <p:cNvPr id="9" name="Rounded Rectangle 8"/>
          <p:cNvSpPr/>
          <p:nvPr/>
        </p:nvSpPr>
        <p:spPr>
          <a:xfrm>
            <a:off x="7452360" y="16916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0116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514600"/>
            <a:ext cx="2651760" cy="2011680"/>
          </a:xfrm>
          <a:prstGeom prst="rect">
            <a:avLst/>
          </a:prstGeom>
          <a:noFill/>
        </p:spPr>
        <p:txBody>
          <a:bodyPr wrap="square">
            <a:spAutoFit/>
          </a:bodyPr>
          <a:lstStyle/>
          <a:p>
            <a:pPr algn="l"/>
            <a:r>
              <a:rPr sz="1900" b="0" dirty="0">
                <a:solidFill>
                  <a:srgbClr val="F6F8FF"/>
                </a:solidFill>
                <a:latin typeface="Aptos"/>
              </a:rPr>
              <a:t>metadata
transcript
chunking
embeddings
</a:t>
            </a:r>
            <a:r>
              <a:rPr sz="1900" b="0" dirty="0" err="1">
                <a:solidFill>
                  <a:srgbClr val="F6F8FF"/>
                </a:solidFill>
                <a:latin typeface="Aptos"/>
              </a:rPr>
              <a:t>vector_storage</a:t>
            </a:r>
            <a:r>
              <a:rPr sz="1900" b="0" dirty="0">
                <a:solidFill>
                  <a:srgbClr val="F6F8FF"/>
                </a:solidFill>
                <a:latin typeface="Aptos"/>
              </a:rPr>
              <a:t>
ready / error</a:t>
            </a:r>
          </a:p>
        </p:txBody>
      </p:sp>
      <p:sp>
        <p:nvSpPr>
          <p:cNvPr id="12" name="TextBox 11"/>
          <p:cNvSpPr txBox="1"/>
          <p:nvPr/>
        </p:nvSpPr>
        <p:spPr>
          <a:xfrm>
            <a:off x="7772400" y="4663440"/>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chatbot uses tools, not just a single prompt.</a:t>
            </a:r>
          </a:p>
        </p:txBody>
      </p:sp>
      <p:sp>
        <p:nvSpPr>
          <p:cNvPr id="8" name="TextBox 7"/>
          <p:cNvSpPr txBox="1"/>
          <p:nvPr/>
        </p:nvSpPr>
        <p:spPr>
          <a:xfrm>
            <a:off x="658368" y="1926771"/>
            <a:ext cx="9875520" cy="329184"/>
          </a:xfrm>
          <a:prstGeom prst="rect">
            <a:avLst/>
          </a:prstGeom>
          <a:noFill/>
        </p:spPr>
        <p:txBody>
          <a:bodyPr wrap="square">
            <a:spAutoFit/>
          </a:bodyPr>
          <a:lstStyle/>
          <a:p>
            <a:pPr algn="l"/>
            <a:r>
              <a:rPr sz="1600" b="0" dirty="0" err="1">
                <a:solidFill>
                  <a:srgbClr val="94A3B8"/>
                </a:solidFill>
                <a:latin typeface="Aptos"/>
              </a:rPr>
              <a:t>AgentService</a:t>
            </a:r>
            <a:r>
              <a:rPr sz="1600" b="0" dirty="0">
                <a:solidFill>
                  <a:srgbClr val="94A3B8"/>
                </a:solidFill>
                <a:latin typeface="Aptos"/>
              </a:rPr>
              <a:t> binds </a:t>
            </a:r>
            <a:r>
              <a:rPr sz="1600" b="0" dirty="0" err="1">
                <a:solidFill>
                  <a:srgbClr val="94A3B8"/>
                </a:solidFill>
                <a:latin typeface="Aptos"/>
              </a:rPr>
              <a:t>StructuredTool</a:t>
            </a:r>
            <a:r>
              <a:rPr sz="1600" b="0" dirty="0">
                <a:solidFill>
                  <a:srgbClr val="94A3B8"/>
                </a:solidFill>
                <a:latin typeface="Aptos"/>
              </a:rPr>
              <a:t> objects to the LLM and returns answer, citations, tool steps, and </a:t>
            </a:r>
            <a:r>
              <a:rPr sz="1600" b="0" dirty="0" err="1">
                <a:solidFill>
                  <a:srgbClr val="94A3B8"/>
                </a:solidFill>
                <a:latin typeface="Aptos"/>
              </a:rPr>
              <a:t>session_id</a:t>
            </a:r>
            <a:r>
              <a:rPr sz="1600" b="0" dirty="0">
                <a:solidFill>
                  <a:srgbClr val="94A3B8"/>
                </a:solidFill>
                <a:latin typeface="Aptos"/>
              </a:rPr>
              <a:t>.</a:t>
            </a:r>
          </a:p>
        </p:txBody>
      </p:sp>
      <p:sp>
        <p:nvSpPr>
          <p:cNvPr id="9" name="Rounded Rectangle 8"/>
          <p:cNvSpPr/>
          <p:nvPr/>
        </p:nvSpPr>
        <p:spPr>
          <a:xfrm>
            <a:off x="777240" y="2399215"/>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2508943"/>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2399215"/>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2508943"/>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3057583"/>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167311"/>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3057583"/>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3167311"/>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3715951"/>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3825679"/>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3715951"/>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06240" y="3825679"/>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4374319"/>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4484047"/>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2148840"/>
            <a:ext cx="352044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45236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53528" y="2313432"/>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2651760"/>
            <a:ext cx="3200400" cy="1417320"/>
          </a:xfrm>
          <a:prstGeom prst="rect">
            <a:avLst/>
          </a:prstGeom>
          <a:noFill/>
        </p:spPr>
        <p:txBody>
          <a:bodyPr wrap="square">
            <a:spAutoFit/>
          </a:bodyPr>
          <a:lstStyle/>
          <a:p>
            <a:pPr algn="l"/>
            <a:r>
              <a:rPr sz="14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434840"/>
            <a:ext cx="3520440" cy="10515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52360" y="4434840"/>
            <a:ext cx="73152"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53528" y="4599431"/>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4937759"/>
            <a:ext cx="3200400" cy="411479"/>
          </a:xfrm>
          <a:prstGeom prst="rect">
            <a:avLst/>
          </a:prstGeom>
          <a:noFill/>
        </p:spPr>
        <p:txBody>
          <a:bodyPr wrap="square">
            <a:spAutoFit/>
          </a:bodyPr>
          <a:lstStyle/>
          <a:p>
            <a:pPr algn="l"/>
            <a:r>
              <a:rPr sz="1400" b="0">
                <a:solidFill>
                  <a:srgbClr val="F6F8FF"/>
                </a:solidFill>
                <a:latin typeface="Aptos"/>
              </a:rPr>
              <a:t>ConversationMemoryService keeps session-based history so follow-up questions remain coherent.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589520" cy="548640"/>
          </a:xfrm>
          <a:prstGeom prst="rect">
            <a:avLst/>
          </a:prstGeom>
          <a:noFill/>
        </p:spPr>
        <p:txBody>
          <a:bodyPr wrap="square">
            <a:spAutoFit/>
          </a:bodyPr>
          <a:lstStyle/>
          <a:p>
            <a:pPr algn="l"/>
            <a:r>
              <a:rPr sz="3300" b="1">
                <a:solidFill>
                  <a:srgbClr val="F6F8FF"/>
                </a:solidFill>
                <a:latin typeface="Aptos"/>
              </a:rPr>
              <a:t>Answers are grounded in transcript evidence.</a:t>
            </a:r>
          </a:p>
        </p:txBody>
      </p:sp>
      <p:sp>
        <p:nvSpPr>
          <p:cNvPr id="8" name="Rounded Rectangle 7"/>
          <p:cNvSpPr/>
          <p:nvPr/>
        </p:nvSpPr>
        <p:spPr>
          <a:xfrm>
            <a:off x="777240" y="2708366"/>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1832" y="2872958"/>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955254"/>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891246"/>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3366734"/>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708366"/>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0712" y="2872958"/>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11296" y="2955254"/>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891246"/>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3366734"/>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708366"/>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79592" y="2872958"/>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0176" y="2955254"/>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891246"/>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3366734"/>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708366"/>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348471" y="2872958"/>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49055" y="2955254"/>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891246"/>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3366734"/>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336673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336673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336673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If the transcript does not contain the answer, the system says it cannot answer from the video. This is the main anti-hallucination behavior.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686800" cy="548640"/>
          </a:xfrm>
          <a:prstGeom prst="rect">
            <a:avLst/>
          </a:prstGeom>
          <a:noFill/>
        </p:spPr>
        <p:txBody>
          <a:bodyPr wrap="square">
            <a:spAutoFit/>
          </a:bodyPr>
          <a:lstStyle/>
          <a:p>
            <a:pPr algn="l"/>
            <a:r>
              <a:rPr sz="3200" b="1">
                <a:solidFill>
                  <a:srgbClr val="F6F8FF"/>
                </a:solidFill>
                <a:latin typeface="Aptos"/>
              </a:rPr>
              <a:t>The interface feels like a learning product, not a backend demo.</a:t>
            </a:r>
          </a:p>
        </p:txBody>
      </p:sp>
      <p:sp>
        <p:nvSpPr>
          <p:cNvPr id="8" name="Rounded Rectangle 7"/>
          <p:cNvSpPr/>
          <p:nvPr/>
        </p:nvSpPr>
        <p:spPr>
          <a:xfrm>
            <a:off x="685800" y="2486298"/>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486298"/>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650890"/>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989218"/>
            <a:ext cx="3017520" cy="1188720"/>
          </a:xfrm>
          <a:prstGeom prst="rect">
            <a:avLst/>
          </a:prstGeom>
          <a:noFill/>
        </p:spPr>
        <p:txBody>
          <a:bodyPr wrap="square">
            <a:spAutoFit/>
          </a:bodyPr>
          <a:lstStyle/>
          <a:p>
            <a:pPr algn="l"/>
            <a:r>
              <a:rPr sz="14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2486298"/>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34840" y="2486298"/>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6007" y="2650890"/>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989218"/>
            <a:ext cx="3017520" cy="1188720"/>
          </a:xfrm>
          <a:prstGeom prst="rect">
            <a:avLst/>
          </a:prstGeom>
          <a:noFill/>
        </p:spPr>
        <p:txBody>
          <a:bodyPr wrap="square">
            <a:spAutoFit/>
          </a:bodyPr>
          <a:lstStyle/>
          <a:p>
            <a:pPr algn="l"/>
            <a:r>
              <a:rPr sz="14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2486298"/>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2486298"/>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85048" y="2650890"/>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989218"/>
            <a:ext cx="3017520" cy="1188720"/>
          </a:xfrm>
          <a:prstGeom prst="rect">
            <a:avLst/>
          </a:prstGeom>
          <a:noFill/>
        </p:spPr>
        <p:txBody>
          <a:bodyPr wrap="square">
            <a:spAutoFit/>
          </a:bodyPr>
          <a:lstStyle/>
          <a:p>
            <a:pPr algn="l"/>
            <a:r>
              <a:rPr sz="1400" b="0">
                <a:solidFill>
                  <a:srgbClr val="F6F8FF"/>
                </a:solidFill>
                <a:latin typeface="Aptos"/>
              </a:rPr>
              <a:t>Semantic labels, visible focus states, reduced-motion handling, screen-reader status messages, and touch-friendly layouts.</a:t>
            </a:r>
          </a:p>
        </p:txBody>
      </p:sp>
      <p:sp>
        <p:nvSpPr>
          <p:cNvPr id="20" name="TextBox 19"/>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project is testable, explainable, and demo-ready.</a:t>
            </a:r>
          </a:p>
        </p:txBody>
      </p:sp>
      <p:sp>
        <p:nvSpPr>
          <p:cNvPr id="8" name="TextBox 7"/>
          <p:cNvSpPr txBox="1"/>
          <p:nvPr/>
        </p:nvSpPr>
        <p:spPr>
          <a:xfrm>
            <a:off x="822960" y="2314304"/>
            <a:ext cx="1828800" cy="594360"/>
          </a:xfrm>
          <a:prstGeom prst="rect">
            <a:avLst/>
          </a:prstGeom>
          <a:noFill/>
        </p:spPr>
        <p:txBody>
          <a:bodyPr wrap="square">
            <a:spAutoFit/>
          </a:bodyPr>
          <a:lstStyle/>
          <a:p>
            <a:pPr algn="l"/>
            <a:r>
              <a:rPr sz="3600" b="1">
                <a:solidFill>
                  <a:srgbClr val="22D3EE"/>
                </a:solidFill>
                <a:latin typeface="Aptos"/>
              </a:rPr>
              <a:t>98</a:t>
            </a:r>
          </a:p>
        </p:txBody>
      </p:sp>
      <p:sp>
        <p:nvSpPr>
          <p:cNvPr id="9" name="TextBox 8"/>
          <p:cNvSpPr txBox="1"/>
          <p:nvPr/>
        </p:nvSpPr>
        <p:spPr>
          <a:xfrm>
            <a:off x="822960" y="2881232"/>
            <a:ext cx="1828800" cy="320040"/>
          </a:xfrm>
          <a:prstGeom prst="rect">
            <a:avLst/>
          </a:prstGeom>
          <a:noFill/>
        </p:spPr>
        <p:txBody>
          <a:bodyPr wrap="square">
            <a:spAutoFit/>
          </a:bodyPr>
          <a:lstStyle/>
          <a:p>
            <a:pPr algn="l"/>
            <a:r>
              <a:rPr sz="1100" b="1" spc="140">
                <a:solidFill>
                  <a:srgbClr val="94A3B8"/>
                </a:solidFill>
                <a:latin typeface="Aptos"/>
              </a:rPr>
              <a:t>PYTEST TESTS</a:t>
            </a:r>
          </a:p>
        </p:txBody>
      </p:sp>
      <p:sp>
        <p:nvSpPr>
          <p:cNvPr id="10" name="TextBox 9"/>
          <p:cNvSpPr txBox="1"/>
          <p:nvPr/>
        </p:nvSpPr>
        <p:spPr>
          <a:xfrm>
            <a:off x="3063240" y="2314304"/>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881232"/>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2314304"/>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881232"/>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2314304"/>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881232"/>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379476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Demo path: search, prepare, ask, verify.</a:t>
            </a:r>
          </a:p>
        </p:txBody>
      </p:sp>
      <p:sp>
        <p:nvSpPr>
          <p:cNvPr id="8" name="TextBox 7"/>
          <p:cNvSpPr txBox="1"/>
          <p:nvPr/>
        </p:nvSpPr>
        <p:spPr>
          <a:xfrm>
            <a:off x="868680" y="1828800"/>
            <a:ext cx="6364224" cy="4201086"/>
          </a:xfrm>
          <a:prstGeom prst="rect">
            <a:avLst/>
          </a:prstGeom>
          <a:noFill/>
        </p:spPr>
        <p:txBody>
          <a:bodyPr wrap="square">
            <a:spAutoFit/>
          </a:bodyPr>
          <a:lstStyle/>
          <a:p>
            <a:pPr>
              <a:lnSpc>
                <a:spcPct val="105000"/>
              </a:lnSpc>
              <a:spcAft>
                <a:spcPts val="800"/>
              </a:spcAft>
            </a:pPr>
            <a:r>
              <a:rPr sz="1700" b="1" dirty="0">
                <a:solidFill>
                  <a:srgbClr val="22D3EE"/>
                </a:solidFill>
                <a:latin typeface="Aptos"/>
              </a:rPr>
              <a:t>- </a:t>
            </a:r>
            <a:r>
              <a:rPr sz="1700" dirty="0">
                <a:solidFill>
                  <a:srgbClr val="F6F8FF"/>
                </a:solidFill>
                <a:latin typeface="Aptos"/>
              </a:rPr>
              <a:t>Live app: http://18.157.233.122:3001/ (EC2 deployment with </a:t>
            </a:r>
            <a:r>
              <a:rPr sz="1700" dirty="0" err="1">
                <a:solidFill>
                  <a:srgbClr val="F6F8FF"/>
                </a:solidFill>
                <a:latin typeface="Aptos"/>
              </a:rPr>
              <a:t>Webshare</a:t>
            </a:r>
            <a:r>
              <a:rPr sz="1700" dirty="0">
                <a:solidFill>
                  <a:srgbClr val="F6F8FF"/>
                </a:solidFill>
                <a:latin typeface="Aptos"/>
              </a:rPr>
              <a:t> proxy)</a:t>
            </a:r>
          </a:p>
          <a:p>
            <a:pPr>
              <a:lnSpc>
                <a:spcPct val="105000"/>
              </a:lnSpc>
              <a:spcAft>
                <a:spcPts val="800"/>
              </a:spcAft>
            </a:pPr>
            <a:r>
              <a:rPr sz="1700" b="1" dirty="0">
                <a:solidFill>
                  <a:srgbClr val="22D3EE"/>
                </a:solidFill>
                <a:latin typeface="Aptos"/>
              </a:rPr>
              <a:t>- </a:t>
            </a:r>
            <a:r>
              <a:rPr sz="1700" dirty="0">
                <a:solidFill>
                  <a:srgbClr val="F6F8FF"/>
                </a:solidFill>
                <a:latin typeface="Aptos"/>
              </a:rPr>
              <a:t>Search with a duration filter, for example: python tutorial for beginners under 10 minutes.</a:t>
            </a:r>
          </a:p>
          <a:p>
            <a:pPr>
              <a:lnSpc>
                <a:spcPct val="105000"/>
              </a:lnSpc>
              <a:spcAft>
                <a:spcPts val="800"/>
              </a:spcAft>
            </a:pPr>
            <a:r>
              <a:rPr sz="1700" b="1" dirty="0">
                <a:solidFill>
                  <a:srgbClr val="22D3EE"/>
                </a:solidFill>
                <a:latin typeface="Aptos"/>
              </a:rPr>
              <a:t>- </a:t>
            </a:r>
            <a:r>
              <a:rPr sz="1700" dirty="0">
                <a:solidFill>
                  <a:srgbClr val="F6F8FF"/>
                </a:solidFill>
                <a:latin typeface="Aptos"/>
              </a:rPr>
              <a:t>Pick a video and click Prepare to show real ingestion progress.</a:t>
            </a:r>
          </a:p>
          <a:p>
            <a:pPr>
              <a:lnSpc>
                <a:spcPct val="105000"/>
              </a:lnSpc>
              <a:spcAft>
                <a:spcPts val="800"/>
              </a:spcAft>
            </a:pPr>
            <a:r>
              <a:rPr sz="1700" b="1" dirty="0">
                <a:solidFill>
                  <a:srgbClr val="22D3EE"/>
                </a:solidFill>
                <a:latin typeface="Aptos"/>
              </a:rPr>
              <a:t>- </a:t>
            </a:r>
            <a:r>
              <a:rPr sz="1700" dirty="0">
                <a:solidFill>
                  <a:srgbClr val="F6F8FF"/>
                </a:solidFill>
                <a:latin typeface="Aptos"/>
              </a:rPr>
              <a:t>Ask: What is Python used for?</a:t>
            </a:r>
          </a:p>
          <a:p>
            <a:pPr>
              <a:lnSpc>
                <a:spcPct val="105000"/>
              </a:lnSpc>
              <a:spcAft>
                <a:spcPts val="800"/>
              </a:spcAft>
            </a:pPr>
            <a:r>
              <a:rPr sz="1700" b="1" dirty="0">
                <a:solidFill>
                  <a:srgbClr val="22D3EE"/>
                </a:solidFill>
                <a:latin typeface="Aptos"/>
              </a:rPr>
              <a:t>- </a:t>
            </a:r>
            <a:r>
              <a:rPr sz="1700" dirty="0">
                <a:solidFill>
                  <a:srgbClr val="F6F8FF"/>
                </a:solidFill>
                <a:latin typeface="Aptos"/>
              </a:rPr>
              <a:t>Show timestamp citations and the tool breadcrumb.</a:t>
            </a:r>
          </a:p>
          <a:p>
            <a:pPr>
              <a:lnSpc>
                <a:spcPct val="105000"/>
              </a:lnSpc>
              <a:spcAft>
                <a:spcPts val="800"/>
              </a:spcAft>
            </a:pPr>
            <a:r>
              <a:rPr sz="1700" b="1" dirty="0">
                <a:solidFill>
                  <a:srgbClr val="22D3EE"/>
                </a:solidFill>
                <a:latin typeface="Aptos"/>
              </a:rPr>
              <a:t>- </a:t>
            </a:r>
            <a:r>
              <a:rPr sz="1700" dirty="0">
                <a:solidFill>
                  <a:srgbClr val="F6F8FF"/>
                </a:solidFill>
                <a:latin typeface="Aptos"/>
              </a:rPr>
              <a:t>Ask a follow-up to demonstrate memory.</a:t>
            </a:r>
          </a:p>
          <a:p>
            <a:pPr>
              <a:lnSpc>
                <a:spcPct val="105000"/>
              </a:lnSpc>
              <a:spcAft>
                <a:spcPts val="800"/>
              </a:spcAft>
            </a:pPr>
            <a:r>
              <a:rPr sz="1700" b="1" dirty="0">
                <a:solidFill>
                  <a:srgbClr val="22D3EE"/>
                </a:solidFill>
                <a:latin typeface="Aptos"/>
              </a:rPr>
              <a:t>- </a:t>
            </a:r>
            <a:r>
              <a:rPr sz="1700" dirty="0">
                <a:solidFill>
                  <a:srgbClr val="F6F8FF"/>
                </a:solidFill>
                <a:latin typeface="Aptos"/>
              </a:rPr>
              <a:t>Ask an unrelated question to show refusal behavior.</a:t>
            </a:r>
          </a:p>
          <a:p>
            <a:pPr>
              <a:lnSpc>
                <a:spcPct val="105000"/>
              </a:lnSpc>
              <a:spcAft>
                <a:spcPts val="800"/>
              </a:spcAft>
            </a:pPr>
            <a:r>
              <a:rPr sz="1700" b="1" dirty="0">
                <a:solidFill>
                  <a:srgbClr val="22D3EE"/>
                </a:solidFill>
                <a:latin typeface="Aptos"/>
              </a:rPr>
              <a:t>- </a:t>
            </a:r>
            <a:r>
              <a:rPr sz="1700" dirty="0">
                <a:solidFill>
                  <a:srgbClr val="F6F8FF"/>
                </a:solidFill>
                <a:latin typeface="Aptos"/>
              </a:rPr>
              <a:t>Use mic input and Read aloud if time allows.</a:t>
            </a:r>
          </a:p>
          <a:p>
            <a:pPr>
              <a:lnSpc>
                <a:spcPct val="105000"/>
              </a:lnSpc>
              <a:spcAft>
                <a:spcPts val="800"/>
              </a:spcAft>
            </a:pPr>
            <a:r>
              <a:rPr sz="1700" b="1" dirty="0">
                <a:solidFill>
                  <a:srgbClr val="22D3EE"/>
                </a:solidFill>
                <a:latin typeface="Aptos"/>
              </a:rPr>
              <a:t>- </a:t>
            </a:r>
            <a:r>
              <a:rPr sz="1700" dirty="0">
                <a:solidFill>
                  <a:srgbClr val="F6F8FF"/>
                </a:solidFill>
                <a:latin typeface="Aptos"/>
              </a:rPr>
              <a:t>Show EC2 health endpoint and explain the YouTube cloud-IP transcript limitation.</a:t>
            </a:r>
          </a:p>
        </p:txBody>
      </p:sp>
      <p:sp>
        <p:nvSpPr>
          <p:cNvPr id="9" name="Rounded Rectangle 8"/>
          <p:cNvSpPr/>
          <p:nvPr/>
        </p:nvSpPr>
        <p:spPr>
          <a:xfrm>
            <a:off x="7360920" y="1874519"/>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217627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743200"/>
            <a:ext cx="2834640" cy="1325880"/>
          </a:xfrm>
          <a:prstGeom prst="rect">
            <a:avLst/>
          </a:prstGeom>
          <a:noFill/>
        </p:spPr>
        <p:txBody>
          <a:bodyPr wrap="square">
            <a:spAutoFit/>
          </a:bodyPr>
          <a:lstStyle/>
          <a:p>
            <a:pPr algn="l"/>
            <a:r>
              <a:rPr sz="1800" b="0">
                <a:solidFill>
                  <a:srgbClr val="F6F8FF"/>
                </a:solidFill>
                <a:latin typeface="Aptos"/>
              </a:rPr>
              <a:t>This is not a generic chatbot. It is a transcript-grounded learning workflow with tools, memory, vector search, citations, and a polished UI.</a:t>
            </a:r>
          </a:p>
        </p:txBody>
      </p:sp>
      <p:sp>
        <p:nvSpPr>
          <p:cNvPr id="12" name="TextBox 11"/>
          <p:cNvSpPr txBox="1"/>
          <p:nvPr/>
        </p:nvSpPr>
        <p:spPr>
          <a:xfrm>
            <a:off x="7662672" y="425196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local run proves full transcript access when YouTube blocks cloud IPs.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97280"/>
            <a:ext cx="9875520" cy="114300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423160"/>
            <a:ext cx="8869680" cy="457200"/>
          </a:xfrm>
          <a:prstGeom prst="rect">
            <a:avLst/>
          </a:prstGeom>
          <a:noFill/>
        </p:spPr>
        <p:txBody>
          <a:bodyPr wrap="square">
            <a:spAutoFit/>
          </a:bodyPr>
          <a:lstStyle/>
          <a:p>
            <a:pPr algn="l"/>
            <a:r>
              <a:rPr sz="2100" b="0">
                <a:solidFill>
                  <a:srgbClr val="22D3EE"/>
                </a:solidFill>
                <a:latin typeface="Aptos"/>
              </a:rPr>
              <a:t>Search videos. Build transcript knowledge. Ask questions. Verify with timestamps.</a:t>
            </a:r>
          </a:p>
        </p:txBody>
      </p:sp>
      <p:sp>
        <p:nvSpPr>
          <p:cNvPr id="7" name="Rounded Rectangle 6"/>
          <p:cNvSpPr/>
          <p:nvPr/>
        </p:nvSpPr>
        <p:spPr>
          <a:xfrm>
            <a:off x="777240" y="3749038"/>
            <a:ext cx="3474720" cy="1672047"/>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3749039"/>
            <a:ext cx="73152" cy="1234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13631"/>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51959"/>
            <a:ext cx="3154679" cy="594360"/>
          </a:xfrm>
          <a:prstGeom prst="rect">
            <a:avLst/>
          </a:prstGeom>
          <a:noFill/>
        </p:spPr>
        <p:txBody>
          <a:bodyPr wrap="square">
            <a:spAutoFit/>
          </a:bodyPr>
          <a:lstStyle/>
          <a:p>
            <a:pPr algn="l"/>
            <a:r>
              <a:rPr sz="14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49039"/>
            <a:ext cx="3474720" cy="1672046"/>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26280" y="3749039"/>
            <a:ext cx="73152" cy="12344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27448" y="3913631"/>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51959"/>
            <a:ext cx="3154679" cy="594360"/>
          </a:xfrm>
          <a:prstGeom prst="rect">
            <a:avLst/>
          </a:prstGeom>
          <a:noFill/>
        </p:spPr>
        <p:txBody>
          <a:bodyPr wrap="square">
            <a:spAutoFit/>
          </a:bodyPr>
          <a:lstStyle/>
          <a:p>
            <a:pPr algn="l"/>
            <a:r>
              <a:rPr sz="1400" b="0" dirty="0">
                <a:solidFill>
                  <a:srgbClr val="F6F8FF"/>
                </a:solidFill>
                <a:latin typeface="Aptos"/>
              </a:rPr>
              <a:t>Voice input, Whisper fallback, WebSocket streaming, TTS, 3D assistant, and </a:t>
            </a:r>
            <a:r>
              <a:rPr sz="1400" b="0" dirty="0" err="1">
                <a:solidFill>
                  <a:srgbClr val="F6F8FF"/>
                </a:solidFill>
                <a:latin typeface="Aptos"/>
              </a:rPr>
              <a:t>LangSmith</a:t>
            </a:r>
            <a:r>
              <a:rPr sz="1400" b="0" dirty="0">
                <a:solidFill>
                  <a:srgbClr val="F6F8FF"/>
                </a:solidFill>
                <a:latin typeface="Aptos"/>
              </a:rPr>
              <a:t> tracing are included.</a:t>
            </a:r>
          </a:p>
        </p:txBody>
      </p:sp>
      <p:sp>
        <p:nvSpPr>
          <p:cNvPr id="15" name="Rounded Rectangle 14"/>
          <p:cNvSpPr/>
          <p:nvPr/>
        </p:nvSpPr>
        <p:spPr>
          <a:xfrm>
            <a:off x="8275320" y="3749039"/>
            <a:ext cx="3108960" cy="1672046"/>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5320" y="3749039"/>
            <a:ext cx="73152" cy="12344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76488" y="3913631"/>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51959"/>
            <a:ext cx="2788920" cy="594360"/>
          </a:xfrm>
          <a:prstGeom prst="rect">
            <a:avLst/>
          </a:prstGeom>
          <a:noFill/>
        </p:spPr>
        <p:txBody>
          <a:bodyPr wrap="square">
            <a:spAutoFit/>
          </a:bodyPr>
          <a:lstStyle/>
          <a:p>
            <a:pPr algn="l"/>
            <a:r>
              <a:rPr sz="1400" b="0">
                <a:solidFill>
                  <a:srgbClr val="F6F8FF"/>
                </a:solidFill>
                <a:latin typeface="Aptos"/>
              </a:rPr>
              <a:t>Persistent user accounts, multi-video comparison, HTTPS custom domain, and a stronger production transcript proxy.</a:t>
            </a:r>
          </a:p>
        </p:txBody>
      </p:sp>
      <p:sp>
        <p:nvSpPr>
          <p:cNvPr id="19" name="TextBox 18"/>
          <p:cNvSpPr txBox="1"/>
          <p:nvPr/>
        </p:nvSpPr>
        <p:spPr>
          <a:xfrm>
            <a:off x="777240" y="6144768"/>
            <a:ext cx="2743200" cy="274320"/>
          </a:xfrm>
          <a:prstGeom prst="rect">
            <a:avLst/>
          </a:prstGeom>
          <a:noFill/>
        </p:spPr>
        <p:txBody>
          <a:bodyPr wrap="square">
            <a:spAutoFit/>
          </a:bodyPr>
          <a:lstStyle/>
          <a:p>
            <a:pPr algn="l"/>
            <a:r>
              <a:rPr sz="1400" b="1">
                <a:solidFill>
                  <a:srgbClr val="94A3B8"/>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2061</Words>
  <Application>Microsoft Office PowerPoint</Application>
  <PresentationFormat>Widescreen</PresentationFormat>
  <Paragraphs>181</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 Z</cp:lastModifiedBy>
  <cp:revision>2</cp:revision>
  <dcterms:created xsi:type="dcterms:W3CDTF">2013-01-27T09:14:16Z</dcterms:created>
  <dcterms:modified xsi:type="dcterms:W3CDTF">2026-05-26T13:31:03Z</dcterms:modified>
  <cp:category/>
</cp:coreProperties>
</file>