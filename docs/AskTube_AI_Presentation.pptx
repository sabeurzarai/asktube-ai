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82" autoAdjust="0"/>
  </p:normalViewPr>
  <p:slideViewPr>
    <p:cSldViewPr snapToGrid="0" snapToObjects="1">
      <p:cViewPr varScale="1">
        <p:scale>
          <a:sx n="88" d="100"/>
          <a:sy n="88" d="100"/>
        </p:scale>
        <p:origin x="143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~15 sec</a:t>
            </a:r>
          </a:p>
          <a:p>
            <a:r>
              <a:t>AskTube AI lets users chat with YouTube videos through transcript-grounded RAG.</a:t>
            </a:r>
          </a:p>
          <a:p>
            <a:r>
              <a:t>Key promise: every answer is connected to timestamp evidence.</a:t>
            </a:r>
          </a:p>
          <a:p>
            <a:r>
              <a:t>The project is deployed, tested, and observable like a real product.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~30 sec</a:t>
            </a:r>
          </a:p>
          <a:p>
            <a:r>
              <a:t>Problem: long YouTube videos are hard to search manually.</a:t>
            </a:r>
          </a:p>
          <a:p>
            <a:r>
              <a:t>Solution: turn a video transcript into a conversational knowledge base.</a:t>
            </a:r>
          </a:p>
          <a:p>
            <a:r>
              <a:t>Trust rule: answer only from the transcript, or refuse.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~25 sec</a:t>
            </a:r>
          </a:p>
          <a:p>
            <a:r>
              <a:t>The user flow has four steps: search, choose, process, chat.</a:t>
            </a:r>
          </a:p>
          <a:p>
            <a:r>
              <a:t>The backend prepares transcript chunks and embeddings.</a:t>
            </a:r>
          </a:p>
          <a:p>
            <a:r>
              <a:t>The user gets answers with clickable timestamp citations.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~30 sec</a:t>
            </a:r>
          </a:p>
          <a:p>
            <a:r>
              <a:t>Three layers: Next.js frontend, FastAPI backend, AI/data layer.</a:t>
            </a:r>
          </a:p>
          <a:p>
            <a:r>
              <a:t>LangChain tools connect the LLM to search, transcript, vectorstore, and chat.</a:t>
            </a:r>
          </a:p>
          <a:p>
            <a:r>
              <a:t>ChromaDB stores transcript chunks; analytics and LangSmith support observability.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~30 sec</a:t>
            </a:r>
          </a:p>
          <a:p>
            <a:r>
              <a:t>Prepare starts the ingestion pipeline.</a:t>
            </a:r>
          </a:p>
          <a:p>
            <a:r>
              <a:t>YouTube metadata and transcript are fetched first.</a:t>
            </a:r>
          </a:p>
          <a:p>
            <a:r>
              <a:t>Then LangChain chunks the transcript, OpenAI creates embeddings, and ChromaDB stores them.</a:t>
            </a:r>
          </a:p>
          <a:p>
            <a:r>
              <a:t>The processing screen shows real backend progress.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~35 sec</a:t>
            </a:r>
          </a:p>
          <a:p>
            <a:r>
              <a:t>The chatbot uses LangChain tools, not only one prompt.</a:t>
            </a:r>
          </a:p>
          <a:p>
            <a:r>
              <a:t>Tools handle search, transcript extraction, chunking, storage, retrieval, and answering.</a:t>
            </a:r>
          </a:p>
          <a:p>
            <a:r>
              <a:t>Guardrails: transcript-only answers, timestamp citations, and refusal for off-topic questions.</a:t>
            </a:r>
          </a:p>
          <a:p>
            <a:r>
              <a:t>Memory supports follow-up questions.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~30 sec</a:t>
            </a:r>
          </a:p>
          <a:p>
            <a:r>
              <a:t>RAG flow: retrieve, inject, generate, cite.</a:t>
            </a:r>
          </a:p>
          <a:p>
            <a:r>
              <a:t>ChromaDB returns relevant transcript chunks.</a:t>
            </a:r>
          </a:p>
          <a:p>
            <a:r>
              <a:t>GPT-4o-mini answers only from that context.</a:t>
            </a:r>
          </a:p>
          <a:p>
            <a:r>
              <a:t>If the transcript does not contain the answer, the bot refuses.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~25 sec</a:t>
            </a:r>
          </a:p>
          <a:p>
            <a:r>
              <a:t>Voice search uses browser speech recognition first.</a:t>
            </a:r>
          </a:p>
          <a:p>
            <a:r>
              <a:t>If needed, Whisper can act as a fallback.</a:t>
            </a:r>
          </a:p>
          <a:p>
            <a:r>
              <a:t>The UI adds a cinematic learning experience with 3D guidance, loading states, and accessibility details.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~25 sec</a:t>
            </a:r>
          </a:p>
          <a:p>
            <a:r>
              <a:t>Analytics makes the product measurable.</a:t>
            </a:r>
          </a:p>
          <a:p>
            <a:r>
              <a:t>The app tracks usage, RAG latency, citation coverage, pipeline time, and UX events.</a:t>
            </a:r>
          </a:p>
          <a:p>
            <a:r>
              <a:t>/analytics shows product metrics; /metrics exposes Prometheus-style monitoring.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~25 sec</a:t>
            </a:r>
          </a:p>
          <a:p>
            <a:r>
              <a:t>The project includes automated tests and RAG evaluation cases.</a:t>
            </a:r>
          </a:p>
          <a:p>
            <a:r>
              <a:t>Tests cover backend, frontend, tools, speech, analytics, and RAG behavior.</a:t>
            </a:r>
          </a:p>
          <a:p>
            <a:r>
              <a:t>Evaluation checks citations, refusals, summaries, memory, and hallucination prevention.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7CB645CE-7555-7ADA-3896-6E689D696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t>~60 sec</a:t>
            </a:r>
          </a:p>
          <a:p>
            <a:r>
              <a:t>Demo flow: open the hosted app, search, choose a video, prepare it, then ask a question.</a:t>
            </a:r>
          </a:p>
          <a:p>
            <a:r>
              <a:t>Show the processing stages briefly.</a:t>
            </a:r>
          </a:p>
          <a:p>
            <a:r>
              <a:t>Highlight timestamp citations as the trust feature.</a:t>
            </a:r>
          </a:p>
          <a:p>
            <a:r>
              <a:t>If time allows, ask a follow-up or off-topic question to show memory/refusal.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6F8FF"/>
                </a:solidFill>
                <a:latin typeface="Aptos"/>
              </a:rPr>
              <a:t>AskTube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7132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D3EE"/>
                </a:solidFill>
                <a:latin typeface="Aptos"/>
              </a:rPr>
              <a:t>Chat with YouTube videos through transcript-grounded AI.</a:t>
            </a:r>
            <a:endParaRPr lang="de-DE" sz="2000" b="0" dirty="0">
              <a:solidFill>
                <a:srgbClr val="22D3EE"/>
              </a:solidFill>
              <a:latin typeface="Aptos"/>
            </a:endParaRPr>
          </a:p>
          <a:p>
            <a:pPr algn="l"/>
            <a:r>
              <a:rPr lang="en-US" sz="2000" b="0" dirty="0">
                <a:solidFill>
                  <a:srgbClr val="22D3EE"/>
                </a:solidFill>
                <a:latin typeface="Aptos"/>
              </a:rPr>
              <a:t>https://asktube-ai.duckdns.org/</a:t>
            </a:r>
          </a:p>
          <a:p>
            <a:pPr algn="l"/>
            <a:endParaRPr lang="en-US" sz="2000" b="0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603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94A3B8"/>
                </a:solidFill>
                <a:latin typeface="Aptos"/>
              </a:rPr>
              <a:t>Final Project | </a:t>
            </a:r>
            <a:r>
              <a:rPr sz="1200" b="1" dirty="0" err="1">
                <a:solidFill>
                  <a:srgbClr val="94A3B8"/>
                </a:solidFill>
                <a:latin typeface="Aptos"/>
              </a:rPr>
              <a:t>Sabeur</a:t>
            </a:r>
            <a:r>
              <a:rPr sz="1200" b="1" dirty="0">
                <a:solidFill>
                  <a:srgbClr val="94A3B8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94A3B8"/>
                </a:solidFill>
                <a:latin typeface="Aptos"/>
              </a:rPr>
              <a:t>Zarai</a:t>
            </a:r>
            <a:r>
              <a:rPr sz="1200" b="1" dirty="0">
                <a:solidFill>
                  <a:srgbClr val="94A3B8"/>
                </a:solidFill>
                <a:latin typeface="Aptos"/>
              </a:rPr>
              <a:t> | </a:t>
            </a:r>
            <a:r>
              <a:rPr sz="1200" b="1" dirty="0" err="1">
                <a:solidFill>
                  <a:srgbClr val="94A3B8"/>
                </a:solidFill>
                <a:latin typeface="Aptos"/>
              </a:rPr>
              <a:t>IronHack</a:t>
            </a:r>
            <a:r>
              <a:rPr sz="1200" b="1" dirty="0">
                <a:solidFill>
                  <a:srgbClr val="94A3B8"/>
                </a:solidFill>
                <a:latin typeface="Aptos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914400"/>
            <a:ext cx="4023360" cy="438912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spc="250">
                <a:solidFill>
                  <a:srgbClr val="22D3EE"/>
                </a:solidFill>
                <a:latin typeface="Aptos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751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spc="250">
                <a:solidFill>
                  <a:srgbClr val="EC4899"/>
                </a:solidFill>
                <a:latin typeface="Aptos"/>
              </a:rPr>
              <a:t>TRANSCRIPT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651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spc="250">
                <a:solidFill>
                  <a:srgbClr val="F6F8FF"/>
                </a:solidFill>
                <a:latin typeface="Aptos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401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spc="250">
                <a:solidFill>
                  <a:srgbClr val="34D399"/>
                </a:solidFill>
                <a:latin typeface="Aptos"/>
              </a:rPr>
              <a:t>CITATIONS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4069080"/>
            <a:ext cx="3154680" cy="0"/>
          </a:xfrm>
          <a:prstGeom prst="line">
            <a:avLst/>
          </a:prstGeom>
          <a:ln w="254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431596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Netflix-inspired UI + FastAPI + LangChain + ChromaDB + analytics + EC2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460D5B-0ECB-2B88-97F9-0B038D5F8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9612"/>
            <a:ext cx="2619498" cy="157472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4DB1CD4-0961-433A-306C-DBB86BF9F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990" y="3378927"/>
            <a:ext cx="2818343" cy="157298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C6C8B28-2AF9-35CF-A01E-6C03C99FF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347" y="4337196"/>
            <a:ext cx="3145971" cy="157298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01 / PRODUCT IDEA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960120"/>
            <a:ext cx="7635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6F8FF"/>
                </a:solidFill>
                <a:latin typeface="Aptos"/>
              </a:rPr>
              <a:t>YouTube is huge. Learning from long videos is slow.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59152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D3EE"/>
                </a:solidFill>
                <a:latin typeface="Aptos"/>
              </a:rPr>
              <a:t>AskTube AI turns a video into a searchable, conversational knowledge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73552"/>
            <a:ext cx="3246120" cy="17373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3273552"/>
            <a:ext cx="73152" cy="1737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438144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22D3EE"/>
                </a:solidFill>
                <a:latin typeface="Aptos"/>
              </a:rPr>
              <a:t>USER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749039"/>
            <a:ext cx="2926079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Search a topic, choose a video, let the app process the transcript, then ask questions with source timestamps.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273552"/>
            <a:ext cx="3246120" cy="17373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3273552"/>
            <a:ext cx="73152" cy="1737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3438144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34D399"/>
                </a:solidFill>
                <a:latin typeface="Aptos"/>
              </a:rPr>
              <a:t>TRUST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3749039"/>
            <a:ext cx="2926079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The assistant answers from transcript evidence only. If the transcript cannot answer, it refuses instead of inventing.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3273552"/>
            <a:ext cx="3246120" cy="17373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62672" y="3273552"/>
            <a:ext cx="73152" cy="1737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3438144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EC4899"/>
                </a:solidFill>
                <a:latin typeface="Aptos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749039"/>
            <a:ext cx="2926079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Learners can skip guessing where information lives and jump straight to the exact moment in the video.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02 / USER JOURNEY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04672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6F8FF"/>
                </a:solidFill>
                <a:latin typeface="Aptos"/>
              </a:rPr>
              <a:t>From search to cited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1" y="2496312"/>
            <a:ext cx="384048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57860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1460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90087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Text or voice search through YouTube Data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33172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36392" y="2496312"/>
            <a:ext cx="384048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36976" y="257860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51460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990087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Netflix-style carousel with selected video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33172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68112" y="2496312"/>
            <a:ext cx="384048" cy="38404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68696" y="257860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51460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990087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Transcript, chunks, embeddings, vector storage.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33172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99831" y="2496312"/>
            <a:ext cx="384048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0415" y="257860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51460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2990087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RAG answer with citations and memory.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24912" y="2990088"/>
            <a:ext cx="2011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56632" y="2990088"/>
            <a:ext cx="2011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88352" y="2990088"/>
            <a:ext cx="2011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" y="5010912"/>
            <a:ext cx="10149840" cy="658368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6424" y="5175504"/>
            <a:ext cx="967435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Cinematic UI: dark mode, glass surfaces, duration filters, smooth transitions, 3D guidance, and graceful loading/error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03 / 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6868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6F8FF"/>
                </a:solidFill>
                <a:latin typeface="Aptos"/>
              </a:rPr>
              <a:t>Three layers, one learning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154680" cy="20574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057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22D3EE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24328"/>
            <a:ext cx="28346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Next.js 14, TypeScript, TailwindCSS, shadcn/ui, Framer Motion, Embla, Three.js, React Three Fiber.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148840"/>
            <a:ext cx="3154680" cy="20574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148840"/>
            <a:ext cx="73152" cy="2057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23134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EC4899"/>
                </a:solidFill>
                <a:latin typeface="Aptos"/>
              </a:rP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24328"/>
            <a:ext cx="28346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FastAPI async routes for search, transcripts, chunks, vectorstore, chat, agent, speech, evaluations, and analytics.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148840"/>
            <a:ext cx="3154680" cy="20574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2148840"/>
            <a:ext cx="73152" cy="2057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7928" y="23134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34D399"/>
                </a:solidFill>
                <a:latin typeface="Aptos"/>
              </a:rPr>
              <a:t>AI +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624328"/>
            <a:ext cx="28346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LangChain tools and agent, OpenAI models, ChromaDB vector storage, analytics DB, LangSmith tracing, Whisper fallback.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3154680"/>
            <a:ext cx="6400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154680"/>
            <a:ext cx="640080" cy="0"/>
          </a:xfrm>
          <a:prstGeom prst="line">
            <a:avLst/>
          </a:prstGeom>
          <a:ln w="254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5010912"/>
            <a:ext cx="9966960" cy="658368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52144" y="5175504"/>
            <a:ext cx="949147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Docker Compose runs frontend, backend, ChromaDB, and analytics storage together for local development and deployment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04 / INGESTION PIPELINE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41248"/>
            <a:ext cx="74980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6F8FF"/>
                </a:solidFill>
                <a:latin typeface="Aptos"/>
              </a:rPr>
              <a:t>A YouTube video becomes retrieval-ready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YouTube Data API retrieves metadata, thumbnails, duration, and channel information, then applies the selected length filter.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youtube-transcript-api is the primary source for public captions and timestamps.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Whisper is used only as a fallback when captions are unavailable and the deployment can safely fetch audio.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LangChain chunking keeps timestamp metadata attached to every chunk.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OpenAI embeddings are stored in ChromaDB for similarity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148840"/>
            <a:ext cx="3474720" cy="34290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4112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spc="150">
                <a:solidFill>
                  <a:srgbClr val="FBBF24"/>
                </a:solidFill>
                <a:latin typeface="Aptos"/>
              </a:rPr>
              <a:t>STATUS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718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8FF"/>
                </a:solidFill>
                <a:latin typeface="Aptos"/>
              </a:rPr>
              <a:t>metadata
transcript
chunking
embeddings
vector_storage
ready /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0109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The processing screen reflects backend progress, not only decoration.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05 / LANGCHAIN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22960"/>
            <a:ext cx="7452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6F8FF"/>
                </a:solidFill>
                <a:latin typeface="Aptos"/>
              </a:rPr>
              <a:t>The chatbot uses tools, not just a single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04288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AgentService binds StructuredTool objects to the LLM and returns answer, citations, tool steps, and session_id.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35808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45536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search_youtube_videos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59" y="3035808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3145536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extract_transcript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94176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03904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chunk_transcript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59" y="3694176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3803904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store_video_vectors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52544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6227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ingest_video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59" y="4352544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4462272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retrieve_context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10912"/>
            <a:ext cx="2880360" cy="438912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answer_question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035808"/>
            <a:ext cx="3520440" cy="173736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52360" y="3035808"/>
            <a:ext cx="73152" cy="1737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53528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EC4899"/>
                </a:solidFill>
                <a:latin typeface="Aptos"/>
              </a:rPr>
              <a:t>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3511296"/>
            <a:ext cx="320040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The final answer must use answer_question, stay transcript-only, and include timestamp citations. Off-topic questions should be refused.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4956048"/>
            <a:ext cx="3520440" cy="1170432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52360" y="4956048"/>
            <a:ext cx="73152" cy="1170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53528" y="5120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22D3EE"/>
                </a:solidFill>
                <a:latin typeface="Aptos"/>
              </a:rPr>
              <a:t>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8" y="543153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Session-based memory keeps follow-up questions coherent.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06 / RAG ANSWERING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41248"/>
            <a:ext cx="7589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6F8FF"/>
                </a:solidFill>
                <a:latin typeface="Aptos"/>
              </a:rPr>
              <a:t>Answers are grounded in transcript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1832" y="2450592"/>
            <a:ext cx="384048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25328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4688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4436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ChromaDB returns top transcript chunks.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28600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0712" y="2450592"/>
            <a:ext cx="384048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25328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4688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Inject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4436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Prompt receives context, memory, and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228600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79592" y="2450592"/>
            <a:ext cx="384048" cy="38404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0176" y="25328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4688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94436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GPT-4o-mini writes from retrieved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286000"/>
            <a:ext cx="2057400" cy="132588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48471" y="2450592"/>
            <a:ext cx="384048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49055" y="25328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24688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F8FF"/>
                </a:solidFill>
                <a:latin typeface="Aptos"/>
              </a:rPr>
              <a:t>Cite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294436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Timestamp chips point to source moments.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71800" y="2944368"/>
            <a:ext cx="2011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40680" y="2944368"/>
            <a:ext cx="2011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09560" y="2944368"/>
            <a:ext cx="201168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" y="5010912"/>
            <a:ext cx="9966960" cy="658368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6424" y="5175504"/>
            <a:ext cx="949147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Anti-hallucination rule: if the transcript does not contain the answer, AskTube says it cannot answer from the video.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07 / VOICE + CINEMATIC UX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2296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6F8FF"/>
                </a:solidFill>
                <a:latin typeface="Aptos"/>
              </a:rPr>
              <a:t>The interface feels like a learning product, not a backend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337560" cy="18288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73152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49631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22D3EE"/>
                </a:solidFill>
                <a:latin typeface="Aptos"/>
              </a:rPr>
              <a:t>VOICE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07208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Browser Web Speech API captures live dictation with waveform feedback. If it fails, MediaRecorder sends audio to /api/speech/transcribe.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3337560" cy="18288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33172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49631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8B5CF6"/>
                </a:solidFill>
                <a:latin typeface="Aptos"/>
              </a:rPr>
              <a:t>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807208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A floating 3D robot moves through the journey, speaks short guidance, and opens a compact transcript-grounded chat.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331720"/>
            <a:ext cx="3337560" cy="18288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2331720"/>
            <a:ext cx="73152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49631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34D399"/>
                </a:solidFill>
                <a:latin typeface="Aptos"/>
              </a:rPr>
              <a:t>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807208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Semantic labels, visible focus states, reduced-motion handling, screen-reader status messages, and touch-friendly layouts.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074920"/>
            <a:ext cx="9966960" cy="658368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6424" y="5239512"/>
            <a:ext cx="949147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Extra polish: loading skeletons, retry states, TTS answer playback, responsive stacking, and collapsible evidence panels.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08 / ANALYTICS + OBSERVABILITY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41248"/>
            <a:ext cx="7680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6F8FF"/>
                </a:solidFill>
                <a:latin typeface="Aptos"/>
              </a:rPr>
              <a:t>The platform is measurable, not just usable.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76272"/>
            <a:ext cx="9692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AskTube tracks product usage, RAG quality, pipeline performance, UX behaviour, and operational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07792"/>
            <a:ext cx="3246120" cy="1581912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907792"/>
            <a:ext cx="73152" cy="1463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3072384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22D3EE"/>
                </a:solidFill>
                <a:latin typeface="Aptos"/>
              </a:rPr>
              <a:t>PRODUCT +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80"/>
            <a:ext cx="29260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search_submitted, video_selected, voice_search_completed, suggested_prompt_clicked, timestamp_clicked, 3d_chatbot_interacted.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907792"/>
            <a:ext cx="3246120" cy="1581912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907792"/>
            <a:ext cx="73152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3072384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EC4899"/>
                </a:solidFill>
                <a:latin typeface="Aptos"/>
              </a:rPr>
              <a:t>AI /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3383280"/>
            <a:ext cx="29260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retrieval latency, generation latency, chunks retrieved, token estimates, citation coverage, hallucination warnings.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907792"/>
            <a:ext cx="3246120" cy="1545336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2907792"/>
            <a:ext cx="73152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8" y="3072384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60">
                <a:solidFill>
                  <a:srgbClr val="FBBF24"/>
                </a:solidFill>
                <a:latin typeface="Aptos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383280"/>
            <a:ext cx="29260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transcript time, embedding duration, vector insert/query timing, chunk count, processing duration, Whisper fallback usage.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0600"/>
            <a:ext cx="4800600" cy="77724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97433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4D399"/>
                </a:solidFill>
                <a:latin typeface="Aptos"/>
              </a:rPr>
              <a:t>/analytics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91947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6F8FF"/>
                </a:solidFill>
                <a:latin typeface="Aptos"/>
              </a:rPr>
              <a:t>Next.js dashboard with overview, AI, pipeline, UX, business metrics, and recent events.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800600"/>
            <a:ext cx="4800600" cy="77724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97433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ptos"/>
              </a:rPr>
              <a:t>/metrics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1947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6F8FF"/>
                </a:solidFill>
                <a:latin typeface="Aptos"/>
              </a:rPr>
              <a:t>Prometheus metrics for HTTP latency, RAG, embeddings, vector search, processing, and WebSockets.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09 / TESTING +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68680"/>
            <a:ext cx="7772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6F8FF"/>
                </a:solidFill>
                <a:latin typeface="Aptos"/>
              </a:rPr>
              <a:t>The project is testable, explainable, and demo-ready.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D3EE"/>
                </a:solidFill>
                <a:latin typeface="Aptos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98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40">
                <a:solidFill>
                  <a:srgbClr val="94A3B8"/>
                </a:solidFill>
                <a:latin typeface="Aptos"/>
              </a:rPr>
              <a:t>AUTOMATED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31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C4899"/>
                </a:solidFill>
                <a:latin typeface="Aptos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98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40">
                <a:solidFill>
                  <a:srgbClr val="94A3B8"/>
                </a:solidFill>
                <a:latin typeface="Aptos"/>
              </a:rPr>
              <a:t>RAG EVAL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31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4D399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98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40">
                <a:solidFill>
                  <a:srgbClr val="94A3B8"/>
                </a:solidFill>
                <a:latin typeface="Aptos"/>
              </a:rPr>
              <a:t>BEHAVIORAL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331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98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40">
                <a:solidFill>
                  <a:srgbClr val="94A3B8"/>
                </a:solidFill>
                <a:latin typeface="Aptos"/>
              </a:rPr>
              <a:t>DOCKER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424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Coverage includes routes, services, tools, WebSocket ingest, speech transcription, and RAG behavior.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Evaluation cases test answerable questions, refusals, citation accuracy, summaries, memory, and hallucination prevention.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34D399"/>
                </a:solidFill>
                <a:latin typeface="Aptos"/>
              </a:rPr>
              <a:t>- </a:t>
            </a:r>
            <a:r>
              <a:rPr sz="1500">
                <a:solidFill>
                  <a:srgbClr val="F6F8FF"/>
                </a:solidFill>
                <a:latin typeface="Aptos"/>
              </a:rPr>
              <a:t>LangSmith tracing can inspect latency, context, answer quality, and chain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10 / CHALLENGES + SOLUTIONS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6868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6F8FF"/>
                </a:solidFill>
                <a:latin typeface="Aptos"/>
              </a:rPr>
              <a:t>Challenges faced during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The hard parts were not only building the chatbot, but making it reliable on real YouTube data and EC2.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06040"/>
            <a:ext cx="3337560" cy="233172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2825496"/>
            <a:ext cx="411480" cy="4114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91693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81635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F8FF"/>
                </a:solidFill>
                <a:latin typeface="Aptos"/>
              </a:rPr>
              <a:t>YouTube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60">
                <a:solidFill>
                  <a:srgbClr val="22D3EE"/>
                </a:solidFill>
                <a:latin typeface="Aptos"/>
              </a:rP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Cloud IPs can be blocked and some videos have no usable captions.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60">
                <a:solidFill>
                  <a:srgbClr val="22D3EE"/>
                </a:solidFill>
                <a:latin typeface="Aptos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7992"/>
            <a:ext cx="2834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Use transcript API first, add residential proxy support, and keep Whisper only as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606040"/>
            <a:ext cx="3337560" cy="233172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45152" y="2825496"/>
            <a:ext cx="411480" cy="4114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91693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81635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F8FF"/>
                </a:solidFill>
                <a:latin typeface="Aptos"/>
              </a:rPr>
              <a:t>Trustworthy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47472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60">
                <a:solidFill>
                  <a:srgbClr val="EC4899"/>
                </a:solidFill>
                <a:latin typeface="Aptos"/>
              </a:rP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721608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A normal LLM can answer from memory and hallucinate outside the video.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270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60">
                <a:solidFill>
                  <a:srgbClr val="EC4899"/>
                </a:solidFill>
                <a:latin typeface="Aptos"/>
              </a:rP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50799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Use RAG guardrails, transcript-only context, refusal behavior, and timestamp citations.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2606040"/>
            <a:ext cx="3337560" cy="233172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0" y="2825496"/>
            <a:ext cx="41148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22208" y="2916936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70D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281635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F8FF"/>
                </a:solidFill>
                <a:latin typeface="Aptos"/>
              </a:rPr>
              <a:t>Production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347472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60">
                <a:solidFill>
                  <a:srgbClr val="34D399"/>
                </a:solidFill>
                <a:latin typeface="Aptos"/>
              </a:rPr>
              <a:t>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3721608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Processing takes time, voice needs HTTPS, and users need clear feedback.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4270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spc="160">
                <a:solidFill>
                  <a:srgbClr val="34D399"/>
                </a:solidFill>
                <a:latin typeface="Aptos"/>
              </a:rP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507992"/>
            <a:ext cx="2834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Add WebSocket progress, Nginx + HTTPS domain, retry states, analytics, and visible errors.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32120"/>
            <a:ext cx="10149840" cy="594360"/>
          </a:xfrm>
          <a:prstGeom prst="roundRect">
            <a:avLst/>
          </a:prstGeom>
          <a:solidFill>
            <a:srgbClr val="181F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5715000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8FF"/>
                </a:solidFill>
                <a:latin typeface="Aptos"/>
              </a:rPr>
              <a:t>Main lesson: every failure mode became a visible state, fallback, or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80960" y="-640080"/>
            <a:ext cx="4754880" cy="2926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234440" y="5715000"/>
            <a:ext cx="3840480" cy="201168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220">
                <a:solidFill>
                  <a:srgbClr val="94A3B8"/>
                </a:solidFill>
                <a:latin typeface="Aptos"/>
              </a:rPr>
              <a:t>11 / LIVE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749808"/>
            <a:ext cx="10652760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868680"/>
            <a:ext cx="8046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6F8FF"/>
                </a:solidFill>
                <a:latin typeface="Aptos"/>
              </a:rPr>
              <a:t>Demo path: search, prepare, ask, verify.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9" y="2057400"/>
            <a:ext cx="6250577" cy="2006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b="1" dirty="0">
                <a:solidFill>
                  <a:srgbClr val="22D3EE"/>
                </a:solidFill>
                <a:latin typeface="Aptos"/>
              </a:rPr>
              <a:t>- </a:t>
            </a:r>
            <a:r>
              <a:rPr sz="2000" dirty="0">
                <a:solidFill>
                  <a:srgbClr val="F6F8FF"/>
                </a:solidFill>
                <a:latin typeface="Aptos"/>
              </a:rPr>
              <a:t>Open the hosted app: https://asktube-ai.duckdns.org/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b="1" dirty="0">
                <a:solidFill>
                  <a:srgbClr val="22D3EE"/>
                </a:solidFill>
                <a:latin typeface="Aptos"/>
              </a:rPr>
              <a:t>- </a:t>
            </a:r>
            <a:r>
              <a:rPr sz="2000" dirty="0">
                <a:solidFill>
                  <a:srgbClr val="F6F8FF"/>
                </a:solidFill>
                <a:latin typeface="Aptos"/>
              </a:rPr>
              <a:t>Search with text or voice and apply a duration filter.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b="1" dirty="0">
                <a:solidFill>
                  <a:srgbClr val="22D3EE"/>
                </a:solidFill>
                <a:latin typeface="Aptos"/>
              </a:rPr>
              <a:t>- </a:t>
            </a:r>
            <a:r>
              <a:rPr sz="2000" dirty="0">
                <a:solidFill>
                  <a:srgbClr val="F6F8FF"/>
                </a:solidFill>
                <a:latin typeface="Aptos"/>
              </a:rPr>
              <a:t>Prepare one video and show the live ingestion progress.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b="1" dirty="0">
                <a:solidFill>
                  <a:srgbClr val="22D3EE"/>
                </a:solidFill>
                <a:latin typeface="Aptos"/>
              </a:rPr>
              <a:t>- </a:t>
            </a:r>
            <a:r>
              <a:rPr sz="2000" dirty="0">
                <a:solidFill>
                  <a:srgbClr val="F6F8FF"/>
                </a:solidFill>
                <a:latin typeface="Aptos"/>
              </a:rPr>
              <a:t>Ask one question, then verify the timestamp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057400"/>
            <a:ext cx="3566160" cy="34290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2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spc="150">
                <a:solidFill>
                  <a:srgbClr val="EC4899"/>
                </a:solidFill>
                <a:latin typeface="Aptos"/>
              </a:rPr>
              <a:t>WHAT TO EMPHASIZE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92608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6F8FF"/>
                </a:solidFill>
                <a:latin typeface="Aptos"/>
              </a:rPr>
              <a:t>Transcript-grounded workflow with tools, memory, vector search, citations, analytics, and polished 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44348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Keep the demo focused on trust: every answer links back to the video. EC2 proves deployment with HTTPS; proxy support helps with YouTube cloud-IP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1661</Words>
  <Application>Microsoft Office PowerPoint</Application>
  <PresentationFormat>Widescreen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Z</cp:lastModifiedBy>
  <cp:revision>24</cp:revision>
  <cp:lastPrinted>2026-05-29T10:19:30Z</cp:lastPrinted>
  <dcterms:created xsi:type="dcterms:W3CDTF">2013-01-27T09:14:16Z</dcterms:created>
  <dcterms:modified xsi:type="dcterms:W3CDTF">2026-05-29T10:21:06Z</dcterms:modified>
  <cp:category/>
</cp:coreProperties>
</file>