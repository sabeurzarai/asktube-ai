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a:t>
            </a:r>
          </a:p>
          <a:p/>
          <a:p>
            <a:r>
              <a:t>Hi, I'm Sabeur. AskTube AI is an AI platform that lets you chat with any YouTube video using its transcript. It is not a generic chatbot — every answer is grounded in the video, with timestamp citations so you can verify exactly where the information comes from. I also added production-style analytics so the product and RAG pipeline are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YouTube has over 800 million videos. Learning from long videos is frustrating — you scrub back and forth looking for one specific answer.</a:t>
            </a:r>
          </a:p>
          <a:p/>
          <a:p>
            <a:r>
              <a:t>AskTube solves this by turning any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The flow is four steps. Search for a topic by text or voice. Pick a video from a carousel. The app processes the transcript in real time — you see each step happening. Then you chat with the video content and get answers with clickable timestamp citations.</a:t>
            </a:r>
          </a:p>
          <a:p/>
          <a:p>
            <a:r>
              <a:t>The whole journey is guided by a 3D robot companion that moves around the screen and speaks at each stage.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Three layers. Frontend: Next.js 14, TypeScript, TailwindCSS, Framer Motion, and Three.js for the 3D robot. Backend: FastAPI with async routes for search, transcripts, chunking, vector storage, chat, agent, speech, and analytics. AI layer: LangChain tools, OpenAI GPT-4o-mini for chat and text-embedding-3-small for vectors, ChromaDB as the vector store, and Whisper as a fallback for videos without captions.</a:t>
            </a:r>
          </a:p>
          <a:p/>
          <a:p>
            <a:r>
              <a:t>There is also an observability layer: analytics tables, a dashboard, Prometheus metrics, and optional LangSmith tracing.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a:t>
            </a:r>
          </a:p>
          <a:p/>
          <a:p>
            <a:r>
              <a:t>The chat is not just a single prompt — it uses a real tool-calling agent. I built seven LangChain StructuredTools: search YouTube, extract transcript, chunk, store vectors, full ingest, retrieve context, and answer question.</a:t>
            </a:r>
          </a:p>
          <a:p/>
          <a:p>
            <a:r>
              <a:t>The agent decides which tools to call based on the question. For a chat question it calls retrieve_context then answer_question. For a new video request it chains through the full ingestion flow automatically.</a:t>
            </a:r>
          </a:p>
          <a:p/>
          <a:p>
            <a:r>
              <a:t>Two guardrails are enforced: answers must come from the transcript only, and off-topic questions must be refused. ConversationMemoryService keeps session history so follow-up questions stay coherent.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The RAG pipeline is four steps. Retrieve: ChromaDB finds the most relevant transcript chunks by semantic similarity. Inject: the prompt receives those chunks, the conversation memory, and strict grounding rules. Generate: GPT-4o-mini writes an answer using only what is in the context. Cite: the response includes timestamp chips that link to the exact moment in the video.</a:t>
            </a:r>
          </a:p>
          <a:p/>
          <a:p>
            <a:r>
              <a:t>If the answer is not in the transcript, the system says it cannot answer from this video. That refusal is the core anti-hallucination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I added analytics so the app can be observed like a production AI product. The frontend records product and UX events such as searches, selected videos, voice search, prompt clicks, and timestamp clicks. The backend records RAG latency, retrieved chunks, citation coverage, transcript time, embedding time, vector query time, and WebSocket failures.</a:t>
            </a:r>
          </a:p>
          <a:p/>
          <a:p>
            <a:r>
              <a:t>There are two views: the /analytics dashboard for product and AI observability, and /metrics for Prometheus-style operational metrics. LangSmith is still available for deep chain traces.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The project has 98 pytest tests covering routes, services, tools, WebSocket ingest, speech,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a:t>
            </a:r>
          </a:p>
          <a:p/>
          <a:p>
            <a:r>
              <a:t>Let me show you the live app. Open https://asktube-ai.duckdns.org/ — this is running on AWS EC2 behind Nginx with a DuckDNS domain and Let's Encrypt HTTPS, so Chrome can allow microphone access. The backend also supports a Webshare residential proxy to reduce YouTube cloud-IP transcript blocking.</a:t>
            </a:r>
          </a:p>
          <a:p/>
          <a:p>
            <a:r>
              <a:t>[Search] I'll type 'python tutorial for beginners' or use voice search and apply a duration filter. [Results appear] Pick a video and click Prepare. [Watch the progress steps: metadata, transcript, chunking, embeddings, storage.]</a:t>
            </a:r>
          </a:p>
          <a:p/>
          <a:p>
            <a:r>
              <a:t>[Chat] Now I ask: 'What is Python used for?' — [Answer appears with timestamp chips] See the citations — each one links to the exact moment in the video. [Click a timestamp]</a:t>
            </a:r>
          </a:p>
          <a:p/>
          <a:p>
            <a:r>
              <a:t>[Follow-up] Now a follow-up: 'Can you give me an example?' — the memory keeps the context so it understands what I mean.</a:t>
            </a:r>
          </a:p>
          <a:p/>
          <a:p>
            <a:r>
              <a:t>[Refusal] Now I ask something off-topic like 'What is the weather today?' — it refuses. It only answers from the video transcript. That is the trust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a:t>
            </a:r>
          </a:p>
          <a:p/>
          <a:p>
            <a:r>
              <a:t>AskTube AI covers all the mandatory IronHack requirements: LLM chatbot, LangChain tools, conversational memory, ChromaDB vector database, text processing, a polished UI, 98 tests, RAG evaluation, analytics/observability, and Docker deployment on EC2.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502920"/>
          </a:xfrm>
          <a:prstGeom prst="rect">
            <a:avLst/>
          </a:prstGeom>
          <a:noFill/>
        </p:spPr>
        <p:txBody>
          <a:bodyPr wrap="square">
            <a:spAutoFit/>
          </a:bodyPr>
          <a:lstStyle/>
          <a:p>
            <a:pPr algn="l"/>
            <a:r>
              <a:rPr sz="2100" b="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a:solidFill>
                  <a:srgbClr val="22D3EE"/>
                </a:solidFill>
                <a:latin typeface="Aptos"/>
              </a:rPr>
              <a:t>Live demo: https://asktube-ai.duckdns.org/</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457200"/>
          </a:xfrm>
          <a:prstGeom prst="rect">
            <a:avLst/>
          </a:prstGeom>
          <a:noFill/>
        </p:spPr>
        <p:txBody>
          <a:bodyPr wrap="square">
            <a:spAutoFit/>
          </a:bodyPr>
          <a:lstStyle/>
          <a:p>
            <a:pPr algn="l"/>
            <a:r>
              <a:rPr sz="1300" b="0">
                <a:solidFill>
                  <a:srgbClr val="94A3B8"/>
                </a:solidFill>
                <a:latin typeface="Aptos"/>
              </a:rPr>
              <a:t>Netflix-inspired UI + FastAPI + LangChain + ChromaDB + analytics + EC2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051560"/>
            <a:ext cx="7863840" cy="685800"/>
          </a:xfrm>
          <a:prstGeom prst="rect">
            <a:avLst/>
          </a:prstGeom>
          <a:noFill/>
        </p:spPr>
        <p:txBody>
          <a:bodyPr wrap="square">
            <a:spAutoFit/>
          </a:bodyPr>
          <a:lstStyle/>
          <a:p>
            <a:pPr algn="l"/>
            <a:r>
              <a:rPr sz="3400" b="1">
                <a:solidFill>
                  <a:srgbClr val="F6F8FF"/>
                </a:solidFill>
                <a:latin typeface="Aptos"/>
              </a:rPr>
              <a:t>YouTube is huge. Learning from long videos is slow.</a:t>
            </a:r>
          </a:p>
        </p:txBody>
      </p:sp>
      <p:sp>
        <p:nvSpPr>
          <p:cNvPr id="8" name="TextBox 7"/>
          <p:cNvSpPr txBox="1"/>
          <p:nvPr/>
        </p:nvSpPr>
        <p:spPr>
          <a:xfrm>
            <a:off x="621792" y="1828800"/>
            <a:ext cx="7315200" cy="411480"/>
          </a:xfrm>
          <a:prstGeom prst="rect">
            <a:avLst/>
          </a:prstGeom>
          <a:noFill/>
        </p:spPr>
        <p:txBody>
          <a:bodyPr wrap="square">
            <a:spAutoFit/>
          </a:bodyPr>
          <a:lstStyle/>
          <a:p>
            <a:pPr algn="l"/>
            <a:r>
              <a:rPr sz="1800" b="0">
                <a:solidFill>
                  <a:srgbClr val="22D3EE"/>
                </a:solidFill>
                <a:latin typeface="Aptos"/>
              </a:rPr>
              <a:t>AskTube AI turns a video into a searchable, conversational knowledge base.</a:t>
            </a:r>
          </a:p>
        </p:txBody>
      </p:sp>
      <p:sp>
        <p:nvSpPr>
          <p:cNvPr id="9" name="Rounded Rectangle 8"/>
          <p:cNvSpPr/>
          <p:nvPr/>
        </p:nvSpPr>
        <p:spPr>
          <a:xfrm>
            <a:off x="658368" y="2743200"/>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743200"/>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2907792"/>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246120"/>
            <a:ext cx="2926079" cy="1097280"/>
          </a:xfrm>
          <a:prstGeom prst="rect">
            <a:avLst/>
          </a:prstGeom>
          <a:noFill/>
        </p:spPr>
        <p:txBody>
          <a:bodyPr wrap="square">
            <a:spAutoFit/>
          </a:bodyPr>
          <a:lstStyle/>
          <a:p>
            <a:pPr algn="l"/>
            <a:r>
              <a:rPr sz="14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2743200"/>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743200"/>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907792"/>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246120"/>
            <a:ext cx="2926079" cy="1097280"/>
          </a:xfrm>
          <a:prstGeom prst="rect">
            <a:avLst/>
          </a:prstGeom>
          <a:noFill/>
        </p:spPr>
        <p:txBody>
          <a:bodyPr wrap="square">
            <a:spAutoFit/>
          </a:bodyPr>
          <a:lstStyle/>
          <a:p>
            <a:pPr algn="l"/>
            <a:r>
              <a:rPr sz="14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2743200"/>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62672" y="2743200"/>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0" y="2907792"/>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246120"/>
            <a:ext cx="2926079" cy="1097280"/>
          </a:xfrm>
          <a:prstGeom prst="rect">
            <a:avLst/>
          </a:prstGeom>
          <a:noFill/>
        </p:spPr>
        <p:txBody>
          <a:bodyPr wrap="square">
            <a:spAutoFit/>
          </a:bodyPr>
          <a:lstStyle/>
          <a:p>
            <a:pPr algn="l"/>
            <a:r>
              <a:rPr sz="14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14400"/>
            <a:ext cx="5486400" cy="548640"/>
          </a:xfrm>
          <a:prstGeom prst="rect">
            <a:avLst/>
          </a:prstGeom>
          <a:noFill/>
        </p:spPr>
        <p:txBody>
          <a:bodyPr wrap="square">
            <a:spAutoFit/>
          </a:bodyPr>
          <a:lstStyle/>
          <a:p>
            <a:pPr algn="l"/>
            <a:r>
              <a:rPr sz="3400" b="1">
                <a:solidFill>
                  <a:srgbClr val="F6F8FF"/>
                </a:solidFill>
                <a:latin typeface="Aptos"/>
              </a:rPr>
              <a:t>From search to cited answer</a:t>
            </a:r>
          </a:p>
        </p:txBody>
      </p:sp>
      <p:sp>
        <p:nvSpPr>
          <p:cNvPr id="8" name="Rounded Rectangle 7"/>
          <p:cNvSpPr/>
          <p:nvPr/>
        </p:nvSpPr>
        <p:spPr>
          <a:xfrm>
            <a:off x="640080" y="192024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1" y="208483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16712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10312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578608"/>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192024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136392" y="208483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36976" y="216712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10312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578608"/>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192024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68112" y="208483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8696" y="216712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10312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578608"/>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192024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99831" y="208483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415" y="216712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10312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578608"/>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31520" y="4800600"/>
            <a:ext cx="10424160" cy="502920"/>
          </a:xfrm>
          <a:prstGeom prst="rect">
            <a:avLst/>
          </a:prstGeom>
          <a:noFill/>
        </p:spPr>
        <p:txBody>
          <a:bodyPr wrap="square">
            <a:spAutoFit/>
          </a:bodyPr>
          <a:lstStyle/>
          <a:p>
            <a:pPr algn="l"/>
            <a:r>
              <a:rPr sz="1700" b="0">
                <a:solidFill>
                  <a:srgbClr val="94A3B8"/>
                </a:solidFill>
                <a:latin typeface="Aptos"/>
              </a:rPr>
              <a:t>The UI is intentionally cinematic: dark mode, glass surfaces, duration filters, smooth transitions, a 3D assistant, and graceful loading/error states.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6766560" cy="548640"/>
          </a:xfrm>
          <a:prstGeom prst="rect">
            <a:avLst/>
          </a:prstGeom>
          <a:noFill/>
        </p:spPr>
        <p:txBody>
          <a:bodyPr wrap="square">
            <a:spAutoFit/>
          </a:bodyPr>
          <a:lstStyle/>
          <a:p>
            <a:pPr algn="l"/>
            <a:r>
              <a:rPr sz="3400" b="1">
                <a:solidFill>
                  <a:srgbClr val="F6F8FF"/>
                </a:solidFill>
                <a:latin typeface="Aptos"/>
              </a:rPr>
              <a:t>Three layers, one learning loop</a:t>
            </a:r>
          </a:p>
        </p:txBody>
      </p:sp>
      <p:sp>
        <p:nvSpPr>
          <p:cNvPr id="8" name="Rounded Rectangle 7"/>
          <p:cNvSpPr/>
          <p:nvPr/>
        </p:nvSpPr>
        <p:spPr>
          <a:xfrm>
            <a:off x="685800" y="1874519"/>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874519"/>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03911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377439"/>
            <a:ext cx="2834640" cy="1417320"/>
          </a:xfrm>
          <a:prstGeom prst="rect">
            <a:avLst/>
          </a:prstGeom>
          <a:noFill/>
        </p:spPr>
        <p:txBody>
          <a:bodyPr wrap="square">
            <a:spAutoFit/>
          </a:bodyPr>
          <a:lstStyle/>
          <a:p>
            <a:pPr algn="l"/>
            <a:r>
              <a:rPr sz="14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1874519"/>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26280" y="1874519"/>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27448" y="203911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377439"/>
            <a:ext cx="2834640" cy="1417320"/>
          </a:xfrm>
          <a:prstGeom prst="rect">
            <a:avLst/>
          </a:prstGeom>
          <a:noFill/>
        </p:spPr>
        <p:txBody>
          <a:bodyPr wrap="square">
            <a:spAutoFit/>
          </a:bodyPr>
          <a:lstStyle/>
          <a:p>
            <a:pPr algn="l"/>
            <a:r>
              <a:rPr sz="1400" b="0">
                <a:solidFill>
                  <a:srgbClr val="F6F8FF"/>
                </a:solidFill>
                <a:latin typeface="Aptos"/>
              </a:rPr>
              <a:t>FastAPI async routes for search, transcripts, chunks, vectorstore, chat, agent, speech, evaluations, and analytics.</a:t>
            </a:r>
          </a:p>
        </p:txBody>
      </p:sp>
      <p:sp>
        <p:nvSpPr>
          <p:cNvPr id="16" name="Rounded Rectangle 15"/>
          <p:cNvSpPr/>
          <p:nvPr/>
        </p:nvSpPr>
        <p:spPr>
          <a:xfrm>
            <a:off x="8366760" y="1874519"/>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1874519"/>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7928" y="203911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377439"/>
            <a:ext cx="2834640" cy="1417320"/>
          </a:xfrm>
          <a:prstGeom prst="rect">
            <a:avLst/>
          </a:prstGeom>
          <a:noFill/>
        </p:spPr>
        <p:txBody>
          <a:bodyPr wrap="square">
            <a:spAutoFit/>
          </a:bodyPr>
          <a:lstStyle/>
          <a:p>
            <a:pPr algn="l"/>
            <a:r>
              <a:rPr sz="1400" b="0">
                <a:solidFill>
                  <a:srgbClr val="F6F8FF"/>
                </a:solidFill>
                <a:latin typeface="Aptos"/>
              </a:rPr>
              <a:t>LangChain tools and agent, OpenAI models, ChromaDB vector storage, analytics DB, LangSmith tracing, Whisper fallback.</a:t>
            </a:r>
          </a:p>
        </p:txBody>
      </p:sp>
      <p:cxnSp>
        <p:nvCxnSpPr>
          <p:cNvPr id="20" name="Connector 19"/>
          <p:cNvCxnSpPr/>
          <p:nvPr/>
        </p:nvCxnSpPr>
        <p:spPr>
          <a:xfrm>
            <a:off x="3840480" y="288036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288036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4892040"/>
            <a:ext cx="9875520" cy="411480"/>
          </a:xfrm>
          <a:prstGeom prst="rect">
            <a:avLst/>
          </a:prstGeom>
          <a:noFill/>
        </p:spPr>
        <p:txBody>
          <a:bodyPr wrap="square">
            <a:spAutoFit/>
          </a:bodyPr>
          <a:lstStyle/>
          <a:p>
            <a:pPr algn="l"/>
            <a:r>
              <a:rPr sz="1700" b="0">
                <a:solidFill>
                  <a:srgbClr val="94A3B8"/>
                </a:solidFill>
                <a:latin typeface="Aptos"/>
              </a:rPr>
              <a:t>Docker Compose runs frontend, backend, ChromaDB, and analytics storage together for local development and deployment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A YouTube video becomes retrieval-ready text.</a:t>
            </a:r>
          </a:p>
        </p:txBody>
      </p:sp>
      <p:sp>
        <p:nvSpPr>
          <p:cNvPr id="8" name="TextBox 7"/>
          <p:cNvSpPr txBox="1"/>
          <p:nvPr/>
        </p:nvSpPr>
        <p:spPr>
          <a:xfrm>
            <a:off x="777240" y="1828800"/>
            <a:ext cx="6035040" cy="3474720"/>
          </a:xfrm>
          <a:prstGeom prst="rect">
            <a:avLst/>
          </a:prstGeom>
          <a:noFill/>
        </p:spPr>
        <p:txBody>
          <a:bodyPr wrap="square">
            <a:spAutoFit/>
          </a:bodyPr>
          <a:lstStyle/>
          <a:p>
            <a:pPr>
              <a:lnSpc>
                <a:spcPct val="105000"/>
              </a:lnSpc>
              <a:spcAft>
                <a:spcPts val="800"/>
              </a:spcAft>
            </a:pPr>
            <a:r>
              <a:rPr sz="1700" b="1">
                <a:solidFill>
                  <a:srgbClr val="FBBF24"/>
                </a:solidFill>
                <a:latin typeface="Aptos"/>
              </a:rPr>
              <a:t>- </a:t>
            </a:r>
            <a:r>
              <a:rPr sz="17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700" b="1">
                <a:solidFill>
                  <a:srgbClr val="FBBF24"/>
                </a:solidFill>
                <a:latin typeface="Aptos"/>
              </a:rPr>
              <a:t>- </a:t>
            </a:r>
            <a:r>
              <a:rPr sz="1700">
                <a:solidFill>
                  <a:srgbClr val="F6F8FF"/>
                </a:solidFill>
                <a:latin typeface="Aptos"/>
              </a:rPr>
              <a:t>youtube-transcript-api is the primary source for public captions and timestamps.</a:t>
            </a:r>
          </a:p>
          <a:p>
            <a:pPr>
              <a:lnSpc>
                <a:spcPct val="105000"/>
              </a:lnSpc>
              <a:spcAft>
                <a:spcPts val="800"/>
              </a:spcAft>
            </a:pPr>
            <a:r>
              <a:rPr sz="1700" b="1">
                <a:solidFill>
                  <a:srgbClr val="FBBF24"/>
                </a:solidFill>
                <a:latin typeface="Aptos"/>
              </a:rPr>
              <a:t>- </a:t>
            </a:r>
            <a:r>
              <a:rPr sz="1700">
                <a:solidFill>
                  <a:srgbClr val="F6F8FF"/>
                </a:solidFill>
                <a:latin typeface="Aptos"/>
              </a:rPr>
              <a:t>Whisper is used only as a fallback when captions are unavailable and the deployment can safely fetch audio.</a:t>
            </a:r>
          </a:p>
          <a:p>
            <a:pPr>
              <a:lnSpc>
                <a:spcPct val="105000"/>
              </a:lnSpc>
              <a:spcAft>
                <a:spcPts val="800"/>
              </a:spcAft>
            </a:pPr>
            <a:r>
              <a:rPr sz="1700" b="1">
                <a:solidFill>
                  <a:srgbClr val="FBBF24"/>
                </a:solidFill>
                <a:latin typeface="Aptos"/>
              </a:rPr>
              <a:t>- </a:t>
            </a:r>
            <a:r>
              <a:rPr sz="1700">
                <a:solidFill>
                  <a:srgbClr val="F6F8FF"/>
                </a:solidFill>
                <a:latin typeface="Aptos"/>
              </a:rPr>
              <a:t>LangChain chunking keeps timestamp metadata attached to every chunk.</a:t>
            </a:r>
          </a:p>
          <a:p>
            <a:pPr>
              <a:lnSpc>
                <a:spcPct val="105000"/>
              </a:lnSpc>
              <a:spcAft>
                <a:spcPts val="800"/>
              </a:spcAft>
            </a:pPr>
            <a:r>
              <a:rPr sz="1700" b="1">
                <a:solidFill>
                  <a:srgbClr val="FBBF24"/>
                </a:solidFill>
                <a:latin typeface="Aptos"/>
              </a:rPr>
              <a:t>- </a:t>
            </a:r>
            <a:r>
              <a:rPr sz="1700">
                <a:solidFill>
                  <a:srgbClr val="F6F8FF"/>
                </a:solidFill>
                <a:latin typeface="Aptos"/>
              </a:rPr>
              <a:t>OpenAI embeddings are stored in ChromaDB for similarity search.</a:t>
            </a:r>
          </a:p>
        </p:txBody>
      </p:sp>
      <p:sp>
        <p:nvSpPr>
          <p:cNvPr id="9" name="Rounded Rectangle 8"/>
          <p:cNvSpPr/>
          <p:nvPr/>
        </p:nvSpPr>
        <p:spPr>
          <a:xfrm>
            <a:off x="7452360" y="16916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20116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514600"/>
            <a:ext cx="2651760" cy="2011680"/>
          </a:xfrm>
          <a:prstGeom prst="rect">
            <a:avLst/>
          </a:prstGeom>
          <a:noFill/>
        </p:spPr>
        <p:txBody>
          <a:bodyPr wrap="square">
            <a:spAutoFit/>
          </a:bodyPr>
          <a:lstStyle/>
          <a:p>
            <a:pPr algn="l"/>
            <a:r>
              <a:rPr sz="1900" b="0">
                <a:solidFill>
                  <a:srgbClr val="F6F8FF"/>
                </a:solidFill>
                <a:latin typeface="Aptos"/>
              </a:rPr>
              <a:t>metadata
transcript
chunking
embeddings
vector_storage
ready / error</a:t>
            </a:r>
          </a:p>
        </p:txBody>
      </p:sp>
      <p:sp>
        <p:nvSpPr>
          <p:cNvPr id="12" name="TextBox 11"/>
          <p:cNvSpPr txBox="1"/>
          <p:nvPr/>
        </p:nvSpPr>
        <p:spPr>
          <a:xfrm>
            <a:off x="7772400" y="4663440"/>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chatbot uses tools, not just a single prompt.</a:t>
            </a:r>
          </a:p>
        </p:txBody>
      </p:sp>
      <p:sp>
        <p:nvSpPr>
          <p:cNvPr id="8" name="TextBox 7"/>
          <p:cNvSpPr txBox="1"/>
          <p:nvPr/>
        </p:nvSpPr>
        <p:spPr>
          <a:xfrm>
            <a:off x="658368" y="1600200"/>
            <a:ext cx="9875520" cy="329184"/>
          </a:xfrm>
          <a:prstGeom prst="rect">
            <a:avLst/>
          </a:prstGeom>
          <a:noFill/>
        </p:spPr>
        <p:txBody>
          <a:bodyPr wrap="square">
            <a:spAutoFit/>
          </a:bodyPr>
          <a:lstStyle/>
          <a:p>
            <a:pPr algn="l"/>
            <a:r>
              <a:rPr sz="16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2148840"/>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258568"/>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2148840"/>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258568"/>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2807208"/>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916936"/>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2807208"/>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2916936"/>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3465576"/>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575304"/>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3465576"/>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3575304"/>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4123944"/>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233672"/>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2148840"/>
            <a:ext cx="352044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5236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53528" y="2313432"/>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2651760"/>
            <a:ext cx="3200400" cy="1417320"/>
          </a:xfrm>
          <a:prstGeom prst="rect">
            <a:avLst/>
          </a:prstGeom>
          <a:noFill/>
        </p:spPr>
        <p:txBody>
          <a:bodyPr wrap="square">
            <a:spAutoFit/>
          </a:bodyPr>
          <a:lstStyle/>
          <a:p>
            <a:pPr algn="l"/>
            <a:r>
              <a:rPr sz="14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434840"/>
            <a:ext cx="3520440" cy="10515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52360" y="4434840"/>
            <a:ext cx="73152"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53528" y="4599431"/>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4937759"/>
            <a:ext cx="3200400" cy="411479"/>
          </a:xfrm>
          <a:prstGeom prst="rect">
            <a:avLst/>
          </a:prstGeom>
          <a:noFill/>
        </p:spPr>
        <p:txBody>
          <a:bodyPr wrap="square">
            <a:spAutoFit/>
          </a:bodyPr>
          <a:lstStyle/>
          <a:p>
            <a:pPr algn="l"/>
            <a:r>
              <a:rPr sz="1400" b="0">
                <a:solidFill>
                  <a:srgbClr val="F6F8FF"/>
                </a:solidFill>
                <a:latin typeface="Aptos"/>
              </a:rPr>
              <a:t>ConversationMemoryService keeps session-based history so follow-up questions remain coherent.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589520" cy="548640"/>
          </a:xfrm>
          <a:prstGeom prst="rect">
            <a:avLst/>
          </a:prstGeom>
          <a:noFill/>
        </p:spPr>
        <p:txBody>
          <a:bodyPr wrap="square">
            <a:spAutoFit/>
          </a:bodyPr>
          <a:lstStyle/>
          <a:p>
            <a:pPr algn="l"/>
            <a:r>
              <a:rPr sz="3300" b="1">
                <a:solidFill>
                  <a:srgbClr val="F6F8FF"/>
                </a:solidFill>
                <a:latin typeface="Aptos"/>
              </a:rPr>
              <a:t>Answers are grounded in transcript evidence.</a:t>
            </a:r>
          </a:p>
        </p:txBody>
      </p:sp>
      <p:sp>
        <p:nvSpPr>
          <p:cNvPr id="8" name="Rounded Rectangle 7"/>
          <p:cNvSpPr/>
          <p:nvPr/>
        </p:nvSpPr>
        <p:spPr>
          <a:xfrm>
            <a:off x="777240" y="201168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41832" y="217627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25856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19456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67004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01168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10712" y="217627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1296" y="225856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19456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67004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01168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217627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225856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19456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67004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01168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8471" y="217627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9055" y="225856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19456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67004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If the transcript does not contain the answer, the system says it cannot answer from the video. This is the main anti-hallucination behavior.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686800" cy="548640"/>
          </a:xfrm>
          <a:prstGeom prst="rect">
            <a:avLst/>
          </a:prstGeom>
          <a:noFill/>
        </p:spPr>
        <p:txBody>
          <a:bodyPr wrap="square">
            <a:spAutoFit/>
          </a:bodyPr>
          <a:lstStyle/>
          <a:p>
            <a:pPr algn="l"/>
            <a:r>
              <a:rPr sz="3200" b="1">
                <a:solidFill>
                  <a:srgbClr val="F6F8FF"/>
                </a:solidFill>
                <a:latin typeface="Aptos"/>
              </a:rPr>
              <a:t>The interface feels like a learning product, not a backend demo.</a:t>
            </a:r>
          </a:p>
        </p:txBody>
      </p:sp>
      <p:sp>
        <p:nvSpPr>
          <p:cNvPr id="8" name="Rounded Rectangle 7"/>
          <p:cNvSpPr/>
          <p:nvPr/>
        </p:nvSpPr>
        <p:spPr>
          <a:xfrm>
            <a:off x="685800" y="192024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08483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423160"/>
            <a:ext cx="3017520" cy="1188720"/>
          </a:xfrm>
          <a:prstGeom prst="rect">
            <a:avLst/>
          </a:prstGeom>
          <a:noFill/>
        </p:spPr>
        <p:txBody>
          <a:bodyPr wrap="square">
            <a:spAutoFit/>
          </a:bodyPr>
          <a:lstStyle/>
          <a:p>
            <a:pPr algn="l"/>
            <a:r>
              <a:rPr sz="14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192024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192024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7" y="208483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423160"/>
            <a:ext cx="3017520" cy="1188720"/>
          </a:xfrm>
          <a:prstGeom prst="rect">
            <a:avLst/>
          </a:prstGeom>
          <a:noFill/>
        </p:spPr>
        <p:txBody>
          <a:bodyPr wrap="square">
            <a:spAutoFit/>
          </a:bodyPr>
          <a:lstStyle/>
          <a:p>
            <a:pPr algn="l"/>
            <a:r>
              <a:rPr sz="14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192024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92024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5048" y="208483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423160"/>
            <a:ext cx="3017520" cy="1188720"/>
          </a:xfrm>
          <a:prstGeom prst="rect">
            <a:avLst/>
          </a:prstGeom>
          <a:noFill/>
        </p:spPr>
        <p:txBody>
          <a:bodyPr wrap="square">
            <a:spAutoFit/>
          </a:bodyPr>
          <a:lstStyle/>
          <a:p>
            <a:pPr algn="l"/>
            <a:r>
              <a:rPr sz="1400" b="0">
                <a:solidFill>
                  <a:srgbClr val="F6F8FF"/>
                </a:solidFill>
                <a:latin typeface="Aptos"/>
              </a:rPr>
              <a:t>Semantic labels, visible focus states, reduced-motion handling, screen-reader status messages, and touch-friendly layouts.</a:t>
            </a:r>
          </a:p>
        </p:txBody>
      </p:sp>
      <p:sp>
        <p:nvSpPr>
          <p:cNvPr id="20" name="TextBox 19"/>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ANALYTICS + OBSERVABILITY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The platform is measurable, not just usable.</a:t>
            </a:r>
          </a:p>
        </p:txBody>
      </p:sp>
      <p:sp>
        <p:nvSpPr>
          <p:cNvPr id="8" name="TextBox 7"/>
          <p:cNvSpPr txBox="1"/>
          <p:nvPr/>
        </p:nvSpPr>
        <p:spPr>
          <a:xfrm>
            <a:off x="658368" y="1600200"/>
            <a:ext cx="9692640" cy="329184"/>
          </a:xfrm>
          <a:prstGeom prst="rect">
            <a:avLst/>
          </a:prstGeom>
          <a:noFill/>
        </p:spPr>
        <p:txBody>
          <a:bodyPr wrap="square">
            <a:spAutoFit/>
          </a:bodyPr>
          <a:lstStyle/>
          <a:p>
            <a:pPr algn="l"/>
            <a:r>
              <a:rPr sz="1600" b="0">
                <a:solidFill>
                  <a:srgbClr val="94A3B8"/>
                </a:solidFill>
                <a:latin typeface="Aptos"/>
              </a:rPr>
              <a:t>AskTube tracks product usage, RAG quality, pipeline performance, UX behaviour, and operational health.</a:t>
            </a:r>
          </a:p>
        </p:txBody>
      </p:sp>
      <p:sp>
        <p:nvSpPr>
          <p:cNvPr id="9" name="Rounded Rectangle 8"/>
          <p:cNvSpPr/>
          <p:nvPr/>
        </p:nvSpPr>
        <p:spPr>
          <a:xfrm>
            <a:off x="685800" y="2148840"/>
            <a:ext cx="3246120" cy="16916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2148840"/>
            <a:ext cx="73152" cy="16916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313432"/>
            <a:ext cx="2926079" cy="228600"/>
          </a:xfrm>
          <a:prstGeom prst="rect">
            <a:avLst/>
          </a:prstGeom>
          <a:noFill/>
        </p:spPr>
        <p:txBody>
          <a:bodyPr wrap="square">
            <a:spAutoFit/>
          </a:bodyPr>
          <a:lstStyle/>
          <a:p>
            <a:pPr algn="l"/>
            <a:r>
              <a:rPr sz="1100" b="1" spc="160">
                <a:solidFill>
                  <a:srgbClr val="22D3EE"/>
                </a:solidFill>
                <a:latin typeface="Aptos"/>
              </a:rPr>
              <a:t>PRODUCT + UX</a:t>
            </a:r>
          </a:p>
        </p:txBody>
      </p:sp>
      <p:sp>
        <p:nvSpPr>
          <p:cNvPr id="12" name="TextBox 11"/>
          <p:cNvSpPr txBox="1"/>
          <p:nvPr/>
        </p:nvSpPr>
        <p:spPr>
          <a:xfrm>
            <a:off x="886968" y="2651760"/>
            <a:ext cx="2926079" cy="1051560"/>
          </a:xfrm>
          <a:prstGeom prst="rect">
            <a:avLst/>
          </a:prstGeom>
          <a:noFill/>
        </p:spPr>
        <p:txBody>
          <a:bodyPr wrap="square">
            <a:spAutoFit/>
          </a:bodyPr>
          <a:lstStyle/>
          <a:p>
            <a:pPr algn="l"/>
            <a:r>
              <a:rPr sz="1400" b="0">
                <a:solidFill>
                  <a:srgbClr val="F6F8FF"/>
                </a:solidFill>
                <a:latin typeface="Aptos"/>
              </a:rPr>
              <a:t>search_submitted, video_selected, voice_search_completed, suggested_prompt_clicked, timestamp_clicked, 3d_chatbot_interacted.</a:t>
            </a:r>
          </a:p>
        </p:txBody>
      </p:sp>
      <p:sp>
        <p:nvSpPr>
          <p:cNvPr id="13" name="Rounded Rectangle 12"/>
          <p:cNvSpPr/>
          <p:nvPr/>
        </p:nvSpPr>
        <p:spPr>
          <a:xfrm>
            <a:off x="4160520" y="2148840"/>
            <a:ext cx="3246120" cy="16916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148840"/>
            <a:ext cx="73152" cy="16916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313432"/>
            <a:ext cx="2926079" cy="228600"/>
          </a:xfrm>
          <a:prstGeom prst="rect">
            <a:avLst/>
          </a:prstGeom>
          <a:noFill/>
        </p:spPr>
        <p:txBody>
          <a:bodyPr wrap="square">
            <a:spAutoFit/>
          </a:bodyPr>
          <a:lstStyle/>
          <a:p>
            <a:pPr algn="l"/>
            <a:r>
              <a:rPr sz="1100" b="1" spc="160">
                <a:solidFill>
                  <a:srgbClr val="EC4899"/>
                </a:solidFill>
                <a:latin typeface="Aptos"/>
              </a:rPr>
              <a:t>AI / RAG</a:t>
            </a:r>
          </a:p>
        </p:txBody>
      </p:sp>
      <p:sp>
        <p:nvSpPr>
          <p:cNvPr id="16" name="TextBox 15"/>
          <p:cNvSpPr txBox="1"/>
          <p:nvPr/>
        </p:nvSpPr>
        <p:spPr>
          <a:xfrm>
            <a:off x="4361688" y="2651760"/>
            <a:ext cx="2926079" cy="1051560"/>
          </a:xfrm>
          <a:prstGeom prst="rect">
            <a:avLst/>
          </a:prstGeom>
          <a:noFill/>
        </p:spPr>
        <p:txBody>
          <a:bodyPr wrap="square">
            <a:spAutoFit/>
          </a:bodyPr>
          <a:lstStyle/>
          <a:p>
            <a:pPr algn="l"/>
            <a:r>
              <a:rPr sz="1400" b="0">
                <a:solidFill>
                  <a:srgbClr val="F6F8FF"/>
                </a:solidFill>
                <a:latin typeface="Aptos"/>
              </a:rPr>
              <a:t>retrieval latency, generation latency, chunks retrieved, token estimates, citation coverage, hallucination warnings.</a:t>
            </a:r>
          </a:p>
        </p:txBody>
      </p:sp>
      <p:sp>
        <p:nvSpPr>
          <p:cNvPr id="17" name="Rounded Rectangle 16"/>
          <p:cNvSpPr/>
          <p:nvPr/>
        </p:nvSpPr>
        <p:spPr>
          <a:xfrm>
            <a:off x="7635240" y="2148840"/>
            <a:ext cx="3246120" cy="169164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5240" y="2148840"/>
            <a:ext cx="73152" cy="16916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36408" y="2313432"/>
            <a:ext cx="2926079" cy="228600"/>
          </a:xfrm>
          <a:prstGeom prst="rect">
            <a:avLst/>
          </a:prstGeom>
          <a:noFill/>
        </p:spPr>
        <p:txBody>
          <a:bodyPr wrap="square">
            <a:spAutoFit/>
          </a:bodyPr>
          <a:lstStyle/>
          <a:p>
            <a:pPr algn="l"/>
            <a:r>
              <a:rPr sz="1100" b="1" spc="160">
                <a:solidFill>
                  <a:srgbClr val="FBBF24"/>
                </a:solidFill>
                <a:latin typeface="Aptos"/>
              </a:rPr>
              <a:t>PIPELINE</a:t>
            </a:r>
          </a:p>
        </p:txBody>
      </p:sp>
      <p:sp>
        <p:nvSpPr>
          <p:cNvPr id="20" name="TextBox 19"/>
          <p:cNvSpPr txBox="1"/>
          <p:nvPr/>
        </p:nvSpPr>
        <p:spPr>
          <a:xfrm>
            <a:off x="7836408" y="2651760"/>
            <a:ext cx="2926079" cy="1051560"/>
          </a:xfrm>
          <a:prstGeom prst="rect">
            <a:avLst/>
          </a:prstGeom>
          <a:noFill/>
        </p:spPr>
        <p:txBody>
          <a:bodyPr wrap="square">
            <a:spAutoFit/>
          </a:bodyPr>
          <a:lstStyle/>
          <a:p>
            <a:pPr algn="l"/>
            <a:r>
              <a:rPr sz="1400" b="0">
                <a:solidFill>
                  <a:srgbClr val="F6F8FF"/>
                </a:solidFill>
                <a:latin typeface="Aptos"/>
              </a:rPr>
              <a:t>transcript time, embedding duration, vector insert/query timing, chunk count, processing duration, Whisper fallback usage.</a:t>
            </a:r>
          </a:p>
        </p:txBody>
      </p:sp>
      <p:sp>
        <p:nvSpPr>
          <p:cNvPr id="21" name="Rounded Rectangle 20"/>
          <p:cNvSpPr/>
          <p:nvPr/>
        </p:nvSpPr>
        <p:spPr>
          <a:xfrm>
            <a:off x="777240" y="4434840"/>
            <a:ext cx="4800600" cy="7772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608576"/>
            <a:ext cx="1600200" cy="256032"/>
          </a:xfrm>
          <a:prstGeom prst="rect">
            <a:avLst/>
          </a:prstGeom>
          <a:noFill/>
        </p:spPr>
        <p:txBody>
          <a:bodyPr wrap="square">
            <a:spAutoFit/>
          </a:bodyPr>
          <a:lstStyle/>
          <a:p>
            <a:pPr algn="l"/>
            <a:r>
              <a:rPr sz="1900" b="1">
                <a:solidFill>
                  <a:srgbClr val="34D399"/>
                </a:solidFill>
                <a:latin typeface="Aptos"/>
              </a:rPr>
              <a:t>/analytics</a:t>
            </a:r>
          </a:p>
        </p:txBody>
      </p:sp>
      <p:sp>
        <p:nvSpPr>
          <p:cNvPr id="23" name="TextBox 22"/>
          <p:cNvSpPr txBox="1"/>
          <p:nvPr/>
        </p:nvSpPr>
        <p:spPr>
          <a:xfrm>
            <a:off x="2651760" y="4617720"/>
            <a:ext cx="2743200" cy="256032"/>
          </a:xfrm>
          <a:prstGeom prst="rect">
            <a:avLst/>
          </a:prstGeom>
          <a:noFill/>
        </p:spPr>
        <p:txBody>
          <a:bodyPr wrap="square">
            <a:spAutoFit/>
          </a:bodyPr>
          <a:lstStyle/>
          <a:p>
            <a:pPr algn="l"/>
            <a:r>
              <a:rPr sz="1200" b="0">
                <a:solidFill>
                  <a:srgbClr val="F6F8FF"/>
                </a:solidFill>
                <a:latin typeface="Aptos"/>
              </a:rPr>
              <a:t>Next.js dashboard with overview, AI, pipeline, UX, business metrics, and recent events.</a:t>
            </a:r>
          </a:p>
        </p:txBody>
      </p:sp>
      <p:sp>
        <p:nvSpPr>
          <p:cNvPr id="24" name="Rounded Rectangle 23"/>
          <p:cNvSpPr/>
          <p:nvPr/>
        </p:nvSpPr>
        <p:spPr>
          <a:xfrm>
            <a:off x="5989320" y="4434840"/>
            <a:ext cx="4800600" cy="7772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4608576"/>
            <a:ext cx="1600200" cy="256032"/>
          </a:xfrm>
          <a:prstGeom prst="rect">
            <a:avLst/>
          </a:prstGeom>
          <a:noFill/>
        </p:spPr>
        <p:txBody>
          <a:bodyPr wrap="square">
            <a:spAutoFit/>
          </a:bodyPr>
          <a:lstStyle/>
          <a:p>
            <a:pPr algn="l"/>
            <a:r>
              <a:rPr sz="1900" b="1">
                <a:solidFill>
                  <a:srgbClr val="22D3EE"/>
                </a:solidFill>
                <a:latin typeface="Aptos"/>
              </a:rPr>
              <a:t>/metrics</a:t>
            </a:r>
          </a:p>
        </p:txBody>
      </p:sp>
      <p:sp>
        <p:nvSpPr>
          <p:cNvPr id="26" name="TextBox 25"/>
          <p:cNvSpPr txBox="1"/>
          <p:nvPr/>
        </p:nvSpPr>
        <p:spPr>
          <a:xfrm>
            <a:off x="7863840" y="4617720"/>
            <a:ext cx="2743200" cy="256032"/>
          </a:xfrm>
          <a:prstGeom prst="rect">
            <a:avLst/>
          </a:prstGeom>
          <a:noFill/>
        </p:spPr>
        <p:txBody>
          <a:bodyPr wrap="square">
            <a:spAutoFit/>
          </a:bodyPr>
          <a:lstStyle/>
          <a:p>
            <a:pPr algn="l"/>
            <a:r>
              <a:rPr sz="1200" b="0">
                <a:solidFill>
                  <a:srgbClr val="F6F8FF"/>
                </a:solidFill>
                <a:latin typeface="Aptos"/>
              </a:rPr>
              <a:t>Prometheus metrics for HTTP latency, RAG, embeddings, vector search, processing, and WebSockets.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project is testable, explainable, and demo-ready.</a:t>
            </a:r>
          </a:p>
        </p:txBody>
      </p:sp>
      <p:sp>
        <p:nvSpPr>
          <p:cNvPr id="8" name="TextBox 7"/>
          <p:cNvSpPr txBox="1"/>
          <p:nvPr/>
        </p:nvSpPr>
        <p:spPr>
          <a:xfrm>
            <a:off x="822960" y="1965960"/>
            <a:ext cx="1828800" cy="594360"/>
          </a:xfrm>
          <a:prstGeom prst="rect">
            <a:avLst/>
          </a:prstGeom>
          <a:noFill/>
        </p:spPr>
        <p:txBody>
          <a:bodyPr wrap="square">
            <a:spAutoFit/>
          </a:bodyPr>
          <a:lstStyle/>
          <a:p>
            <a:pPr algn="l"/>
            <a:r>
              <a:rPr sz="3600" b="1">
                <a:solidFill>
                  <a:srgbClr val="22D3EE"/>
                </a:solidFill>
                <a:latin typeface="Aptos"/>
              </a:rPr>
              <a:t>98</a:t>
            </a:r>
          </a:p>
        </p:txBody>
      </p:sp>
      <p:sp>
        <p:nvSpPr>
          <p:cNvPr id="9" name="TextBox 8"/>
          <p:cNvSpPr txBox="1"/>
          <p:nvPr/>
        </p:nvSpPr>
        <p:spPr>
          <a:xfrm>
            <a:off x="822960" y="2532888"/>
            <a:ext cx="1828800" cy="320040"/>
          </a:xfrm>
          <a:prstGeom prst="rect">
            <a:avLst/>
          </a:prstGeom>
          <a:noFill/>
        </p:spPr>
        <p:txBody>
          <a:bodyPr wrap="square">
            <a:spAutoFit/>
          </a:bodyPr>
          <a:lstStyle/>
          <a:p>
            <a:pPr algn="l"/>
            <a:r>
              <a:rPr sz="1100" b="1" spc="140">
                <a:solidFill>
                  <a:srgbClr val="94A3B8"/>
                </a:solidFill>
                <a:latin typeface="Aptos"/>
              </a:rPr>
              <a:t>PYTEST TESTS</a:t>
            </a:r>
          </a:p>
        </p:txBody>
      </p:sp>
      <p:sp>
        <p:nvSpPr>
          <p:cNvPr id="10" name="TextBox 9"/>
          <p:cNvSpPr txBox="1"/>
          <p:nvPr/>
        </p:nvSpPr>
        <p:spPr>
          <a:xfrm>
            <a:off x="3063240" y="196596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53288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196596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53288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196596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53288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379476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10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Demo path: search, prepare, ask, verify.</a:t>
            </a:r>
          </a:p>
        </p:txBody>
      </p:sp>
      <p:sp>
        <p:nvSpPr>
          <p:cNvPr id="8" name="TextBox 7"/>
          <p:cNvSpPr txBox="1"/>
          <p:nvPr/>
        </p:nvSpPr>
        <p:spPr>
          <a:xfrm>
            <a:off x="868680" y="1828800"/>
            <a:ext cx="5577840" cy="3931920"/>
          </a:xfrm>
          <a:prstGeom prst="rect">
            <a:avLst/>
          </a:prstGeom>
          <a:noFill/>
        </p:spPr>
        <p:txBody>
          <a:bodyPr wrap="square">
            <a:spAutoFit/>
          </a:bodyPr>
          <a:lstStyle/>
          <a:p>
            <a:pPr>
              <a:lnSpc>
                <a:spcPct val="105000"/>
              </a:lnSpc>
              <a:spcAft>
                <a:spcPts val="800"/>
              </a:spcAft>
            </a:pPr>
            <a:r>
              <a:rPr sz="1700" b="1">
                <a:solidFill>
                  <a:srgbClr val="22D3EE"/>
                </a:solidFill>
                <a:latin typeface="Aptos"/>
              </a:rPr>
              <a:t>- </a:t>
            </a:r>
            <a:r>
              <a:rPr sz="1700">
                <a:solidFill>
                  <a:srgbClr val="F6F8FF"/>
                </a:solidFill>
                <a:latin typeface="Aptos"/>
              </a:rPr>
              <a:t>Live app: https://asktube-ai.duckdns.org/ (EC2 + Nginx + HTTPS + Webshare proxy)</a:t>
            </a:r>
          </a:p>
          <a:p>
            <a:pPr>
              <a:lnSpc>
                <a:spcPct val="105000"/>
              </a:lnSpc>
              <a:spcAft>
                <a:spcPts val="800"/>
              </a:spcAft>
            </a:pPr>
            <a:r>
              <a:rPr sz="1700" b="1">
                <a:solidFill>
                  <a:srgbClr val="22D3EE"/>
                </a:solidFill>
                <a:latin typeface="Aptos"/>
              </a:rPr>
              <a:t>- </a:t>
            </a:r>
            <a:r>
              <a:rPr sz="1700">
                <a:solidFill>
                  <a:srgbClr val="F6F8FF"/>
                </a:solidFill>
                <a:latin typeface="Aptos"/>
              </a:rPr>
              <a:t>Search with a duration filter, for example: python tutorial for beginners under 10 minutes.</a:t>
            </a:r>
          </a:p>
          <a:p>
            <a:pPr>
              <a:lnSpc>
                <a:spcPct val="105000"/>
              </a:lnSpc>
              <a:spcAft>
                <a:spcPts val="800"/>
              </a:spcAft>
            </a:pPr>
            <a:r>
              <a:rPr sz="1700" b="1">
                <a:solidFill>
                  <a:srgbClr val="22D3EE"/>
                </a:solidFill>
                <a:latin typeface="Aptos"/>
              </a:rPr>
              <a:t>- </a:t>
            </a:r>
            <a:r>
              <a:rPr sz="1700">
                <a:solidFill>
                  <a:srgbClr val="F6F8FF"/>
                </a:solidFill>
                <a:latin typeface="Aptos"/>
              </a:rPr>
              <a:t>Pick a video and click Prepare to show real ingestion progress.</a:t>
            </a:r>
          </a:p>
          <a:p>
            <a:pPr>
              <a:lnSpc>
                <a:spcPct val="105000"/>
              </a:lnSpc>
              <a:spcAft>
                <a:spcPts val="800"/>
              </a:spcAft>
            </a:pPr>
            <a:r>
              <a:rPr sz="1700" b="1">
                <a:solidFill>
                  <a:srgbClr val="22D3EE"/>
                </a:solidFill>
                <a:latin typeface="Aptos"/>
              </a:rPr>
              <a:t>- </a:t>
            </a:r>
            <a:r>
              <a:rPr sz="1700">
                <a:solidFill>
                  <a:srgbClr val="F6F8FF"/>
                </a:solidFill>
                <a:latin typeface="Aptos"/>
              </a:rPr>
              <a:t>Ask: What is Python used for?</a:t>
            </a:r>
          </a:p>
          <a:p>
            <a:pPr>
              <a:lnSpc>
                <a:spcPct val="105000"/>
              </a:lnSpc>
              <a:spcAft>
                <a:spcPts val="800"/>
              </a:spcAft>
            </a:pPr>
            <a:r>
              <a:rPr sz="1700" b="1">
                <a:solidFill>
                  <a:srgbClr val="22D3EE"/>
                </a:solidFill>
                <a:latin typeface="Aptos"/>
              </a:rPr>
              <a:t>- </a:t>
            </a:r>
            <a:r>
              <a:rPr sz="1700">
                <a:solidFill>
                  <a:srgbClr val="F6F8FF"/>
                </a:solidFill>
                <a:latin typeface="Aptos"/>
              </a:rPr>
              <a:t>Show timestamp citations and the tool breadcrumb.</a:t>
            </a:r>
          </a:p>
          <a:p>
            <a:pPr>
              <a:lnSpc>
                <a:spcPct val="105000"/>
              </a:lnSpc>
              <a:spcAft>
                <a:spcPts val="800"/>
              </a:spcAft>
            </a:pPr>
            <a:r>
              <a:rPr sz="1700" b="1">
                <a:solidFill>
                  <a:srgbClr val="22D3EE"/>
                </a:solidFill>
                <a:latin typeface="Aptos"/>
              </a:rPr>
              <a:t>- </a:t>
            </a:r>
            <a:r>
              <a:rPr sz="1700">
                <a:solidFill>
                  <a:srgbClr val="F6F8FF"/>
                </a:solidFill>
                <a:latin typeface="Aptos"/>
              </a:rPr>
              <a:t>Ask a follow-up to demonstrate memory.</a:t>
            </a:r>
          </a:p>
          <a:p>
            <a:pPr>
              <a:lnSpc>
                <a:spcPct val="105000"/>
              </a:lnSpc>
              <a:spcAft>
                <a:spcPts val="800"/>
              </a:spcAft>
            </a:pPr>
            <a:r>
              <a:rPr sz="1700" b="1">
                <a:solidFill>
                  <a:srgbClr val="22D3EE"/>
                </a:solidFill>
                <a:latin typeface="Aptos"/>
              </a:rPr>
              <a:t>- </a:t>
            </a:r>
            <a:r>
              <a:rPr sz="1700">
                <a:solidFill>
                  <a:srgbClr val="F6F8FF"/>
                </a:solidFill>
                <a:latin typeface="Aptos"/>
              </a:rPr>
              <a:t>Ask an unrelated question to show refusal behavior.</a:t>
            </a:r>
          </a:p>
          <a:p>
            <a:pPr>
              <a:lnSpc>
                <a:spcPct val="105000"/>
              </a:lnSpc>
              <a:spcAft>
                <a:spcPts val="800"/>
              </a:spcAft>
            </a:pPr>
            <a:r>
              <a:rPr sz="1700" b="1">
                <a:solidFill>
                  <a:srgbClr val="22D3EE"/>
                </a:solidFill>
                <a:latin typeface="Aptos"/>
              </a:rPr>
              <a:t>- </a:t>
            </a:r>
            <a:r>
              <a:rPr sz="1700">
                <a:solidFill>
                  <a:srgbClr val="F6F8FF"/>
                </a:solidFill>
                <a:latin typeface="Aptos"/>
              </a:rPr>
              <a:t>Use mic input and Read aloud if time allows.</a:t>
            </a:r>
          </a:p>
          <a:p>
            <a:pPr>
              <a:lnSpc>
                <a:spcPct val="105000"/>
              </a:lnSpc>
              <a:spcAft>
                <a:spcPts val="800"/>
              </a:spcAft>
            </a:pPr>
            <a:r>
              <a:rPr sz="1700" b="1">
                <a:solidFill>
                  <a:srgbClr val="22D3EE"/>
                </a:solidFill>
                <a:latin typeface="Aptos"/>
              </a:rPr>
              <a:t>- </a:t>
            </a:r>
            <a:r>
              <a:rPr sz="1700">
                <a:solidFill>
                  <a:srgbClr val="F6F8FF"/>
                </a:solidFill>
                <a:latin typeface="Aptos"/>
              </a:rPr>
              <a:t>Show /analytics and /metrics if time allows.</a:t>
            </a:r>
          </a:p>
          <a:p>
            <a:pPr>
              <a:lnSpc>
                <a:spcPct val="105000"/>
              </a:lnSpc>
              <a:spcAft>
                <a:spcPts val="800"/>
              </a:spcAft>
            </a:pPr>
            <a:r>
              <a:rPr sz="1700" b="1">
                <a:solidFill>
                  <a:srgbClr val="22D3EE"/>
                </a:solidFill>
                <a:latin typeface="Aptos"/>
              </a:rPr>
              <a:t>- </a:t>
            </a:r>
            <a:r>
              <a:rPr sz="1700">
                <a:solidFill>
                  <a:srgbClr val="F6F8FF"/>
                </a:solidFill>
                <a:latin typeface="Aptos"/>
              </a:rPr>
              <a:t>Show EC2 health endpoint and explain the YouTube cloud-IP transcript limitation.</a:t>
            </a:r>
          </a:p>
          <a:p>
            <a:pPr>
              <a:lnSpc>
                <a:spcPct val="105000"/>
              </a:lnSpc>
              <a:spcAft>
                <a:spcPts val="800"/>
              </a:spcAft>
            </a:pPr>
            <a:r>
              <a:rPr sz="1700" b="1">
                <a:solidFill>
                  <a:srgbClr val="22D3EE"/>
                </a:solidFill>
                <a:latin typeface="Aptos"/>
              </a:rPr>
              <a:t>- Demo video: https://youtu.be/hSB3AvbUahY</a:t>
            </a:r>
          </a:p>
        </p:txBody>
      </p:sp>
      <p:sp>
        <p:nvSpPr>
          <p:cNvPr id="9" name="Rounded Rectangle 8"/>
          <p:cNvSpPr/>
          <p:nvPr/>
        </p:nvSpPr>
        <p:spPr>
          <a:xfrm>
            <a:off x="7360920" y="1874519"/>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2672" y="217627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743200"/>
            <a:ext cx="2834640" cy="1325880"/>
          </a:xfrm>
          <a:prstGeom prst="rect">
            <a:avLst/>
          </a:prstGeom>
          <a:noFill/>
        </p:spPr>
        <p:txBody>
          <a:bodyPr wrap="square">
            <a:spAutoFit/>
          </a:bodyPr>
          <a:lstStyle/>
          <a:p>
            <a:pPr algn="l"/>
            <a:r>
              <a:rPr sz="1800" b="0">
                <a:solidFill>
                  <a:srgbClr val="F6F8FF"/>
                </a:solidFill>
                <a:latin typeface="Aptos"/>
              </a:rPr>
              <a:t>This is not a generic chatbot. It is a transcript-grounded learning workflow with tools, memory, vector search, citations, analytics, and a polished UI.</a:t>
            </a:r>
          </a:p>
        </p:txBody>
      </p:sp>
      <p:sp>
        <p:nvSpPr>
          <p:cNvPr id="12" name="TextBox 11"/>
          <p:cNvSpPr txBox="1"/>
          <p:nvPr/>
        </p:nvSpPr>
        <p:spPr>
          <a:xfrm>
            <a:off x="7662672" y="425196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local run proves full transcript access when YouTube blocks cloud 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0"/>
            <a:ext cx="9875520" cy="114300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423160"/>
            <a:ext cx="8869680" cy="457200"/>
          </a:xfrm>
          <a:prstGeom prst="rect">
            <a:avLst/>
          </a:prstGeom>
          <a:noFill/>
        </p:spPr>
        <p:txBody>
          <a:bodyPr wrap="square">
            <a:spAutoFit/>
          </a:bodyPr>
          <a:lstStyle/>
          <a:p>
            <a:pPr algn="l"/>
            <a:r>
              <a:rPr sz="2100" b="0">
                <a:solidFill>
                  <a:srgbClr val="22D3EE"/>
                </a:solidFill>
                <a:latin typeface="Aptos"/>
              </a:rPr>
              <a:t>Search videos. Build transcript knowledge. Ask questions. Verify with timestamps.</a:t>
            </a:r>
          </a:p>
        </p:txBody>
      </p:sp>
      <p:sp>
        <p:nvSpPr>
          <p:cNvPr id="7" name="Rounded Rectangle 6"/>
          <p:cNvSpPr/>
          <p:nvPr/>
        </p:nvSpPr>
        <p:spPr>
          <a:xfrm>
            <a:off x="777240" y="3749039"/>
            <a:ext cx="3474720" cy="12344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3749039"/>
            <a:ext cx="73152" cy="1234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13631"/>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51959"/>
            <a:ext cx="3154679" cy="594360"/>
          </a:xfrm>
          <a:prstGeom prst="rect">
            <a:avLst/>
          </a:prstGeom>
          <a:noFill/>
        </p:spPr>
        <p:txBody>
          <a:bodyPr wrap="square">
            <a:spAutoFit/>
          </a:bodyPr>
          <a:lstStyle/>
          <a:p>
            <a:pPr algn="l"/>
            <a:r>
              <a:rPr sz="14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49039"/>
            <a:ext cx="3474720" cy="12344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3749039"/>
            <a:ext cx="73152" cy="12344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3913631"/>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51959"/>
            <a:ext cx="3154679" cy="594360"/>
          </a:xfrm>
          <a:prstGeom prst="rect">
            <a:avLst/>
          </a:prstGeom>
          <a:noFill/>
        </p:spPr>
        <p:txBody>
          <a:bodyPr wrap="square">
            <a:spAutoFit/>
          </a:bodyPr>
          <a:lstStyle/>
          <a:p>
            <a:pPr algn="l"/>
            <a:r>
              <a:rPr sz="1400" b="0">
                <a:solidFill>
                  <a:srgbClr val="F6F8FF"/>
                </a:solidFill>
                <a:latin typeface="Aptos"/>
              </a:rPr>
              <a:t>Voice input, Whisper fallback, WebSocket streaming, TTS, 3D assistant, analytics, and LangSmith tracing are included.</a:t>
            </a:r>
          </a:p>
        </p:txBody>
      </p:sp>
      <p:sp>
        <p:nvSpPr>
          <p:cNvPr id="15" name="Rounded Rectangle 14"/>
          <p:cNvSpPr/>
          <p:nvPr/>
        </p:nvSpPr>
        <p:spPr>
          <a:xfrm>
            <a:off x="8275320" y="3749039"/>
            <a:ext cx="3108960" cy="12344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20" y="3749039"/>
            <a:ext cx="73152" cy="12344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3913631"/>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51959"/>
            <a:ext cx="2788920" cy="594360"/>
          </a:xfrm>
          <a:prstGeom prst="rect">
            <a:avLst/>
          </a:prstGeom>
          <a:noFill/>
        </p:spPr>
        <p:txBody>
          <a:bodyPr wrap="square">
            <a:spAutoFit/>
          </a:bodyPr>
          <a:lstStyle/>
          <a:p>
            <a:pPr algn="l"/>
            <a:r>
              <a:rPr sz="1400" b="0">
                <a:solidFill>
                  <a:srgbClr val="F6F8FF"/>
                </a:solidFill>
                <a:latin typeface="Aptos"/>
              </a:rPr>
              <a:t>Persistent user accounts, multi-video comparison, paid custom domain, and a stronger production transcript proxy.</a:t>
            </a:r>
          </a:p>
        </p:txBody>
      </p:sp>
      <p:sp>
        <p:nvSpPr>
          <p:cNvPr id="19" name="TextBox 18"/>
          <p:cNvSpPr txBox="1"/>
          <p:nvPr/>
        </p:nvSpPr>
        <p:spPr>
          <a:xfrm>
            <a:off x="777240" y="6144768"/>
            <a:ext cx="2743200" cy="274320"/>
          </a:xfrm>
          <a:prstGeom prst="rect">
            <a:avLst/>
          </a:prstGeom>
          <a:noFill/>
        </p:spPr>
        <p:txBody>
          <a:bodyPr wrap="square">
            <a:spAutoFit/>
          </a:bodyPr>
          <a:lstStyle/>
          <a:p>
            <a:pPr algn="l"/>
            <a:r>
              <a:rPr sz="1400" b="1">
                <a:solidFill>
                  <a:srgbClr val="94A3B8"/>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