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>
                <a:solidFill>
                  <a:srgbClr val="F6F8FF"/>
                </a:solidFill>
                <a:latin typeface="Aptos"/>
              </a:rPr>
              <a:t>AskTube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7132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22D3EE"/>
                </a:solidFill>
                <a:latin typeface="Aptos"/>
              </a:rPr>
              <a:t>Chat with YouTube videos through transcript-grounded 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989320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4A3B8"/>
                </a:solidFill>
                <a:latin typeface="Aptos"/>
              </a:rPr>
              <a:t>Final Project | Sabeur Zarai | IronHack | Docker + EC2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ptos"/>
              </a:rPr>
              <a:t>Live demo: http://18.157.233.122:3001/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914400"/>
            <a:ext cx="4023360" cy="438912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12984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spc="250">
                <a:solidFill>
                  <a:srgbClr val="22D3EE"/>
                </a:solidFill>
                <a:latin typeface="Aptos"/>
              </a:rPr>
              <a:t>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197510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spc="250">
                <a:solidFill>
                  <a:srgbClr val="EC4899"/>
                </a:solidFill>
                <a:latin typeface="Aptos"/>
              </a:rPr>
              <a:t>TRANSCRIPT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26517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spc="250">
                <a:solidFill>
                  <a:srgbClr val="F6F8FF"/>
                </a:solidFill>
                <a:latin typeface="Aptos"/>
              </a:rPr>
              <a:t>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4015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spc="250">
                <a:solidFill>
                  <a:srgbClr val="34D399"/>
                </a:solidFill>
                <a:latin typeface="Aptos"/>
              </a:rPr>
              <a:t>CITATIONS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35240" y="4069080"/>
            <a:ext cx="3154680" cy="0"/>
          </a:xfrm>
          <a:prstGeom prst="line">
            <a:avLst/>
          </a:prstGeom>
          <a:ln w="2540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35240" y="4315968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ptos"/>
              </a:rPr>
              <a:t>Netflix-inspired UI + FastAPI + LangChain + ChromaDB + EC2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01 / PRODUCT IDEA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051560"/>
            <a:ext cx="7863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6F8FF"/>
                </a:solidFill>
                <a:latin typeface="Aptos"/>
              </a:rPr>
              <a:t>YouTube is huge. Learning from long videos is slow.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8288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D3EE"/>
                </a:solidFill>
                <a:latin typeface="Aptos"/>
              </a:rPr>
              <a:t>AskTube AI turns a video into a searchable, conversational knowledge base.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743200"/>
            <a:ext cx="3246120" cy="17373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2743200"/>
            <a:ext cx="73152" cy="1737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907792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USER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24612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Search a topic, choose a video, let the app process the transcript, then ask questions with source timestamps.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743200"/>
            <a:ext cx="3246120" cy="17373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2743200"/>
            <a:ext cx="73152" cy="17373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2907792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TRUST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324612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The assistant answers from transcript evidence only. If the transcript cannot answer, it refuses instead of inventing.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62672" y="2743200"/>
            <a:ext cx="3246120" cy="17373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62672" y="2743200"/>
            <a:ext cx="73152" cy="1737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2907792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WHY IT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24612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Learners can skip guessing where information lives and jump straight to the exact moment in the video.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02 / USER JOURNEY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9144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6F8FF"/>
                </a:solidFill>
                <a:latin typeface="Aptos"/>
              </a:rPr>
              <a:t>From search to cited answer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1" y="2084832"/>
            <a:ext cx="384048" cy="384048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16712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210312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57860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Text or voice search through YouTube Data API.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192024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36392" y="2084832"/>
            <a:ext cx="384048" cy="384048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36976" y="216712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210312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Choose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257860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Netflix-style carousel with selected video state.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192024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68112" y="2084832"/>
            <a:ext cx="384048" cy="38404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8696" y="216712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210312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Process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257860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Transcript, chunks, embeddings, vector storage.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35240" y="192024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99831" y="2084832"/>
            <a:ext cx="384048" cy="38404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0415" y="216712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10312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19" y="257860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RAG answer with citations and memory.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724912" y="2578608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56632" y="2578608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388352" y="2578608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1520" y="48006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94A3B8"/>
                </a:solidFill>
                <a:latin typeface="Aptos"/>
              </a:rPr>
              <a:t>The UI is intentionally cinematic: dark mode, glass surfaces, duration filters, smooth transitions, a 3D assistant, and graceful loading/error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03 / ARCHITECTURE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6F8FF"/>
                </a:solidFill>
                <a:latin typeface="Aptos"/>
              </a:rPr>
              <a:t>Three layers, one learning loop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315468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73152" cy="2057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0391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377439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Next.js 14, TypeScript, TailwindCSS, shadcn/ui, Framer Motion, Embla, Three.js, React Three Fiber.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1874519"/>
            <a:ext cx="315468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80" y="1874519"/>
            <a:ext cx="73152" cy="2057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20391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BACKEND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377439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FastAPI async routes for search, transcripts, chunks, vectorstore, chat, agent, speech, and evaluations.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874519"/>
            <a:ext cx="315468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66760" y="1874519"/>
            <a:ext cx="73152" cy="2057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67928" y="20391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AI +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67928" y="2377439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LangChain tools and agent, OpenAI models, ChromaDB vector storage, LangSmith tracing, Whisper fallback.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840480" y="2880360"/>
            <a:ext cx="640080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680960" y="2880360"/>
            <a:ext cx="640080" cy="0"/>
          </a:xfrm>
          <a:prstGeom prst="line">
            <a:avLst/>
          </a:prstGeom>
          <a:ln w="2540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14400" y="4892040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94A3B8"/>
                </a:solidFill>
                <a:latin typeface="Aptos"/>
              </a:rPr>
              <a:t>Docker Compose runs frontend, backend, and ChromaDB together for local development and deployment testing.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04 / INGESTION PIPELINE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A YouTube video becomes retrieval-ready 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FBBF24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YouTube Data API retrieves metadata, thumbnails, duration, and channel information, then applies the selected length filter.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FBBF24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youtube-transcript-api is the primary source for public captions and timestamps.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FBBF24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Whisper is used only as a fallback when captions are unavailable and the deployment can safely fetch audio.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FBBF24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LangChain chunking keeps timestamp metadata attached to every chunk.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FBBF24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OpenAI embeddings are stored in ChromaDB for similarity search.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691640"/>
            <a:ext cx="3474720" cy="34290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54112" y="2011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spc="150">
                <a:solidFill>
                  <a:srgbClr val="FBBF24"/>
                </a:solidFill>
                <a:latin typeface="Aptos"/>
              </a:rPr>
              <a:t>STATUS 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5146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F6F8FF"/>
                </a:solidFill>
                <a:latin typeface="Aptos"/>
              </a:rPr>
              <a:t>metadata
transcript
chunking
embeddings
vector_storage
ready /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66344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ptos"/>
              </a:rPr>
              <a:t>The processing screen reflects backend progress, not only decoration.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05 / LANGCHAIN AGENT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The chatbot uses tools, not just a single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600200"/>
            <a:ext cx="9875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Aptos"/>
              </a:rPr>
              <a:t>AgentService binds StructuredTool objects to the LLM and returns answer, citations, tool steps, and session_id.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148840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258568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search_youtube_videos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59" y="2148840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2258568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extract_transcript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807208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916936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chunk_transcript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59" y="2807208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40" y="2916936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store_video_vectors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65576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575304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ingest_video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59" y="3465576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3575304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retrieve_context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123944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233672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answer_question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2148840"/>
            <a:ext cx="352044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52360" y="2148840"/>
            <a:ext cx="73152" cy="2057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53528" y="23134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GUARDRAILS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53528" y="2651760"/>
            <a:ext cx="32004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The final answer must use answer_question, stay transcript-only, and include timestamp citations. Off-topic questions should be refused.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52360" y="4434840"/>
            <a:ext cx="3520440" cy="10515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360" y="4434840"/>
            <a:ext cx="73152" cy="10515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53528" y="4599431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MEMORY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53528" y="4937759"/>
            <a:ext cx="3200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ConversationMemoryService keeps session-based history so follow-up questions remain coherent.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06 / RAG ANSWERING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Answers are grounded in transcript evidence.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1832" y="2176272"/>
            <a:ext cx="384048" cy="384048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25856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19456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Retrieve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67004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ChromaDB returns top transcript chunks.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01168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10712" y="2176272"/>
            <a:ext cx="384048" cy="384048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1296" y="225856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219456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Inject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67004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Prompt receives context, memory, and rules.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201168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879592" y="2176272"/>
            <a:ext cx="384048" cy="38404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0176" y="225856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3368" y="219456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Generate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267004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GPT-4o-mini writes from retrieved context.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2011680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48471" y="2176272"/>
            <a:ext cx="384048" cy="38404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9055" y="225856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42248" y="219456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2670048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Timestamp chips point to source moments.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971800" y="2670048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440680" y="2670048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9560" y="2670048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68680" y="480060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4A3B8"/>
                </a:solidFill>
                <a:latin typeface="Aptos"/>
              </a:rPr>
              <a:t>If the transcript does not contain the answer, the system says it cannot answer from the video. This is the main anti-hallucination behavior.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07 / VOICE + CINEMATIC UX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6F8FF"/>
                </a:solidFill>
                <a:latin typeface="Aptos"/>
              </a:rPr>
              <a:t>The interface feels like a learning product, not a backend demo.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20240"/>
            <a:ext cx="3337560" cy="18288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920240"/>
            <a:ext cx="73152" cy="1828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084832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VOICE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42316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Browser Web Speech API captures live dictation with waveform feedback. If it fails, MediaRecorder sends audio to /api/speech/transcribe.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920240"/>
            <a:ext cx="3337560" cy="18288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920240"/>
            <a:ext cx="73152" cy="1828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2084832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8B5CF6"/>
                </a:solidFill>
                <a:latin typeface="Aptos"/>
              </a:rPr>
              <a:t>ASSISTANT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242316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A floating 3D robot moves through the journey, speaks short guidance, and opens a compact transcript-grounded chat.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920240"/>
            <a:ext cx="3337560" cy="18288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920240"/>
            <a:ext cx="73152" cy="1828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5048" y="2084832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ACCESSIBILITY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242316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Semantic labels, visible focus states, reduced-motion handling, screen-reader status messages, and touch-friendly layouts.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0060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4A3B8"/>
                </a:solidFill>
                <a:latin typeface="Aptos"/>
              </a:rPr>
              <a:t>Extra polish: loading skeletons, retry states, TTS answer playback, responsive stacking, and collapsible evidence panels.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08 / TESTING + EVALUATION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The project is testable, explainable, and demo-ready.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2D3EE"/>
                </a:solidFill>
                <a:latin typeface="Aptos"/>
              </a:rPr>
              <a:t>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PYTEST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196596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C4899"/>
                </a:solidFill>
                <a:latin typeface="Aptos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RAG EVAL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96596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34D399"/>
                </a:solidFill>
                <a:latin typeface="Apto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BEHAVIORAL FAILS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196596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BBF24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DOCKER 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794760"/>
            <a:ext cx="104241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34D399"/>
                </a:solidFill>
                <a:latin typeface="Aptos"/>
              </a:rPr>
              <a:t>- </a:t>
            </a:r>
            <a:r>
              <a:rPr sz="1500">
                <a:solidFill>
                  <a:srgbClr val="F6F8FF"/>
                </a:solidFill>
                <a:latin typeface="Aptos"/>
              </a:rPr>
              <a:t>Coverage includes routes, services, tools, WebSocket ingest, speech transcription, and RAG behavior.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34D399"/>
                </a:solidFill>
                <a:latin typeface="Aptos"/>
              </a:rPr>
              <a:t>- </a:t>
            </a:r>
            <a:r>
              <a:rPr sz="1500">
                <a:solidFill>
                  <a:srgbClr val="F6F8FF"/>
                </a:solidFill>
                <a:latin typeface="Aptos"/>
              </a:rPr>
              <a:t>Evaluation cases test answerable questions, refusals, citation accuracy, summaries, memory, and hallucination prevention.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34D399"/>
                </a:solidFill>
                <a:latin typeface="Aptos"/>
              </a:rPr>
              <a:t>- </a:t>
            </a:r>
            <a:r>
              <a:rPr sz="1500">
                <a:solidFill>
                  <a:srgbClr val="F6F8FF"/>
                </a:solidFill>
                <a:latin typeface="Aptos"/>
              </a:rPr>
              <a:t>LangSmith tracing can inspect latency, context, answer quality, and chain behavior.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09 / LIVE DEMO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Demo path: search, prepare, ask, verify.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5577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22D3EE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Live app: http://18.157.233.122:3001/ (EC2 deployment with Webshare proxy)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22D3EE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Search with a duration filter, for example: python tutorial for beginners under 10 minutes.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22D3EE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Pick a video and click Prepare to show real ingestion progress.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22D3EE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Ask: What is Python used for?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22D3EE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Show timestamp citations and the tool breadcrumb.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22D3EE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Ask a follow-up to demonstrate memory.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22D3EE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Ask an unrelated question to show refusal behavior.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22D3EE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Use mic input and Read aloud if time allows.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>
                <a:solidFill>
                  <a:srgbClr val="22D3EE"/>
                </a:solidFill>
                <a:latin typeface="Aptos"/>
              </a:rPr>
              <a:t>- </a:t>
            </a:r>
            <a:r>
              <a:rPr sz="1700">
                <a:solidFill>
                  <a:srgbClr val="F6F8FF"/>
                </a:solidFill>
                <a:latin typeface="Aptos"/>
              </a:rPr>
              <a:t>Show EC2 health endpoint and explain the YouTube cloud-IP transcript limitation.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1874519"/>
            <a:ext cx="3566160" cy="34290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2672" y="217627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50">
                <a:solidFill>
                  <a:srgbClr val="EC4899"/>
                </a:solidFill>
                <a:latin typeface="Aptos"/>
              </a:rPr>
              <a:t>WHAT TO EMPHASIZE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62672" y="2743200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6F8FF"/>
                </a:solidFill>
                <a:latin typeface="Aptos"/>
              </a:rPr>
              <a:t>This is not a generic chatbot. It is a transcript-grounded learning workflow with tools, memory, vector search, citations, and a polished UI.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2672" y="425196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ptos"/>
              </a:rPr>
              <a:t>Keep the demo focused on trust: every answer links back to the video. EC2 proves deployment; local run proves full transcript access when YouTube blocks cloud IPs.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9875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6F8FF"/>
                </a:solidFill>
                <a:latin typeface="Aptos"/>
              </a:rPr>
              <a:t>AskTube AI makes YouTube learnable by conversation.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22D3EE"/>
                </a:solidFill>
                <a:latin typeface="Aptos"/>
              </a:rPr>
              <a:t>Search videos. Build transcript knowledge. Ask questions. Verify with timestamps.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749039"/>
            <a:ext cx="3474720" cy="12344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749039"/>
            <a:ext cx="73152" cy="12344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3913631"/>
            <a:ext cx="31546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MANDATORY 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4251959"/>
            <a:ext cx="31546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LLM chatbot, tools, memory, vector database, text processing, UI, tests, evaluation, and Docker deployment are covered.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749039"/>
            <a:ext cx="3474720" cy="12344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3749039"/>
            <a:ext cx="73152" cy="1234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3913631"/>
            <a:ext cx="31546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OPTIONAL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4251959"/>
            <a:ext cx="31546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Voice input, Whisper fallback, WebSocket streaming, TTS, 3D assistant, and LangSmith tracing are included.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3749039"/>
            <a:ext cx="3108960" cy="12344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20" y="3749039"/>
            <a:ext cx="73152" cy="12344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76488" y="3913631"/>
            <a:ext cx="2788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NEXT IMPROVEMENTS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4251959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Persistent user accounts, multi-video comparison, HTTPS custom domain, and a stronger production transcript proxy.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447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4A3B8"/>
                </a:solidFill>
                <a:latin typeface="Aptos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