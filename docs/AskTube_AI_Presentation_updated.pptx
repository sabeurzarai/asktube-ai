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a:t>
            </a:r>
          </a:p>
          <a:p/>
          <a:p>
            <a:r>
              <a:t>Hi, I'm Sabeur. AskTube AI is an AI platform that lets you chat with any YouTube video using its transcript. It is not a generic chatbot — every answer is grounded in the video, with timestamp citations so you can verify exactly where the information comes from. I also added production-style analytics so the product and RAG pipeline are measurable.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YouTube has over 800 million videos. Learning from long videos is frustrating — you scrub back and forth looking for one specific answer.</a:t>
            </a:r>
          </a:p>
          <a:p/>
          <a:p>
            <a:r>
              <a:t>AskTube solves this by turning any video into a conversational knowledge base. You ask a question and the AI answers using the transcript, with the exact timestamp. The key rule: if the transcript doesn't contain the answer, the system refuses — no hallucinations, no invented content.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a:t>
            </a:r>
          </a:p>
          <a:p/>
          <a:p>
            <a:r>
              <a:t>The flow is four steps. Search for a topic by text or voice. Pick a video from a carousel. The app processes the transcript in real time — you see each step happening. Then you chat with the video content and get answers with clickable timestamp citations.</a:t>
            </a:r>
          </a:p>
          <a:p/>
          <a:p>
            <a:r>
              <a:t>The whole journey is guided by a 3D robot companion that moves around the screen and speaks at each stage.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Three layers. Frontend: Next.js 14, TypeScript, TailwindCSS, Framer Motion, and Three.js for the 3D robot. Backend: FastAPI with async routes for search, transcripts, chunking, vector storage, chat, agent, speech, and analytics. AI layer: LangChain tools, OpenAI GPT-4o-mini for chat and text-embedding-3-small for vectors, ChromaDB as the vector store, and Whisper as a fallback for videos without captions.</a:t>
            </a:r>
          </a:p>
          <a:p/>
          <a:p>
            <a:r>
              <a:t>There is also an observability layer: analytics tables, a dashboard, Prometheus metrics, and optional LangSmith tracing.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When you click Prepare, the ingestion pipeline runs live. The YouTube Data API fetches the video metadata. youtube-transcript-api pulls the captions — no audio download needed in the normal flow. LangChain splits the transcript into overlapping chunks and keeps the timestamp attached to each one. OpenAI embeds each chunk and ChromaDB stores them for similarity search.</a:t>
            </a:r>
          </a:p>
          <a:p/>
          <a:p>
            <a:r>
              <a:t>The status stream on the right — metadata, transcript, chunking, embeddings, storage — is live WebSocket progress from the backend, not just decoration.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a:t>
            </a:r>
          </a:p>
          <a:p/>
          <a:p>
            <a:r>
              <a:t>The chat is not just a single prompt — it uses a real tool-calling agent. I built seven LangChain StructuredTools: search YouTube, extract transcript, chunk, store vectors, full ingest, retrieve context, and answer question.</a:t>
            </a:r>
          </a:p>
          <a:p/>
          <a:p>
            <a:r>
              <a:t>The agent decides which tools to call based on the question. For a chat question it calls retrieve_context then answer_question. For a new video request it chains through the full ingestion flow automatically.</a:t>
            </a:r>
          </a:p>
          <a:p/>
          <a:p>
            <a:r>
              <a:t>Two guardrails are enforced: answers must come from the transcript only, and off-topic questions must be refused. ConversationMemoryService keeps session history so follow-up questions stay coherent.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The RAG pipeline is four steps. Retrieve: ChromaDB finds the most relevant transcript chunks by semantic similarity. Inject: the prompt receives those chunks, the conversation memory, and strict grounding rules. Generate: GPT-4o-mini writes an answer using only what is in the context. Cite: the response includes timestamp chips that link to the exact moment in the video.</a:t>
            </a:r>
          </a:p>
          <a:p/>
          <a:p>
            <a:r>
              <a:t>If the answer is not in the transcript, the system says it cannot answer from this video. That refusal is the core anti-hallucination mechanism.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The UI is designed to feel like a real product. Voice search tries the browser Web Speech API first, and automatically falls back to MediaRecorder plus Whisper if it fails. The 3D robot moves through the journey stages and speaks short guidance at each step. Accessibility is built in: semantic labels, visible focus states, reduced-motion support, and screen-reader status messages.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a:t>
            </a:r>
          </a:p>
          <a:p/>
          <a:p>
            <a:r>
              <a:t>I added analytics so the app can be observed like a production AI product. The frontend records product and UX events such as searches, selected videos, voice search, prompt clicks, and timestamp clicks. The backend records RAG latency, retrieved chunks, citation coverage, transcript time, embedding time, vector query time, and WebSocket failures.</a:t>
            </a:r>
          </a:p>
          <a:p/>
          <a:p>
            <a:r>
              <a:t>There are two views: the /analytics dashboard for product and AI observability, and /metrics for Prometheus-style operational metrics. LangSmith is still available for deep chain traces.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a:t>
            </a:r>
          </a:p>
          <a:p/>
          <a:p>
            <a:r>
              <a:t>The project has 98 pytest tests covering routes, services, tools, WebSocket ingest, speech, and the RAG pipeline. I also built 17 hand-crafted RAG evaluation cases that test answerable questions, refusals, citation accuracy, summaries, memory, and hallucination prevention — all pass with zero behavioral failures. LangSmith tracing is available for live chain inspection, and the inline heuristic evaluator scores every RAG response at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seconds</a:t>
            </a:r>
          </a:p>
          <a:p/>
          <a:p>
            <a:r>
              <a:t>Let me show you the live app. Open http://18.157.233.122:3001/ — this is running on AWS EC2 with a Webshare residential proxy to bypass YouTube's cloud IP restrictions.</a:t>
            </a:r>
          </a:p>
          <a:p/>
          <a:p>
            <a:r>
              <a:t>[Search] I'll type 'python tutorial for beginners' and apply a duration filter. [Results appear] Pick a video and click Prepare. [Watch the progress steps: metadata, transcript, chunking, embeddings, storage.]</a:t>
            </a:r>
          </a:p>
          <a:p/>
          <a:p>
            <a:r>
              <a:t>[Chat] Now I ask: 'What is Python used for?' — [Answer appears with timestamp chips] See the citations — each one links to the exact moment in the video. [Click a timestamp]</a:t>
            </a:r>
          </a:p>
          <a:p/>
          <a:p>
            <a:r>
              <a:t>[Follow-up] Now a follow-up: 'Can you give me an example?' — the memory keeps the context so it understands what I mean.</a:t>
            </a:r>
          </a:p>
          <a:p/>
          <a:p>
            <a:r>
              <a:t>[Refusal] Now I ask something off-topic like 'What is the weather today?' — it refuses. It only answers from the video transcript. That is the trust guarantee.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AskTube AI covers all the mandatory IronHack requirements: LLM chatbot, LangChain tools, conversational memory, ChromaDB vector database, text processing, a polished UI, 98 tests, RAG evaluation, analytics/observability, and Docker deployment on EC2.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6949440" cy="868680"/>
          </a:xfrm>
          <a:prstGeom prst="rect">
            <a:avLst/>
          </a:prstGeom>
          <a:noFill/>
        </p:spPr>
        <p:txBody>
          <a:bodyPr wrap="square">
            <a:spAutoFit/>
          </a:bodyPr>
          <a:lstStyle/>
          <a:p>
            <a:pPr algn="l"/>
            <a:r>
              <a:rPr sz="5800" b="1">
                <a:solidFill>
                  <a:srgbClr val="F6F8FF"/>
                </a:solidFill>
                <a:latin typeface="Aptos"/>
              </a:rPr>
              <a:t>AskTube AI</a:t>
            </a:r>
          </a:p>
        </p:txBody>
      </p:sp>
      <p:sp>
        <p:nvSpPr>
          <p:cNvPr id="6" name="TextBox 5"/>
          <p:cNvSpPr txBox="1"/>
          <p:nvPr/>
        </p:nvSpPr>
        <p:spPr>
          <a:xfrm>
            <a:off x="685800" y="1828800"/>
            <a:ext cx="7132320" cy="502920"/>
          </a:xfrm>
          <a:prstGeom prst="rect">
            <a:avLst/>
          </a:prstGeom>
          <a:noFill/>
        </p:spPr>
        <p:txBody>
          <a:bodyPr wrap="square">
            <a:spAutoFit/>
          </a:bodyPr>
          <a:lstStyle/>
          <a:p>
            <a:pPr algn="l"/>
            <a:r>
              <a:rPr sz="2100" b="0">
                <a:solidFill>
                  <a:srgbClr val="22D3EE"/>
                </a:solidFill>
                <a:latin typeface="Aptos"/>
              </a:rPr>
              <a:t>Chat with YouTube videos through transcript-grounded AI.</a:t>
            </a:r>
          </a:p>
        </p:txBody>
      </p:sp>
      <p:sp>
        <p:nvSpPr>
          <p:cNvPr id="7" name="TextBox 6"/>
          <p:cNvSpPr txBox="1"/>
          <p:nvPr/>
        </p:nvSpPr>
        <p:spPr>
          <a:xfrm>
            <a:off x="713232" y="5989320"/>
            <a:ext cx="6035040" cy="256032"/>
          </a:xfrm>
          <a:prstGeom prst="rect">
            <a:avLst/>
          </a:prstGeom>
          <a:noFill/>
        </p:spPr>
        <p:txBody>
          <a:bodyPr wrap="square">
            <a:spAutoFit/>
          </a:bodyPr>
          <a:lstStyle/>
          <a:p>
            <a:pPr algn="l"/>
            <a:r>
              <a:rPr sz="1200" b="1">
                <a:solidFill>
                  <a:srgbClr val="94A3B8"/>
                </a:solidFill>
                <a:latin typeface="Aptos"/>
              </a:rPr>
              <a:t>Final Project | Sabeur Zarai | IronHack | Docker + EC2</a:t>
            </a:r>
          </a:p>
        </p:txBody>
      </p:sp>
      <p:sp>
        <p:nvSpPr>
          <p:cNvPr id="8" name="TextBox 7"/>
          <p:cNvSpPr txBox="1"/>
          <p:nvPr/>
        </p:nvSpPr>
        <p:spPr>
          <a:xfrm>
            <a:off x="713232" y="6236208"/>
            <a:ext cx="6858000" cy="256032"/>
          </a:xfrm>
          <a:prstGeom prst="rect">
            <a:avLst/>
          </a:prstGeom>
          <a:noFill/>
        </p:spPr>
        <p:txBody>
          <a:bodyPr wrap="square">
            <a:spAutoFit/>
          </a:bodyPr>
          <a:lstStyle/>
          <a:p>
            <a:pPr algn="l"/>
            <a:r>
              <a:rPr sz="1200" b="1">
                <a:solidFill>
                  <a:srgbClr val="22D3EE"/>
                </a:solidFill>
                <a:latin typeface="Aptos"/>
              </a:rPr>
              <a:t>Live demo: http://18.157.233.122:3001/</a:t>
            </a:r>
          </a:p>
        </p:txBody>
      </p:sp>
      <p:sp>
        <p:nvSpPr>
          <p:cNvPr id="9" name="Rounded Rectangle 8"/>
          <p:cNvSpPr/>
          <p:nvPr/>
        </p:nvSpPr>
        <p:spPr>
          <a:xfrm>
            <a:off x="7315200" y="914400"/>
            <a:ext cx="4023360" cy="438912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298448"/>
            <a:ext cx="3383280" cy="320040"/>
          </a:xfrm>
          <a:prstGeom prst="rect">
            <a:avLst/>
          </a:prstGeom>
          <a:noFill/>
        </p:spPr>
        <p:txBody>
          <a:bodyPr wrap="square">
            <a:spAutoFit/>
          </a:bodyPr>
          <a:lstStyle/>
          <a:p>
            <a:pPr algn="l"/>
            <a:r>
              <a:rPr sz="1600" b="1" spc="250">
                <a:solidFill>
                  <a:srgbClr val="22D3EE"/>
                </a:solidFill>
                <a:latin typeface="Aptos"/>
              </a:rPr>
              <a:t>SEARCH</a:t>
            </a:r>
          </a:p>
        </p:txBody>
      </p:sp>
      <p:sp>
        <p:nvSpPr>
          <p:cNvPr id="11" name="TextBox 10"/>
          <p:cNvSpPr txBox="1"/>
          <p:nvPr/>
        </p:nvSpPr>
        <p:spPr>
          <a:xfrm>
            <a:off x="7635240" y="1975104"/>
            <a:ext cx="3383280" cy="320040"/>
          </a:xfrm>
          <a:prstGeom prst="rect">
            <a:avLst/>
          </a:prstGeom>
          <a:noFill/>
        </p:spPr>
        <p:txBody>
          <a:bodyPr wrap="square">
            <a:spAutoFit/>
          </a:bodyPr>
          <a:lstStyle/>
          <a:p>
            <a:pPr algn="l"/>
            <a:r>
              <a:rPr sz="1600" b="1" spc="250">
                <a:solidFill>
                  <a:srgbClr val="EC4899"/>
                </a:solidFill>
                <a:latin typeface="Aptos"/>
              </a:rPr>
              <a:t>TRANSCRIPT</a:t>
            </a:r>
          </a:p>
        </p:txBody>
      </p:sp>
      <p:sp>
        <p:nvSpPr>
          <p:cNvPr id="12" name="TextBox 11"/>
          <p:cNvSpPr txBox="1"/>
          <p:nvPr/>
        </p:nvSpPr>
        <p:spPr>
          <a:xfrm>
            <a:off x="7635240" y="2651760"/>
            <a:ext cx="3383280" cy="411480"/>
          </a:xfrm>
          <a:prstGeom prst="rect">
            <a:avLst/>
          </a:prstGeom>
          <a:noFill/>
        </p:spPr>
        <p:txBody>
          <a:bodyPr wrap="square">
            <a:spAutoFit/>
          </a:bodyPr>
          <a:lstStyle/>
          <a:p>
            <a:pPr algn="l"/>
            <a:r>
              <a:rPr sz="2500" b="1" spc="250">
                <a:solidFill>
                  <a:srgbClr val="F6F8FF"/>
                </a:solidFill>
                <a:latin typeface="Aptos"/>
              </a:rPr>
              <a:t>RAG</a:t>
            </a:r>
          </a:p>
        </p:txBody>
      </p:sp>
      <p:sp>
        <p:nvSpPr>
          <p:cNvPr id="13" name="TextBox 12"/>
          <p:cNvSpPr txBox="1"/>
          <p:nvPr/>
        </p:nvSpPr>
        <p:spPr>
          <a:xfrm>
            <a:off x="7635240" y="3401568"/>
            <a:ext cx="3383280" cy="320040"/>
          </a:xfrm>
          <a:prstGeom prst="rect">
            <a:avLst/>
          </a:prstGeom>
          <a:noFill/>
        </p:spPr>
        <p:txBody>
          <a:bodyPr wrap="square">
            <a:spAutoFit/>
          </a:bodyPr>
          <a:lstStyle/>
          <a:p>
            <a:pPr algn="l"/>
            <a:r>
              <a:rPr sz="1600" b="1" spc="250">
                <a:solidFill>
                  <a:srgbClr val="34D399"/>
                </a:solidFill>
                <a:latin typeface="Aptos"/>
              </a:rPr>
              <a:t>CITATIONS</a:t>
            </a:r>
          </a:p>
        </p:txBody>
      </p:sp>
      <p:cxnSp>
        <p:nvCxnSpPr>
          <p:cNvPr id="14" name="Connector 13"/>
          <p:cNvCxnSpPr/>
          <p:nvPr/>
        </p:nvCxnSpPr>
        <p:spPr>
          <a:xfrm>
            <a:off x="7635240" y="4069080"/>
            <a:ext cx="3154680" cy="0"/>
          </a:xfrm>
          <a:prstGeom prst="line">
            <a:avLst/>
          </a:prstGeom>
          <a:ln w="25400">
            <a:solidFill>
              <a:srgbClr val="EC489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35240" y="4315968"/>
            <a:ext cx="3246120" cy="457200"/>
          </a:xfrm>
          <a:prstGeom prst="rect">
            <a:avLst/>
          </a:prstGeom>
          <a:noFill/>
        </p:spPr>
        <p:txBody>
          <a:bodyPr wrap="square">
            <a:spAutoFit/>
          </a:bodyPr>
          <a:lstStyle/>
          <a:p>
            <a:pPr algn="l"/>
            <a:r>
              <a:rPr sz="1300" b="0">
                <a:solidFill>
                  <a:srgbClr val="94A3B8"/>
                </a:solidFill>
                <a:latin typeface="Aptos"/>
              </a:rPr>
              <a:t>Netflix-inspired UI + FastAPI + LangChain + ChromaDB + analytics + EC2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01 / PRODUCT IDEA</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051560"/>
            <a:ext cx="7863840" cy="685800"/>
          </a:xfrm>
          <a:prstGeom prst="rect">
            <a:avLst/>
          </a:prstGeom>
          <a:noFill/>
        </p:spPr>
        <p:txBody>
          <a:bodyPr wrap="square">
            <a:spAutoFit/>
          </a:bodyPr>
          <a:lstStyle/>
          <a:p>
            <a:pPr algn="l"/>
            <a:r>
              <a:rPr sz="3400" b="1">
                <a:solidFill>
                  <a:srgbClr val="F6F8FF"/>
                </a:solidFill>
                <a:latin typeface="Aptos"/>
              </a:rPr>
              <a:t>YouTube is huge. Learning from long videos is slow.</a:t>
            </a:r>
          </a:p>
        </p:txBody>
      </p:sp>
      <p:sp>
        <p:nvSpPr>
          <p:cNvPr id="8" name="TextBox 7"/>
          <p:cNvSpPr txBox="1"/>
          <p:nvPr/>
        </p:nvSpPr>
        <p:spPr>
          <a:xfrm>
            <a:off x="621792" y="1828800"/>
            <a:ext cx="7315200" cy="411480"/>
          </a:xfrm>
          <a:prstGeom prst="rect">
            <a:avLst/>
          </a:prstGeom>
          <a:noFill/>
        </p:spPr>
        <p:txBody>
          <a:bodyPr wrap="square">
            <a:spAutoFit/>
          </a:bodyPr>
          <a:lstStyle/>
          <a:p>
            <a:pPr algn="l"/>
            <a:r>
              <a:rPr sz="1800" b="0">
                <a:solidFill>
                  <a:srgbClr val="22D3EE"/>
                </a:solidFill>
                <a:latin typeface="Aptos"/>
              </a:rPr>
              <a:t>AskTube AI turns a video into a searchable, conversational knowledge base.</a:t>
            </a:r>
          </a:p>
        </p:txBody>
      </p:sp>
      <p:sp>
        <p:nvSpPr>
          <p:cNvPr id="9" name="Rounded Rectangle 8"/>
          <p:cNvSpPr/>
          <p:nvPr/>
        </p:nvSpPr>
        <p:spPr>
          <a:xfrm>
            <a:off x="658368" y="2743200"/>
            <a:ext cx="3246120" cy="173736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743200"/>
            <a:ext cx="73152" cy="17373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907792"/>
            <a:ext cx="2926079" cy="228600"/>
          </a:xfrm>
          <a:prstGeom prst="rect">
            <a:avLst/>
          </a:prstGeom>
          <a:noFill/>
        </p:spPr>
        <p:txBody>
          <a:bodyPr wrap="square">
            <a:spAutoFit/>
          </a:bodyPr>
          <a:lstStyle/>
          <a:p>
            <a:pPr algn="l"/>
            <a:r>
              <a:rPr sz="1100" b="1" spc="160">
                <a:solidFill>
                  <a:srgbClr val="22D3EE"/>
                </a:solidFill>
                <a:latin typeface="Aptos"/>
              </a:rPr>
              <a:t>USER FLOW</a:t>
            </a:r>
          </a:p>
        </p:txBody>
      </p:sp>
      <p:sp>
        <p:nvSpPr>
          <p:cNvPr id="12" name="TextBox 11"/>
          <p:cNvSpPr txBox="1"/>
          <p:nvPr/>
        </p:nvSpPr>
        <p:spPr>
          <a:xfrm>
            <a:off x="859536" y="3246120"/>
            <a:ext cx="2926079" cy="1097280"/>
          </a:xfrm>
          <a:prstGeom prst="rect">
            <a:avLst/>
          </a:prstGeom>
          <a:noFill/>
        </p:spPr>
        <p:txBody>
          <a:bodyPr wrap="square">
            <a:spAutoFit/>
          </a:bodyPr>
          <a:lstStyle/>
          <a:p>
            <a:pPr algn="l"/>
            <a:r>
              <a:rPr sz="1400" b="0">
                <a:solidFill>
                  <a:srgbClr val="F6F8FF"/>
                </a:solidFill>
                <a:latin typeface="Aptos"/>
              </a:rPr>
              <a:t>Search a topic, choose a video, let the app process the transcript, then ask questions with source timestamps.</a:t>
            </a:r>
          </a:p>
        </p:txBody>
      </p:sp>
      <p:sp>
        <p:nvSpPr>
          <p:cNvPr id="13" name="Rounded Rectangle 12"/>
          <p:cNvSpPr/>
          <p:nvPr/>
        </p:nvSpPr>
        <p:spPr>
          <a:xfrm>
            <a:off x="4160520" y="2743200"/>
            <a:ext cx="3246120" cy="1737360"/>
          </a:xfrm>
          <a:prstGeom prst="roundRect">
            <a:avLst/>
          </a:prstGeom>
          <a:solidFill>
            <a:srgbClr val="10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743200"/>
            <a:ext cx="73152" cy="17373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2907792"/>
            <a:ext cx="2926079" cy="228600"/>
          </a:xfrm>
          <a:prstGeom prst="rect">
            <a:avLst/>
          </a:prstGeom>
          <a:noFill/>
        </p:spPr>
        <p:txBody>
          <a:bodyPr wrap="square">
            <a:spAutoFit/>
          </a:bodyPr>
          <a:lstStyle/>
          <a:p>
            <a:pPr algn="l"/>
            <a:r>
              <a:rPr sz="1100" b="1" spc="160">
                <a:solidFill>
                  <a:srgbClr val="34D399"/>
                </a:solidFill>
                <a:latin typeface="Aptos"/>
              </a:rPr>
              <a:t>TRUST RULE</a:t>
            </a:r>
          </a:p>
        </p:txBody>
      </p:sp>
      <p:sp>
        <p:nvSpPr>
          <p:cNvPr id="16" name="TextBox 15"/>
          <p:cNvSpPr txBox="1"/>
          <p:nvPr/>
        </p:nvSpPr>
        <p:spPr>
          <a:xfrm>
            <a:off x="4361688" y="3246120"/>
            <a:ext cx="2926079" cy="1097280"/>
          </a:xfrm>
          <a:prstGeom prst="rect">
            <a:avLst/>
          </a:prstGeom>
          <a:noFill/>
        </p:spPr>
        <p:txBody>
          <a:bodyPr wrap="square">
            <a:spAutoFit/>
          </a:bodyPr>
          <a:lstStyle/>
          <a:p>
            <a:pPr algn="l"/>
            <a:r>
              <a:rPr sz="1400" b="0">
                <a:solidFill>
                  <a:srgbClr val="F6F8FF"/>
                </a:solidFill>
                <a:latin typeface="Aptos"/>
              </a:rPr>
              <a:t>The assistant answers from transcript evidence only. If the transcript cannot answer, it refuses instead of inventing.</a:t>
            </a:r>
          </a:p>
        </p:txBody>
      </p:sp>
      <p:sp>
        <p:nvSpPr>
          <p:cNvPr id="17" name="Rounded Rectangle 16"/>
          <p:cNvSpPr/>
          <p:nvPr/>
        </p:nvSpPr>
        <p:spPr>
          <a:xfrm>
            <a:off x="7662672" y="2743200"/>
            <a:ext cx="3246120" cy="173736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62672" y="2743200"/>
            <a:ext cx="73152" cy="173736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2907792"/>
            <a:ext cx="2926079" cy="228600"/>
          </a:xfrm>
          <a:prstGeom prst="rect">
            <a:avLst/>
          </a:prstGeom>
          <a:noFill/>
        </p:spPr>
        <p:txBody>
          <a:bodyPr wrap="square">
            <a:spAutoFit/>
          </a:bodyPr>
          <a:lstStyle/>
          <a:p>
            <a:pPr algn="l"/>
            <a:r>
              <a:rPr sz="1100" b="1" spc="160">
                <a:solidFill>
                  <a:srgbClr val="EC4899"/>
                </a:solidFill>
                <a:latin typeface="Aptos"/>
              </a:rPr>
              <a:t>WHY IT MATTERS</a:t>
            </a:r>
          </a:p>
        </p:txBody>
      </p:sp>
      <p:sp>
        <p:nvSpPr>
          <p:cNvPr id="20" name="TextBox 19"/>
          <p:cNvSpPr txBox="1"/>
          <p:nvPr/>
        </p:nvSpPr>
        <p:spPr>
          <a:xfrm>
            <a:off x="7863840" y="3246120"/>
            <a:ext cx="2926079" cy="1097280"/>
          </a:xfrm>
          <a:prstGeom prst="rect">
            <a:avLst/>
          </a:prstGeom>
          <a:noFill/>
        </p:spPr>
        <p:txBody>
          <a:bodyPr wrap="square">
            <a:spAutoFit/>
          </a:bodyPr>
          <a:lstStyle/>
          <a:p>
            <a:pPr algn="l"/>
            <a:r>
              <a:rPr sz="1400" b="0">
                <a:solidFill>
                  <a:srgbClr val="F6F8FF"/>
                </a:solidFill>
                <a:latin typeface="Aptos"/>
              </a:rPr>
              <a:t>Learners can skip guessing where information lives and jump straight to the exact moment in the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02 / USER JOURNEY</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914400"/>
            <a:ext cx="5486400" cy="548640"/>
          </a:xfrm>
          <a:prstGeom prst="rect">
            <a:avLst/>
          </a:prstGeom>
          <a:noFill/>
        </p:spPr>
        <p:txBody>
          <a:bodyPr wrap="square">
            <a:spAutoFit/>
          </a:bodyPr>
          <a:lstStyle/>
          <a:p>
            <a:pPr algn="l"/>
            <a:r>
              <a:rPr sz="3400" b="1">
                <a:solidFill>
                  <a:srgbClr val="F6F8FF"/>
                </a:solidFill>
                <a:latin typeface="Aptos"/>
              </a:rPr>
              <a:t>From search to cited answer</a:t>
            </a:r>
          </a:p>
        </p:txBody>
      </p:sp>
      <p:sp>
        <p:nvSpPr>
          <p:cNvPr id="8" name="Rounded Rectangle 7"/>
          <p:cNvSpPr/>
          <p:nvPr/>
        </p:nvSpPr>
        <p:spPr>
          <a:xfrm>
            <a:off x="640080" y="1920240"/>
            <a:ext cx="2057400" cy="1325880"/>
          </a:xfrm>
          <a:prstGeom prst="roundRect">
            <a:avLst/>
          </a:prstGeom>
          <a:solidFill>
            <a:srgbClr val="181F3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 y="2084832"/>
            <a:ext cx="384048" cy="384048"/>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167128"/>
            <a:ext cx="182880" cy="182880"/>
          </a:xfrm>
          <a:prstGeom prst="rect">
            <a:avLst/>
          </a:prstGeom>
          <a:noFill/>
        </p:spPr>
        <p:txBody>
          <a:bodyPr wrap="square">
            <a:spAutoFit/>
          </a:bodyPr>
          <a:lstStyle/>
          <a:p>
            <a:pPr algn="ctr"/>
            <a:r>
              <a:rPr sz="1200" b="1">
                <a:solidFill>
                  <a:srgbClr val="05070D"/>
                </a:solidFill>
                <a:latin typeface="Aptos"/>
              </a:rPr>
              <a:t>1</a:t>
            </a:r>
          </a:p>
        </p:txBody>
      </p:sp>
      <p:sp>
        <p:nvSpPr>
          <p:cNvPr id="11" name="TextBox 10"/>
          <p:cNvSpPr txBox="1"/>
          <p:nvPr/>
        </p:nvSpPr>
        <p:spPr>
          <a:xfrm>
            <a:off x="1298448" y="2103120"/>
            <a:ext cx="1234440" cy="228600"/>
          </a:xfrm>
          <a:prstGeom prst="rect">
            <a:avLst/>
          </a:prstGeom>
          <a:noFill/>
        </p:spPr>
        <p:txBody>
          <a:bodyPr wrap="square">
            <a:spAutoFit/>
          </a:bodyPr>
          <a:lstStyle/>
          <a:p>
            <a:pPr algn="l"/>
            <a:r>
              <a:rPr sz="1200" b="1">
                <a:solidFill>
                  <a:srgbClr val="F6F8FF"/>
                </a:solidFill>
                <a:latin typeface="Aptos"/>
              </a:rPr>
              <a:t>Search</a:t>
            </a:r>
          </a:p>
        </p:txBody>
      </p:sp>
      <p:sp>
        <p:nvSpPr>
          <p:cNvPr id="12" name="TextBox 11"/>
          <p:cNvSpPr txBox="1"/>
          <p:nvPr/>
        </p:nvSpPr>
        <p:spPr>
          <a:xfrm>
            <a:off x="822959" y="2578608"/>
            <a:ext cx="1691640" cy="411480"/>
          </a:xfrm>
          <a:prstGeom prst="rect">
            <a:avLst/>
          </a:prstGeom>
          <a:noFill/>
        </p:spPr>
        <p:txBody>
          <a:bodyPr wrap="square">
            <a:spAutoFit/>
          </a:bodyPr>
          <a:lstStyle/>
          <a:p>
            <a:pPr algn="l"/>
            <a:r>
              <a:rPr sz="1000" b="0">
                <a:solidFill>
                  <a:srgbClr val="94A3B8"/>
                </a:solidFill>
                <a:latin typeface="Aptos"/>
              </a:rPr>
              <a:t>Text or voice search through YouTube Data API.</a:t>
            </a:r>
          </a:p>
        </p:txBody>
      </p:sp>
      <p:sp>
        <p:nvSpPr>
          <p:cNvPr id="13" name="Rounded Rectangle 12"/>
          <p:cNvSpPr/>
          <p:nvPr/>
        </p:nvSpPr>
        <p:spPr>
          <a:xfrm>
            <a:off x="2971800" y="1920240"/>
            <a:ext cx="2057400" cy="1325880"/>
          </a:xfrm>
          <a:prstGeom prst="roundRect">
            <a:avLst/>
          </a:prstGeom>
          <a:solidFill>
            <a:srgbClr val="181F34"/>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36392" y="2084832"/>
            <a:ext cx="384048" cy="38404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6976" y="2167128"/>
            <a:ext cx="182880" cy="182880"/>
          </a:xfrm>
          <a:prstGeom prst="rect">
            <a:avLst/>
          </a:prstGeom>
          <a:noFill/>
        </p:spPr>
        <p:txBody>
          <a:bodyPr wrap="square">
            <a:spAutoFit/>
          </a:bodyPr>
          <a:lstStyle/>
          <a:p>
            <a:pPr algn="ctr"/>
            <a:r>
              <a:rPr sz="1200" b="1">
                <a:solidFill>
                  <a:srgbClr val="05070D"/>
                </a:solidFill>
                <a:latin typeface="Aptos"/>
              </a:rPr>
              <a:t>2</a:t>
            </a:r>
          </a:p>
        </p:txBody>
      </p:sp>
      <p:sp>
        <p:nvSpPr>
          <p:cNvPr id="16" name="TextBox 15"/>
          <p:cNvSpPr txBox="1"/>
          <p:nvPr/>
        </p:nvSpPr>
        <p:spPr>
          <a:xfrm>
            <a:off x="3630168" y="2103120"/>
            <a:ext cx="1234440" cy="228600"/>
          </a:xfrm>
          <a:prstGeom prst="rect">
            <a:avLst/>
          </a:prstGeom>
          <a:noFill/>
        </p:spPr>
        <p:txBody>
          <a:bodyPr wrap="square">
            <a:spAutoFit/>
          </a:bodyPr>
          <a:lstStyle/>
          <a:p>
            <a:pPr algn="l"/>
            <a:r>
              <a:rPr sz="1200" b="1">
                <a:solidFill>
                  <a:srgbClr val="F6F8FF"/>
                </a:solidFill>
                <a:latin typeface="Aptos"/>
              </a:rPr>
              <a:t>Choose</a:t>
            </a:r>
          </a:p>
        </p:txBody>
      </p:sp>
      <p:sp>
        <p:nvSpPr>
          <p:cNvPr id="17" name="TextBox 16"/>
          <p:cNvSpPr txBox="1"/>
          <p:nvPr/>
        </p:nvSpPr>
        <p:spPr>
          <a:xfrm>
            <a:off x="3154680" y="2578608"/>
            <a:ext cx="1691640" cy="411480"/>
          </a:xfrm>
          <a:prstGeom prst="rect">
            <a:avLst/>
          </a:prstGeom>
          <a:noFill/>
        </p:spPr>
        <p:txBody>
          <a:bodyPr wrap="square">
            <a:spAutoFit/>
          </a:bodyPr>
          <a:lstStyle/>
          <a:p>
            <a:pPr algn="l"/>
            <a:r>
              <a:rPr sz="1000" b="0">
                <a:solidFill>
                  <a:srgbClr val="94A3B8"/>
                </a:solidFill>
                <a:latin typeface="Aptos"/>
              </a:rPr>
              <a:t>Netflix-style carousel with selected video state.</a:t>
            </a:r>
          </a:p>
        </p:txBody>
      </p:sp>
      <p:sp>
        <p:nvSpPr>
          <p:cNvPr id="18" name="Rounded Rectangle 17"/>
          <p:cNvSpPr/>
          <p:nvPr/>
        </p:nvSpPr>
        <p:spPr>
          <a:xfrm>
            <a:off x="5303520" y="1920240"/>
            <a:ext cx="2057400" cy="1325880"/>
          </a:xfrm>
          <a:prstGeom prst="roundRect">
            <a:avLst/>
          </a:prstGeom>
          <a:solidFill>
            <a:srgbClr val="181F34"/>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68112" y="2084832"/>
            <a:ext cx="384048" cy="384048"/>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8696" y="2167128"/>
            <a:ext cx="182880" cy="182880"/>
          </a:xfrm>
          <a:prstGeom prst="rect">
            <a:avLst/>
          </a:prstGeom>
          <a:noFill/>
        </p:spPr>
        <p:txBody>
          <a:bodyPr wrap="square">
            <a:spAutoFit/>
          </a:bodyPr>
          <a:lstStyle/>
          <a:p>
            <a:pPr algn="ctr"/>
            <a:r>
              <a:rPr sz="1200" b="1">
                <a:solidFill>
                  <a:srgbClr val="05070D"/>
                </a:solidFill>
                <a:latin typeface="Aptos"/>
              </a:rPr>
              <a:t>3</a:t>
            </a:r>
          </a:p>
        </p:txBody>
      </p:sp>
      <p:sp>
        <p:nvSpPr>
          <p:cNvPr id="21" name="TextBox 20"/>
          <p:cNvSpPr txBox="1"/>
          <p:nvPr/>
        </p:nvSpPr>
        <p:spPr>
          <a:xfrm>
            <a:off x="5961888" y="2103120"/>
            <a:ext cx="1234440" cy="228600"/>
          </a:xfrm>
          <a:prstGeom prst="rect">
            <a:avLst/>
          </a:prstGeom>
          <a:noFill/>
        </p:spPr>
        <p:txBody>
          <a:bodyPr wrap="square">
            <a:spAutoFit/>
          </a:bodyPr>
          <a:lstStyle/>
          <a:p>
            <a:pPr algn="l"/>
            <a:r>
              <a:rPr sz="1200" b="1">
                <a:solidFill>
                  <a:srgbClr val="F6F8FF"/>
                </a:solidFill>
                <a:latin typeface="Aptos"/>
              </a:rPr>
              <a:t>Process</a:t>
            </a:r>
          </a:p>
        </p:txBody>
      </p:sp>
      <p:sp>
        <p:nvSpPr>
          <p:cNvPr id="22" name="TextBox 21"/>
          <p:cNvSpPr txBox="1"/>
          <p:nvPr/>
        </p:nvSpPr>
        <p:spPr>
          <a:xfrm>
            <a:off x="5486400" y="2578608"/>
            <a:ext cx="1691640" cy="411480"/>
          </a:xfrm>
          <a:prstGeom prst="rect">
            <a:avLst/>
          </a:prstGeom>
          <a:noFill/>
        </p:spPr>
        <p:txBody>
          <a:bodyPr wrap="square">
            <a:spAutoFit/>
          </a:bodyPr>
          <a:lstStyle/>
          <a:p>
            <a:pPr algn="l"/>
            <a:r>
              <a:rPr sz="1000" b="0">
                <a:solidFill>
                  <a:srgbClr val="94A3B8"/>
                </a:solidFill>
                <a:latin typeface="Aptos"/>
              </a:rPr>
              <a:t>Transcript, chunks, embeddings, vector storage.</a:t>
            </a:r>
          </a:p>
        </p:txBody>
      </p:sp>
      <p:sp>
        <p:nvSpPr>
          <p:cNvPr id="23" name="Rounded Rectangle 22"/>
          <p:cNvSpPr/>
          <p:nvPr/>
        </p:nvSpPr>
        <p:spPr>
          <a:xfrm>
            <a:off x="7635240" y="1920240"/>
            <a:ext cx="2057400" cy="1325880"/>
          </a:xfrm>
          <a:prstGeom prst="roundRect">
            <a:avLst/>
          </a:prstGeom>
          <a:solidFill>
            <a:srgbClr val="181F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99831" y="2084832"/>
            <a:ext cx="384048" cy="384048"/>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0415" y="2167128"/>
            <a:ext cx="182880" cy="182880"/>
          </a:xfrm>
          <a:prstGeom prst="rect">
            <a:avLst/>
          </a:prstGeom>
          <a:noFill/>
        </p:spPr>
        <p:txBody>
          <a:bodyPr wrap="square">
            <a:spAutoFit/>
          </a:bodyPr>
          <a:lstStyle/>
          <a:p>
            <a:pPr algn="ctr"/>
            <a:r>
              <a:rPr sz="1200" b="1">
                <a:solidFill>
                  <a:srgbClr val="05070D"/>
                </a:solidFill>
                <a:latin typeface="Aptos"/>
              </a:rPr>
              <a:t>4</a:t>
            </a:r>
          </a:p>
        </p:txBody>
      </p:sp>
      <p:sp>
        <p:nvSpPr>
          <p:cNvPr id="26" name="TextBox 25"/>
          <p:cNvSpPr txBox="1"/>
          <p:nvPr/>
        </p:nvSpPr>
        <p:spPr>
          <a:xfrm>
            <a:off x="8293608" y="2103120"/>
            <a:ext cx="1234440" cy="228600"/>
          </a:xfrm>
          <a:prstGeom prst="rect">
            <a:avLst/>
          </a:prstGeom>
          <a:noFill/>
        </p:spPr>
        <p:txBody>
          <a:bodyPr wrap="square">
            <a:spAutoFit/>
          </a:bodyPr>
          <a:lstStyle/>
          <a:p>
            <a:pPr algn="l"/>
            <a:r>
              <a:rPr sz="1200" b="1">
                <a:solidFill>
                  <a:srgbClr val="F6F8FF"/>
                </a:solidFill>
                <a:latin typeface="Aptos"/>
              </a:rPr>
              <a:t>Chat</a:t>
            </a:r>
          </a:p>
        </p:txBody>
      </p:sp>
      <p:sp>
        <p:nvSpPr>
          <p:cNvPr id="27" name="TextBox 26"/>
          <p:cNvSpPr txBox="1"/>
          <p:nvPr/>
        </p:nvSpPr>
        <p:spPr>
          <a:xfrm>
            <a:off x="7818119" y="2578608"/>
            <a:ext cx="1691640" cy="411480"/>
          </a:xfrm>
          <a:prstGeom prst="rect">
            <a:avLst/>
          </a:prstGeom>
          <a:noFill/>
        </p:spPr>
        <p:txBody>
          <a:bodyPr wrap="square">
            <a:spAutoFit/>
          </a:bodyPr>
          <a:lstStyle/>
          <a:p>
            <a:pPr algn="l"/>
            <a:r>
              <a:rPr sz="1000" b="0">
                <a:solidFill>
                  <a:srgbClr val="94A3B8"/>
                </a:solidFill>
                <a:latin typeface="Aptos"/>
              </a:rPr>
              <a:t>RAG answer with citations and memory.</a:t>
            </a:r>
          </a:p>
        </p:txBody>
      </p:sp>
      <p:cxnSp>
        <p:nvCxnSpPr>
          <p:cNvPr id="28" name="Connector 27"/>
          <p:cNvCxnSpPr/>
          <p:nvPr/>
        </p:nvCxnSpPr>
        <p:spPr>
          <a:xfrm>
            <a:off x="2724912" y="257860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056632" y="257860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388352" y="257860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4800600"/>
            <a:ext cx="10424160" cy="502920"/>
          </a:xfrm>
          <a:prstGeom prst="rect">
            <a:avLst/>
          </a:prstGeom>
          <a:noFill/>
        </p:spPr>
        <p:txBody>
          <a:bodyPr wrap="square">
            <a:spAutoFit/>
          </a:bodyPr>
          <a:lstStyle/>
          <a:p>
            <a:pPr algn="l"/>
            <a:r>
              <a:rPr sz="1700" b="0">
                <a:solidFill>
                  <a:srgbClr val="94A3B8"/>
                </a:solidFill>
                <a:latin typeface="Aptos"/>
              </a:rPr>
              <a:t>The UI is intentionally cinematic: dark mode, glass surfaces, duration filters, smooth transitions, a 3D assistant, and graceful loading/error states.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03 / ARCHITECTURE</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6766560" cy="548640"/>
          </a:xfrm>
          <a:prstGeom prst="rect">
            <a:avLst/>
          </a:prstGeom>
          <a:noFill/>
        </p:spPr>
        <p:txBody>
          <a:bodyPr wrap="square">
            <a:spAutoFit/>
          </a:bodyPr>
          <a:lstStyle/>
          <a:p>
            <a:pPr algn="l"/>
            <a:r>
              <a:rPr sz="3400" b="1">
                <a:solidFill>
                  <a:srgbClr val="F6F8FF"/>
                </a:solidFill>
                <a:latin typeface="Aptos"/>
              </a:rPr>
              <a:t>Three layers, one learning loop</a:t>
            </a:r>
          </a:p>
        </p:txBody>
      </p:sp>
      <p:sp>
        <p:nvSpPr>
          <p:cNvPr id="8" name="Rounded Rectangle 7"/>
          <p:cNvSpPr/>
          <p:nvPr/>
        </p:nvSpPr>
        <p:spPr>
          <a:xfrm>
            <a:off x="685800" y="1874519"/>
            <a:ext cx="3154680" cy="205740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73152" cy="20574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39112"/>
            <a:ext cx="2834640" cy="228600"/>
          </a:xfrm>
          <a:prstGeom prst="rect">
            <a:avLst/>
          </a:prstGeom>
          <a:noFill/>
        </p:spPr>
        <p:txBody>
          <a:bodyPr wrap="square">
            <a:spAutoFit/>
          </a:bodyPr>
          <a:lstStyle/>
          <a:p>
            <a:pPr algn="l"/>
            <a:r>
              <a:rPr sz="1100" b="1" spc="160">
                <a:solidFill>
                  <a:srgbClr val="22D3EE"/>
                </a:solidFill>
                <a:latin typeface="Aptos"/>
              </a:rPr>
              <a:t>FRONTEND</a:t>
            </a:r>
          </a:p>
        </p:txBody>
      </p:sp>
      <p:sp>
        <p:nvSpPr>
          <p:cNvPr id="11" name="TextBox 10"/>
          <p:cNvSpPr txBox="1"/>
          <p:nvPr/>
        </p:nvSpPr>
        <p:spPr>
          <a:xfrm>
            <a:off x="886968" y="2377439"/>
            <a:ext cx="2834640" cy="1417320"/>
          </a:xfrm>
          <a:prstGeom prst="rect">
            <a:avLst/>
          </a:prstGeom>
          <a:noFill/>
        </p:spPr>
        <p:txBody>
          <a:bodyPr wrap="square">
            <a:spAutoFit/>
          </a:bodyPr>
          <a:lstStyle/>
          <a:p>
            <a:pPr algn="l"/>
            <a:r>
              <a:rPr sz="1400" b="0">
                <a:solidFill>
                  <a:srgbClr val="F6F8FF"/>
                </a:solidFill>
                <a:latin typeface="Aptos"/>
              </a:rPr>
              <a:t>Next.js 14, TypeScript, TailwindCSS, shadcn/ui, Framer Motion, Embla, Three.js, React Three Fiber.</a:t>
            </a:r>
          </a:p>
        </p:txBody>
      </p:sp>
      <p:sp>
        <p:nvSpPr>
          <p:cNvPr id="12" name="Rounded Rectangle 11"/>
          <p:cNvSpPr/>
          <p:nvPr/>
        </p:nvSpPr>
        <p:spPr>
          <a:xfrm>
            <a:off x="4526280" y="1874519"/>
            <a:ext cx="3154680" cy="205740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1874519"/>
            <a:ext cx="73152" cy="20574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7448" y="2039112"/>
            <a:ext cx="2834640" cy="228600"/>
          </a:xfrm>
          <a:prstGeom prst="rect">
            <a:avLst/>
          </a:prstGeom>
          <a:noFill/>
        </p:spPr>
        <p:txBody>
          <a:bodyPr wrap="square">
            <a:spAutoFit/>
          </a:bodyPr>
          <a:lstStyle/>
          <a:p>
            <a:pPr algn="l"/>
            <a:r>
              <a:rPr sz="1100" b="1" spc="160">
                <a:solidFill>
                  <a:srgbClr val="EC4899"/>
                </a:solidFill>
                <a:latin typeface="Aptos"/>
              </a:rPr>
              <a:t>BACKEND API</a:t>
            </a:r>
          </a:p>
        </p:txBody>
      </p:sp>
      <p:sp>
        <p:nvSpPr>
          <p:cNvPr id="15" name="TextBox 14"/>
          <p:cNvSpPr txBox="1"/>
          <p:nvPr/>
        </p:nvSpPr>
        <p:spPr>
          <a:xfrm>
            <a:off x="4727448" y="2377439"/>
            <a:ext cx="2834640" cy="1417320"/>
          </a:xfrm>
          <a:prstGeom prst="rect">
            <a:avLst/>
          </a:prstGeom>
          <a:noFill/>
        </p:spPr>
        <p:txBody>
          <a:bodyPr wrap="square">
            <a:spAutoFit/>
          </a:bodyPr>
          <a:lstStyle/>
          <a:p>
            <a:pPr algn="l"/>
            <a:r>
              <a:rPr sz="1400" b="0">
                <a:solidFill>
                  <a:srgbClr val="F6F8FF"/>
                </a:solidFill>
                <a:latin typeface="Aptos"/>
              </a:rPr>
              <a:t>FastAPI async routes for search, transcripts, chunks, vectorstore, chat, agent, speech, evaluations, and analytics.</a:t>
            </a:r>
          </a:p>
        </p:txBody>
      </p:sp>
      <p:sp>
        <p:nvSpPr>
          <p:cNvPr id="16" name="Rounded Rectangle 15"/>
          <p:cNvSpPr/>
          <p:nvPr/>
        </p:nvSpPr>
        <p:spPr>
          <a:xfrm>
            <a:off x="8366760" y="1874519"/>
            <a:ext cx="3154680" cy="2057400"/>
          </a:xfrm>
          <a:prstGeom prst="roundRect">
            <a:avLst/>
          </a:prstGeom>
          <a:solidFill>
            <a:srgbClr val="10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66760" y="1874519"/>
            <a:ext cx="73152" cy="20574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67928" y="2039112"/>
            <a:ext cx="2834640" cy="228600"/>
          </a:xfrm>
          <a:prstGeom prst="rect">
            <a:avLst/>
          </a:prstGeom>
          <a:noFill/>
        </p:spPr>
        <p:txBody>
          <a:bodyPr wrap="square">
            <a:spAutoFit/>
          </a:bodyPr>
          <a:lstStyle/>
          <a:p>
            <a:pPr algn="l"/>
            <a:r>
              <a:rPr sz="1100" b="1" spc="160">
                <a:solidFill>
                  <a:srgbClr val="34D399"/>
                </a:solidFill>
                <a:latin typeface="Aptos"/>
              </a:rPr>
              <a:t>AI + DATA</a:t>
            </a:r>
          </a:p>
        </p:txBody>
      </p:sp>
      <p:sp>
        <p:nvSpPr>
          <p:cNvPr id="19" name="TextBox 18"/>
          <p:cNvSpPr txBox="1"/>
          <p:nvPr/>
        </p:nvSpPr>
        <p:spPr>
          <a:xfrm>
            <a:off x="8567928" y="2377439"/>
            <a:ext cx="2834640" cy="1417320"/>
          </a:xfrm>
          <a:prstGeom prst="rect">
            <a:avLst/>
          </a:prstGeom>
          <a:noFill/>
        </p:spPr>
        <p:txBody>
          <a:bodyPr wrap="square">
            <a:spAutoFit/>
          </a:bodyPr>
          <a:lstStyle/>
          <a:p>
            <a:pPr algn="l"/>
            <a:r>
              <a:rPr sz="1400" b="0">
                <a:solidFill>
                  <a:srgbClr val="F6F8FF"/>
                </a:solidFill>
                <a:latin typeface="Aptos"/>
              </a:rPr>
              <a:t>LangChain tools and agent, OpenAI models, ChromaDB vector storage, analytics DB, LangSmith tracing, Whisper fallback.</a:t>
            </a:r>
          </a:p>
        </p:txBody>
      </p:sp>
      <p:cxnSp>
        <p:nvCxnSpPr>
          <p:cNvPr id="20" name="Connector 19"/>
          <p:cNvCxnSpPr/>
          <p:nvPr/>
        </p:nvCxnSpPr>
        <p:spPr>
          <a:xfrm>
            <a:off x="3840480" y="2880360"/>
            <a:ext cx="640080"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80960" y="2880360"/>
            <a:ext cx="640080" cy="0"/>
          </a:xfrm>
          <a:prstGeom prst="line">
            <a:avLst/>
          </a:prstGeom>
          <a:ln w="25400">
            <a:solidFill>
              <a:srgbClr val="EC489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4892040"/>
            <a:ext cx="9875520" cy="411480"/>
          </a:xfrm>
          <a:prstGeom prst="rect">
            <a:avLst/>
          </a:prstGeom>
          <a:noFill/>
        </p:spPr>
        <p:txBody>
          <a:bodyPr wrap="square">
            <a:spAutoFit/>
          </a:bodyPr>
          <a:lstStyle/>
          <a:p>
            <a:pPr algn="l"/>
            <a:r>
              <a:rPr sz="1700" b="0">
                <a:solidFill>
                  <a:srgbClr val="94A3B8"/>
                </a:solidFill>
                <a:latin typeface="Aptos"/>
              </a:rPr>
              <a:t>Docker Compose runs frontend, backend, ChromaDB, and analytics storage together for local development and deployment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04 / INGESTION PIPELINE</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7680960" cy="548640"/>
          </a:xfrm>
          <a:prstGeom prst="rect">
            <a:avLst/>
          </a:prstGeom>
          <a:noFill/>
        </p:spPr>
        <p:txBody>
          <a:bodyPr wrap="square">
            <a:spAutoFit/>
          </a:bodyPr>
          <a:lstStyle/>
          <a:p>
            <a:pPr algn="l"/>
            <a:r>
              <a:rPr sz="3300" b="1">
                <a:solidFill>
                  <a:srgbClr val="F6F8FF"/>
                </a:solidFill>
                <a:latin typeface="Aptos"/>
              </a:rPr>
              <a:t>A YouTube video becomes retrieval-ready text.</a:t>
            </a:r>
          </a:p>
        </p:txBody>
      </p:sp>
      <p:sp>
        <p:nvSpPr>
          <p:cNvPr id="8" name="TextBox 7"/>
          <p:cNvSpPr txBox="1"/>
          <p:nvPr/>
        </p:nvSpPr>
        <p:spPr>
          <a:xfrm>
            <a:off x="777240" y="1828800"/>
            <a:ext cx="6035040" cy="3474720"/>
          </a:xfrm>
          <a:prstGeom prst="rect">
            <a:avLst/>
          </a:prstGeom>
          <a:noFill/>
        </p:spPr>
        <p:txBody>
          <a:bodyPr wrap="square">
            <a:spAutoFit/>
          </a:bodyPr>
          <a:lstStyle/>
          <a:p>
            <a:pPr>
              <a:lnSpc>
                <a:spcPct val="105000"/>
              </a:lnSpc>
              <a:spcAft>
                <a:spcPts val="800"/>
              </a:spcAft>
            </a:pPr>
            <a:r>
              <a:rPr sz="1700" b="1">
                <a:solidFill>
                  <a:srgbClr val="FBBF24"/>
                </a:solidFill>
                <a:latin typeface="Aptos"/>
              </a:rPr>
              <a:t>- </a:t>
            </a:r>
            <a:r>
              <a:rPr sz="1700">
                <a:solidFill>
                  <a:srgbClr val="F6F8FF"/>
                </a:solidFill>
                <a:latin typeface="Aptos"/>
              </a:rPr>
              <a:t>YouTube Data API retrieves metadata, thumbnails, duration, and channel information, then applies the selected length filter.</a:t>
            </a:r>
          </a:p>
          <a:p>
            <a:pPr>
              <a:lnSpc>
                <a:spcPct val="105000"/>
              </a:lnSpc>
              <a:spcAft>
                <a:spcPts val="800"/>
              </a:spcAft>
            </a:pPr>
            <a:r>
              <a:rPr sz="1700" b="1">
                <a:solidFill>
                  <a:srgbClr val="FBBF24"/>
                </a:solidFill>
                <a:latin typeface="Aptos"/>
              </a:rPr>
              <a:t>- </a:t>
            </a:r>
            <a:r>
              <a:rPr sz="1700">
                <a:solidFill>
                  <a:srgbClr val="F6F8FF"/>
                </a:solidFill>
                <a:latin typeface="Aptos"/>
              </a:rPr>
              <a:t>youtube-transcript-api is the primary source for public captions and timestamps.</a:t>
            </a:r>
          </a:p>
          <a:p>
            <a:pPr>
              <a:lnSpc>
                <a:spcPct val="105000"/>
              </a:lnSpc>
              <a:spcAft>
                <a:spcPts val="800"/>
              </a:spcAft>
            </a:pPr>
            <a:r>
              <a:rPr sz="1700" b="1">
                <a:solidFill>
                  <a:srgbClr val="FBBF24"/>
                </a:solidFill>
                <a:latin typeface="Aptos"/>
              </a:rPr>
              <a:t>- </a:t>
            </a:r>
            <a:r>
              <a:rPr sz="1700">
                <a:solidFill>
                  <a:srgbClr val="F6F8FF"/>
                </a:solidFill>
                <a:latin typeface="Aptos"/>
              </a:rPr>
              <a:t>Whisper is used only as a fallback when captions are unavailable and the deployment can safely fetch audio.</a:t>
            </a:r>
          </a:p>
          <a:p>
            <a:pPr>
              <a:lnSpc>
                <a:spcPct val="105000"/>
              </a:lnSpc>
              <a:spcAft>
                <a:spcPts val="800"/>
              </a:spcAft>
            </a:pPr>
            <a:r>
              <a:rPr sz="1700" b="1">
                <a:solidFill>
                  <a:srgbClr val="FBBF24"/>
                </a:solidFill>
                <a:latin typeface="Aptos"/>
              </a:rPr>
              <a:t>- </a:t>
            </a:r>
            <a:r>
              <a:rPr sz="1700">
                <a:solidFill>
                  <a:srgbClr val="F6F8FF"/>
                </a:solidFill>
                <a:latin typeface="Aptos"/>
              </a:rPr>
              <a:t>LangChain chunking keeps timestamp metadata attached to every chunk.</a:t>
            </a:r>
          </a:p>
          <a:p>
            <a:pPr>
              <a:lnSpc>
                <a:spcPct val="105000"/>
              </a:lnSpc>
              <a:spcAft>
                <a:spcPts val="800"/>
              </a:spcAft>
            </a:pPr>
            <a:r>
              <a:rPr sz="1700" b="1">
                <a:solidFill>
                  <a:srgbClr val="FBBF24"/>
                </a:solidFill>
                <a:latin typeface="Aptos"/>
              </a:rPr>
              <a:t>- </a:t>
            </a:r>
            <a:r>
              <a:rPr sz="1700">
                <a:solidFill>
                  <a:srgbClr val="F6F8FF"/>
                </a:solidFill>
                <a:latin typeface="Aptos"/>
              </a:rPr>
              <a:t>OpenAI embeddings are stored in ChromaDB for similarity search.</a:t>
            </a:r>
          </a:p>
        </p:txBody>
      </p:sp>
      <p:sp>
        <p:nvSpPr>
          <p:cNvPr id="9" name="Rounded Rectangle 8"/>
          <p:cNvSpPr/>
          <p:nvPr/>
        </p:nvSpPr>
        <p:spPr>
          <a:xfrm>
            <a:off x="7452360" y="1691640"/>
            <a:ext cx="3474720" cy="3429000"/>
          </a:xfrm>
          <a:prstGeom prst="roundRect">
            <a:avLst/>
          </a:prstGeom>
          <a:solidFill>
            <a:srgbClr val="10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2011680"/>
            <a:ext cx="2743200" cy="320040"/>
          </a:xfrm>
          <a:prstGeom prst="rect">
            <a:avLst/>
          </a:prstGeom>
          <a:noFill/>
        </p:spPr>
        <p:txBody>
          <a:bodyPr wrap="square">
            <a:spAutoFit/>
          </a:bodyPr>
          <a:lstStyle/>
          <a:p>
            <a:pPr algn="l"/>
            <a:r>
              <a:rPr sz="1500" b="1" spc="150">
                <a:solidFill>
                  <a:srgbClr val="FBBF24"/>
                </a:solidFill>
                <a:latin typeface="Aptos"/>
              </a:rPr>
              <a:t>STATUS STREAM</a:t>
            </a:r>
          </a:p>
        </p:txBody>
      </p:sp>
      <p:sp>
        <p:nvSpPr>
          <p:cNvPr id="11" name="TextBox 10"/>
          <p:cNvSpPr txBox="1"/>
          <p:nvPr/>
        </p:nvSpPr>
        <p:spPr>
          <a:xfrm>
            <a:off x="7772400" y="2514600"/>
            <a:ext cx="2651760" cy="2011680"/>
          </a:xfrm>
          <a:prstGeom prst="rect">
            <a:avLst/>
          </a:prstGeom>
          <a:noFill/>
        </p:spPr>
        <p:txBody>
          <a:bodyPr wrap="square">
            <a:spAutoFit/>
          </a:bodyPr>
          <a:lstStyle/>
          <a:p>
            <a:pPr algn="l"/>
            <a:r>
              <a:rPr sz="1900" b="0">
                <a:solidFill>
                  <a:srgbClr val="F6F8FF"/>
                </a:solidFill>
                <a:latin typeface="Aptos"/>
              </a:rPr>
              <a:t>metadata
transcript
chunking
embeddings
vector_storage
ready / error</a:t>
            </a:r>
          </a:p>
        </p:txBody>
      </p:sp>
      <p:sp>
        <p:nvSpPr>
          <p:cNvPr id="12" name="TextBox 11"/>
          <p:cNvSpPr txBox="1"/>
          <p:nvPr/>
        </p:nvSpPr>
        <p:spPr>
          <a:xfrm>
            <a:off x="7772400" y="4663440"/>
            <a:ext cx="2743200" cy="329184"/>
          </a:xfrm>
          <a:prstGeom prst="rect">
            <a:avLst/>
          </a:prstGeom>
          <a:noFill/>
        </p:spPr>
        <p:txBody>
          <a:bodyPr wrap="square">
            <a:spAutoFit/>
          </a:bodyPr>
          <a:lstStyle/>
          <a:p>
            <a:pPr algn="l"/>
            <a:r>
              <a:rPr sz="1100" b="0">
                <a:solidFill>
                  <a:srgbClr val="94A3B8"/>
                </a:solidFill>
                <a:latin typeface="Aptos"/>
              </a:rPr>
              <a:t>The processing screen reflects backend progress, not only decoration.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05 / LANGCHAIN AGENT</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8046720" cy="548640"/>
          </a:xfrm>
          <a:prstGeom prst="rect">
            <a:avLst/>
          </a:prstGeom>
          <a:noFill/>
        </p:spPr>
        <p:txBody>
          <a:bodyPr wrap="square">
            <a:spAutoFit/>
          </a:bodyPr>
          <a:lstStyle/>
          <a:p>
            <a:pPr algn="l"/>
            <a:r>
              <a:rPr sz="3300" b="1">
                <a:solidFill>
                  <a:srgbClr val="F6F8FF"/>
                </a:solidFill>
                <a:latin typeface="Aptos"/>
              </a:rPr>
              <a:t>The chatbot uses tools, not just a single prompt.</a:t>
            </a:r>
          </a:p>
        </p:txBody>
      </p:sp>
      <p:sp>
        <p:nvSpPr>
          <p:cNvPr id="8" name="TextBox 7"/>
          <p:cNvSpPr txBox="1"/>
          <p:nvPr/>
        </p:nvSpPr>
        <p:spPr>
          <a:xfrm>
            <a:off x="658368" y="1600200"/>
            <a:ext cx="9875520" cy="329184"/>
          </a:xfrm>
          <a:prstGeom prst="rect">
            <a:avLst/>
          </a:prstGeom>
          <a:noFill/>
        </p:spPr>
        <p:txBody>
          <a:bodyPr wrap="square">
            <a:spAutoFit/>
          </a:bodyPr>
          <a:lstStyle/>
          <a:p>
            <a:pPr algn="l"/>
            <a:r>
              <a:rPr sz="1600" b="0">
                <a:solidFill>
                  <a:srgbClr val="94A3B8"/>
                </a:solidFill>
                <a:latin typeface="Aptos"/>
              </a:rPr>
              <a:t>AgentService binds StructuredTool objects to the LLM and returns answer, citations, tool steps, and session_id.</a:t>
            </a:r>
          </a:p>
        </p:txBody>
      </p:sp>
      <p:sp>
        <p:nvSpPr>
          <p:cNvPr id="9" name="Rounded Rectangle 8"/>
          <p:cNvSpPr/>
          <p:nvPr/>
        </p:nvSpPr>
        <p:spPr>
          <a:xfrm>
            <a:off x="777240" y="2148840"/>
            <a:ext cx="2880360" cy="438912"/>
          </a:xfrm>
          <a:prstGeom prst="roundRect">
            <a:avLst/>
          </a:prstGeom>
          <a:solidFill>
            <a:srgbClr val="181F3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258568"/>
            <a:ext cx="2514600" cy="201168"/>
          </a:xfrm>
          <a:prstGeom prst="rect">
            <a:avLst/>
          </a:prstGeom>
          <a:noFill/>
        </p:spPr>
        <p:txBody>
          <a:bodyPr wrap="square">
            <a:spAutoFit/>
          </a:bodyPr>
          <a:lstStyle/>
          <a:p>
            <a:pPr algn="l"/>
            <a:r>
              <a:rPr sz="1200" b="1">
                <a:solidFill>
                  <a:srgbClr val="F6F8FF"/>
                </a:solidFill>
                <a:latin typeface="Aptos"/>
              </a:rPr>
              <a:t>search_youtube_videos</a:t>
            </a:r>
          </a:p>
        </p:txBody>
      </p:sp>
      <p:sp>
        <p:nvSpPr>
          <p:cNvPr id="11" name="Rounded Rectangle 10"/>
          <p:cNvSpPr/>
          <p:nvPr/>
        </p:nvSpPr>
        <p:spPr>
          <a:xfrm>
            <a:off x="4023359" y="2148840"/>
            <a:ext cx="2880360" cy="438912"/>
          </a:xfrm>
          <a:prstGeom prst="roundRect">
            <a:avLst/>
          </a:prstGeom>
          <a:solidFill>
            <a:srgbClr val="181F34"/>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2258568"/>
            <a:ext cx="2514600" cy="201168"/>
          </a:xfrm>
          <a:prstGeom prst="rect">
            <a:avLst/>
          </a:prstGeom>
          <a:noFill/>
        </p:spPr>
        <p:txBody>
          <a:bodyPr wrap="square">
            <a:spAutoFit/>
          </a:bodyPr>
          <a:lstStyle/>
          <a:p>
            <a:pPr algn="l"/>
            <a:r>
              <a:rPr sz="1200" b="1">
                <a:solidFill>
                  <a:srgbClr val="F6F8FF"/>
                </a:solidFill>
                <a:latin typeface="Aptos"/>
              </a:rPr>
              <a:t>extract_transcript</a:t>
            </a:r>
          </a:p>
        </p:txBody>
      </p:sp>
      <p:sp>
        <p:nvSpPr>
          <p:cNvPr id="13" name="Rounded Rectangle 12"/>
          <p:cNvSpPr/>
          <p:nvPr/>
        </p:nvSpPr>
        <p:spPr>
          <a:xfrm>
            <a:off x="777240" y="2807208"/>
            <a:ext cx="2880360" cy="438912"/>
          </a:xfrm>
          <a:prstGeom prst="roundRect">
            <a:avLst/>
          </a:prstGeom>
          <a:solidFill>
            <a:srgbClr val="181F34"/>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916936"/>
            <a:ext cx="2514600" cy="201168"/>
          </a:xfrm>
          <a:prstGeom prst="rect">
            <a:avLst/>
          </a:prstGeom>
          <a:noFill/>
        </p:spPr>
        <p:txBody>
          <a:bodyPr wrap="square">
            <a:spAutoFit/>
          </a:bodyPr>
          <a:lstStyle/>
          <a:p>
            <a:pPr algn="l"/>
            <a:r>
              <a:rPr sz="1200" b="1">
                <a:solidFill>
                  <a:srgbClr val="F6F8FF"/>
                </a:solidFill>
                <a:latin typeface="Aptos"/>
              </a:rPr>
              <a:t>chunk_transcript</a:t>
            </a:r>
          </a:p>
        </p:txBody>
      </p:sp>
      <p:sp>
        <p:nvSpPr>
          <p:cNvPr id="15" name="Rounded Rectangle 14"/>
          <p:cNvSpPr/>
          <p:nvPr/>
        </p:nvSpPr>
        <p:spPr>
          <a:xfrm>
            <a:off x="4023359" y="2807208"/>
            <a:ext cx="2880360" cy="438912"/>
          </a:xfrm>
          <a:prstGeom prst="roundRect">
            <a:avLst/>
          </a:prstGeom>
          <a:solidFill>
            <a:srgbClr val="181F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2916936"/>
            <a:ext cx="2514600" cy="201168"/>
          </a:xfrm>
          <a:prstGeom prst="rect">
            <a:avLst/>
          </a:prstGeom>
          <a:noFill/>
        </p:spPr>
        <p:txBody>
          <a:bodyPr wrap="square">
            <a:spAutoFit/>
          </a:bodyPr>
          <a:lstStyle/>
          <a:p>
            <a:pPr algn="l"/>
            <a:r>
              <a:rPr sz="1200" b="1">
                <a:solidFill>
                  <a:srgbClr val="F6F8FF"/>
                </a:solidFill>
                <a:latin typeface="Aptos"/>
              </a:rPr>
              <a:t>store_video_vectors</a:t>
            </a:r>
          </a:p>
        </p:txBody>
      </p:sp>
      <p:sp>
        <p:nvSpPr>
          <p:cNvPr id="17" name="Rounded Rectangle 16"/>
          <p:cNvSpPr/>
          <p:nvPr/>
        </p:nvSpPr>
        <p:spPr>
          <a:xfrm>
            <a:off x="777240" y="3465576"/>
            <a:ext cx="2880360" cy="438912"/>
          </a:xfrm>
          <a:prstGeom prst="roundRect">
            <a:avLst/>
          </a:prstGeom>
          <a:solidFill>
            <a:srgbClr val="181F34"/>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575304"/>
            <a:ext cx="2514600" cy="201168"/>
          </a:xfrm>
          <a:prstGeom prst="rect">
            <a:avLst/>
          </a:prstGeom>
          <a:noFill/>
        </p:spPr>
        <p:txBody>
          <a:bodyPr wrap="square">
            <a:spAutoFit/>
          </a:bodyPr>
          <a:lstStyle/>
          <a:p>
            <a:pPr algn="l"/>
            <a:r>
              <a:rPr sz="1200" b="1">
                <a:solidFill>
                  <a:srgbClr val="F6F8FF"/>
                </a:solidFill>
                <a:latin typeface="Aptos"/>
              </a:rPr>
              <a:t>ingest_video</a:t>
            </a:r>
          </a:p>
        </p:txBody>
      </p:sp>
      <p:sp>
        <p:nvSpPr>
          <p:cNvPr id="19" name="Rounded Rectangle 18"/>
          <p:cNvSpPr/>
          <p:nvPr/>
        </p:nvSpPr>
        <p:spPr>
          <a:xfrm>
            <a:off x="4023359" y="3465576"/>
            <a:ext cx="2880360" cy="438912"/>
          </a:xfrm>
          <a:prstGeom prst="roundRect">
            <a:avLst/>
          </a:prstGeom>
          <a:solidFill>
            <a:srgbClr val="181F3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3575304"/>
            <a:ext cx="2514600" cy="201168"/>
          </a:xfrm>
          <a:prstGeom prst="rect">
            <a:avLst/>
          </a:prstGeom>
          <a:noFill/>
        </p:spPr>
        <p:txBody>
          <a:bodyPr wrap="square">
            <a:spAutoFit/>
          </a:bodyPr>
          <a:lstStyle/>
          <a:p>
            <a:pPr algn="l"/>
            <a:r>
              <a:rPr sz="1200" b="1">
                <a:solidFill>
                  <a:srgbClr val="F6F8FF"/>
                </a:solidFill>
                <a:latin typeface="Aptos"/>
              </a:rPr>
              <a:t>retrieve_context</a:t>
            </a:r>
          </a:p>
        </p:txBody>
      </p:sp>
      <p:sp>
        <p:nvSpPr>
          <p:cNvPr id="21" name="Rounded Rectangle 20"/>
          <p:cNvSpPr/>
          <p:nvPr/>
        </p:nvSpPr>
        <p:spPr>
          <a:xfrm>
            <a:off x="777240" y="4123944"/>
            <a:ext cx="2880360" cy="438912"/>
          </a:xfrm>
          <a:prstGeom prst="roundRect">
            <a:avLst/>
          </a:prstGeom>
          <a:solidFill>
            <a:srgbClr val="181F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233672"/>
            <a:ext cx="2514600" cy="201168"/>
          </a:xfrm>
          <a:prstGeom prst="rect">
            <a:avLst/>
          </a:prstGeom>
          <a:noFill/>
        </p:spPr>
        <p:txBody>
          <a:bodyPr wrap="square">
            <a:spAutoFit/>
          </a:bodyPr>
          <a:lstStyle/>
          <a:p>
            <a:pPr algn="l"/>
            <a:r>
              <a:rPr sz="1200" b="1">
                <a:solidFill>
                  <a:srgbClr val="F6F8FF"/>
                </a:solidFill>
                <a:latin typeface="Aptos"/>
              </a:rPr>
              <a:t>answer_question</a:t>
            </a:r>
          </a:p>
        </p:txBody>
      </p:sp>
      <p:sp>
        <p:nvSpPr>
          <p:cNvPr id="23" name="Rounded Rectangle 22"/>
          <p:cNvSpPr/>
          <p:nvPr/>
        </p:nvSpPr>
        <p:spPr>
          <a:xfrm>
            <a:off x="7452360" y="2148840"/>
            <a:ext cx="3520440" cy="205740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2148840"/>
            <a:ext cx="73152" cy="20574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53528" y="2313432"/>
            <a:ext cx="3200400" cy="228600"/>
          </a:xfrm>
          <a:prstGeom prst="rect">
            <a:avLst/>
          </a:prstGeom>
          <a:noFill/>
        </p:spPr>
        <p:txBody>
          <a:bodyPr wrap="square">
            <a:spAutoFit/>
          </a:bodyPr>
          <a:lstStyle/>
          <a:p>
            <a:pPr algn="l"/>
            <a:r>
              <a:rPr sz="1100" b="1" spc="160">
                <a:solidFill>
                  <a:srgbClr val="EC4899"/>
                </a:solidFill>
                <a:latin typeface="Aptos"/>
              </a:rPr>
              <a:t>GUARDRAILS</a:t>
            </a:r>
          </a:p>
        </p:txBody>
      </p:sp>
      <p:sp>
        <p:nvSpPr>
          <p:cNvPr id="26" name="TextBox 25"/>
          <p:cNvSpPr txBox="1"/>
          <p:nvPr/>
        </p:nvSpPr>
        <p:spPr>
          <a:xfrm>
            <a:off x="7653528" y="2651760"/>
            <a:ext cx="3200400" cy="1417320"/>
          </a:xfrm>
          <a:prstGeom prst="rect">
            <a:avLst/>
          </a:prstGeom>
          <a:noFill/>
        </p:spPr>
        <p:txBody>
          <a:bodyPr wrap="square">
            <a:spAutoFit/>
          </a:bodyPr>
          <a:lstStyle/>
          <a:p>
            <a:pPr algn="l"/>
            <a:r>
              <a:rPr sz="1400" b="0">
                <a:solidFill>
                  <a:srgbClr val="F6F8FF"/>
                </a:solidFill>
                <a:latin typeface="Aptos"/>
              </a:rPr>
              <a:t>The final answer must use answer_question, stay transcript-only, and include timestamp citations. Off-topic questions should be refused.</a:t>
            </a:r>
          </a:p>
        </p:txBody>
      </p:sp>
      <p:sp>
        <p:nvSpPr>
          <p:cNvPr id="27" name="Rounded Rectangle 26"/>
          <p:cNvSpPr/>
          <p:nvPr/>
        </p:nvSpPr>
        <p:spPr>
          <a:xfrm>
            <a:off x="7452360" y="4434840"/>
            <a:ext cx="3520440" cy="105156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52360" y="4434840"/>
            <a:ext cx="73152" cy="1051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53528" y="4599431"/>
            <a:ext cx="3200400" cy="228600"/>
          </a:xfrm>
          <a:prstGeom prst="rect">
            <a:avLst/>
          </a:prstGeom>
          <a:noFill/>
        </p:spPr>
        <p:txBody>
          <a:bodyPr wrap="square">
            <a:spAutoFit/>
          </a:bodyPr>
          <a:lstStyle/>
          <a:p>
            <a:pPr algn="l"/>
            <a:r>
              <a:rPr sz="1100" b="1" spc="160">
                <a:solidFill>
                  <a:srgbClr val="22D3EE"/>
                </a:solidFill>
                <a:latin typeface="Aptos"/>
              </a:rPr>
              <a:t>MEMORY</a:t>
            </a:r>
          </a:p>
        </p:txBody>
      </p:sp>
      <p:sp>
        <p:nvSpPr>
          <p:cNvPr id="30" name="TextBox 29"/>
          <p:cNvSpPr txBox="1"/>
          <p:nvPr/>
        </p:nvSpPr>
        <p:spPr>
          <a:xfrm>
            <a:off x="7653528" y="4937759"/>
            <a:ext cx="3200400" cy="411479"/>
          </a:xfrm>
          <a:prstGeom prst="rect">
            <a:avLst/>
          </a:prstGeom>
          <a:noFill/>
        </p:spPr>
        <p:txBody>
          <a:bodyPr wrap="square">
            <a:spAutoFit/>
          </a:bodyPr>
          <a:lstStyle/>
          <a:p>
            <a:pPr algn="l"/>
            <a:r>
              <a:rPr sz="1400" b="0">
                <a:solidFill>
                  <a:srgbClr val="F6F8FF"/>
                </a:solidFill>
                <a:latin typeface="Aptos"/>
              </a:rPr>
              <a:t>ConversationMemoryService keeps session-based history so follow-up questions remain coherent.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06 / RAG ANSWERING</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7589520" cy="548640"/>
          </a:xfrm>
          <a:prstGeom prst="rect">
            <a:avLst/>
          </a:prstGeom>
          <a:noFill/>
        </p:spPr>
        <p:txBody>
          <a:bodyPr wrap="square">
            <a:spAutoFit/>
          </a:bodyPr>
          <a:lstStyle/>
          <a:p>
            <a:pPr algn="l"/>
            <a:r>
              <a:rPr sz="3300" b="1">
                <a:solidFill>
                  <a:srgbClr val="F6F8FF"/>
                </a:solidFill>
                <a:latin typeface="Aptos"/>
              </a:rPr>
              <a:t>Answers are grounded in transcript evidence.</a:t>
            </a:r>
          </a:p>
        </p:txBody>
      </p:sp>
      <p:sp>
        <p:nvSpPr>
          <p:cNvPr id="8" name="Rounded Rectangle 7"/>
          <p:cNvSpPr/>
          <p:nvPr/>
        </p:nvSpPr>
        <p:spPr>
          <a:xfrm>
            <a:off x="777240" y="2011680"/>
            <a:ext cx="2057400" cy="1325880"/>
          </a:xfrm>
          <a:prstGeom prst="roundRect">
            <a:avLst/>
          </a:prstGeom>
          <a:solidFill>
            <a:srgbClr val="181F3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41832" y="2176272"/>
            <a:ext cx="384048" cy="384048"/>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2258568"/>
            <a:ext cx="182880" cy="182880"/>
          </a:xfrm>
          <a:prstGeom prst="rect">
            <a:avLst/>
          </a:prstGeom>
          <a:noFill/>
        </p:spPr>
        <p:txBody>
          <a:bodyPr wrap="square">
            <a:spAutoFit/>
          </a:bodyPr>
          <a:lstStyle/>
          <a:p>
            <a:pPr algn="ctr"/>
            <a:r>
              <a:rPr sz="1200" b="1">
                <a:solidFill>
                  <a:srgbClr val="05070D"/>
                </a:solidFill>
                <a:latin typeface="Aptos"/>
              </a:rPr>
              <a:t>1</a:t>
            </a:r>
          </a:p>
        </p:txBody>
      </p:sp>
      <p:sp>
        <p:nvSpPr>
          <p:cNvPr id="11" name="TextBox 10"/>
          <p:cNvSpPr txBox="1"/>
          <p:nvPr/>
        </p:nvSpPr>
        <p:spPr>
          <a:xfrm>
            <a:off x="1435607" y="2194560"/>
            <a:ext cx="1234440" cy="228600"/>
          </a:xfrm>
          <a:prstGeom prst="rect">
            <a:avLst/>
          </a:prstGeom>
          <a:noFill/>
        </p:spPr>
        <p:txBody>
          <a:bodyPr wrap="square">
            <a:spAutoFit/>
          </a:bodyPr>
          <a:lstStyle/>
          <a:p>
            <a:pPr algn="l"/>
            <a:r>
              <a:rPr sz="1200" b="1">
                <a:solidFill>
                  <a:srgbClr val="F6F8FF"/>
                </a:solidFill>
                <a:latin typeface="Aptos"/>
              </a:rPr>
              <a:t>Retrieve</a:t>
            </a:r>
          </a:p>
        </p:txBody>
      </p:sp>
      <p:sp>
        <p:nvSpPr>
          <p:cNvPr id="12" name="TextBox 11"/>
          <p:cNvSpPr txBox="1"/>
          <p:nvPr/>
        </p:nvSpPr>
        <p:spPr>
          <a:xfrm>
            <a:off x="960120" y="2670048"/>
            <a:ext cx="1691640" cy="411480"/>
          </a:xfrm>
          <a:prstGeom prst="rect">
            <a:avLst/>
          </a:prstGeom>
          <a:noFill/>
        </p:spPr>
        <p:txBody>
          <a:bodyPr wrap="square">
            <a:spAutoFit/>
          </a:bodyPr>
          <a:lstStyle/>
          <a:p>
            <a:pPr algn="l"/>
            <a:r>
              <a:rPr sz="1000" b="0">
                <a:solidFill>
                  <a:srgbClr val="94A3B8"/>
                </a:solidFill>
                <a:latin typeface="Aptos"/>
              </a:rPr>
              <a:t>ChromaDB returns top transcript chunks.</a:t>
            </a:r>
          </a:p>
        </p:txBody>
      </p:sp>
      <p:sp>
        <p:nvSpPr>
          <p:cNvPr id="13" name="Rounded Rectangle 12"/>
          <p:cNvSpPr/>
          <p:nvPr/>
        </p:nvSpPr>
        <p:spPr>
          <a:xfrm>
            <a:off x="3246120" y="2011680"/>
            <a:ext cx="2057400" cy="1325880"/>
          </a:xfrm>
          <a:prstGeom prst="roundRect">
            <a:avLst/>
          </a:prstGeom>
          <a:solidFill>
            <a:srgbClr val="181F34"/>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2" y="2176272"/>
            <a:ext cx="384048" cy="38404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296" y="2258568"/>
            <a:ext cx="182880" cy="182880"/>
          </a:xfrm>
          <a:prstGeom prst="rect">
            <a:avLst/>
          </a:prstGeom>
          <a:noFill/>
        </p:spPr>
        <p:txBody>
          <a:bodyPr wrap="square">
            <a:spAutoFit/>
          </a:bodyPr>
          <a:lstStyle/>
          <a:p>
            <a:pPr algn="ctr"/>
            <a:r>
              <a:rPr sz="1200" b="1">
                <a:solidFill>
                  <a:srgbClr val="05070D"/>
                </a:solidFill>
                <a:latin typeface="Aptos"/>
              </a:rPr>
              <a:t>2</a:t>
            </a:r>
          </a:p>
        </p:txBody>
      </p:sp>
      <p:sp>
        <p:nvSpPr>
          <p:cNvPr id="16" name="TextBox 15"/>
          <p:cNvSpPr txBox="1"/>
          <p:nvPr/>
        </p:nvSpPr>
        <p:spPr>
          <a:xfrm>
            <a:off x="3904487" y="2194560"/>
            <a:ext cx="1234440" cy="228600"/>
          </a:xfrm>
          <a:prstGeom prst="rect">
            <a:avLst/>
          </a:prstGeom>
          <a:noFill/>
        </p:spPr>
        <p:txBody>
          <a:bodyPr wrap="square">
            <a:spAutoFit/>
          </a:bodyPr>
          <a:lstStyle/>
          <a:p>
            <a:pPr algn="l"/>
            <a:r>
              <a:rPr sz="1200" b="1">
                <a:solidFill>
                  <a:srgbClr val="F6F8FF"/>
                </a:solidFill>
                <a:latin typeface="Aptos"/>
              </a:rPr>
              <a:t>Inject</a:t>
            </a:r>
          </a:p>
        </p:txBody>
      </p:sp>
      <p:sp>
        <p:nvSpPr>
          <p:cNvPr id="17" name="TextBox 16"/>
          <p:cNvSpPr txBox="1"/>
          <p:nvPr/>
        </p:nvSpPr>
        <p:spPr>
          <a:xfrm>
            <a:off x="3429000" y="2670048"/>
            <a:ext cx="1691640" cy="411480"/>
          </a:xfrm>
          <a:prstGeom prst="rect">
            <a:avLst/>
          </a:prstGeom>
          <a:noFill/>
        </p:spPr>
        <p:txBody>
          <a:bodyPr wrap="square">
            <a:spAutoFit/>
          </a:bodyPr>
          <a:lstStyle/>
          <a:p>
            <a:pPr algn="l"/>
            <a:r>
              <a:rPr sz="1000" b="0">
                <a:solidFill>
                  <a:srgbClr val="94A3B8"/>
                </a:solidFill>
                <a:latin typeface="Aptos"/>
              </a:rPr>
              <a:t>Prompt receives context, memory, and rules.</a:t>
            </a:r>
          </a:p>
        </p:txBody>
      </p:sp>
      <p:sp>
        <p:nvSpPr>
          <p:cNvPr id="18" name="Rounded Rectangle 17"/>
          <p:cNvSpPr/>
          <p:nvPr/>
        </p:nvSpPr>
        <p:spPr>
          <a:xfrm>
            <a:off x="5715000" y="2011680"/>
            <a:ext cx="2057400" cy="1325880"/>
          </a:xfrm>
          <a:prstGeom prst="roundRect">
            <a:avLst/>
          </a:prstGeom>
          <a:solidFill>
            <a:srgbClr val="181F34"/>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79592" y="2176272"/>
            <a:ext cx="384048" cy="384048"/>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258568"/>
            <a:ext cx="182880" cy="182880"/>
          </a:xfrm>
          <a:prstGeom prst="rect">
            <a:avLst/>
          </a:prstGeom>
          <a:noFill/>
        </p:spPr>
        <p:txBody>
          <a:bodyPr wrap="square">
            <a:spAutoFit/>
          </a:bodyPr>
          <a:lstStyle/>
          <a:p>
            <a:pPr algn="ctr"/>
            <a:r>
              <a:rPr sz="1200" b="1">
                <a:solidFill>
                  <a:srgbClr val="05070D"/>
                </a:solidFill>
                <a:latin typeface="Aptos"/>
              </a:rPr>
              <a:t>3</a:t>
            </a:r>
          </a:p>
        </p:txBody>
      </p:sp>
      <p:sp>
        <p:nvSpPr>
          <p:cNvPr id="21" name="TextBox 20"/>
          <p:cNvSpPr txBox="1"/>
          <p:nvPr/>
        </p:nvSpPr>
        <p:spPr>
          <a:xfrm>
            <a:off x="6373368" y="2194560"/>
            <a:ext cx="1234440" cy="228600"/>
          </a:xfrm>
          <a:prstGeom prst="rect">
            <a:avLst/>
          </a:prstGeom>
          <a:noFill/>
        </p:spPr>
        <p:txBody>
          <a:bodyPr wrap="square">
            <a:spAutoFit/>
          </a:bodyPr>
          <a:lstStyle/>
          <a:p>
            <a:pPr algn="l"/>
            <a:r>
              <a:rPr sz="1200" b="1">
                <a:solidFill>
                  <a:srgbClr val="F6F8FF"/>
                </a:solidFill>
                <a:latin typeface="Aptos"/>
              </a:rPr>
              <a:t>Generate</a:t>
            </a:r>
          </a:p>
        </p:txBody>
      </p:sp>
      <p:sp>
        <p:nvSpPr>
          <p:cNvPr id="22" name="TextBox 21"/>
          <p:cNvSpPr txBox="1"/>
          <p:nvPr/>
        </p:nvSpPr>
        <p:spPr>
          <a:xfrm>
            <a:off x="5897880" y="2670048"/>
            <a:ext cx="1691640" cy="411480"/>
          </a:xfrm>
          <a:prstGeom prst="rect">
            <a:avLst/>
          </a:prstGeom>
          <a:noFill/>
        </p:spPr>
        <p:txBody>
          <a:bodyPr wrap="square">
            <a:spAutoFit/>
          </a:bodyPr>
          <a:lstStyle/>
          <a:p>
            <a:pPr algn="l"/>
            <a:r>
              <a:rPr sz="1000" b="0">
                <a:solidFill>
                  <a:srgbClr val="94A3B8"/>
                </a:solidFill>
                <a:latin typeface="Aptos"/>
              </a:rPr>
              <a:t>GPT-4o-mini writes from retrieved context.</a:t>
            </a:r>
          </a:p>
        </p:txBody>
      </p:sp>
      <p:sp>
        <p:nvSpPr>
          <p:cNvPr id="23" name="Rounded Rectangle 22"/>
          <p:cNvSpPr/>
          <p:nvPr/>
        </p:nvSpPr>
        <p:spPr>
          <a:xfrm>
            <a:off x="8183879" y="2011680"/>
            <a:ext cx="2057400" cy="1325880"/>
          </a:xfrm>
          <a:prstGeom prst="roundRect">
            <a:avLst/>
          </a:prstGeom>
          <a:solidFill>
            <a:srgbClr val="181F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48471" y="2176272"/>
            <a:ext cx="384048" cy="384048"/>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9055" y="2258568"/>
            <a:ext cx="182880" cy="182880"/>
          </a:xfrm>
          <a:prstGeom prst="rect">
            <a:avLst/>
          </a:prstGeom>
          <a:noFill/>
        </p:spPr>
        <p:txBody>
          <a:bodyPr wrap="square">
            <a:spAutoFit/>
          </a:bodyPr>
          <a:lstStyle/>
          <a:p>
            <a:pPr algn="ctr"/>
            <a:r>
              <a:rPr sz="1200" b="1">
                <a:solidFill>
                  <a:srgbClr val="05070D"/>
                </a:solidFill>
                <a:latin typeface="Aptos"/>
              </a:rPr>
              <a:t>4</a:t>
            </a:r>
          </a:p>
        </p:txBody>
      </p:sp>
      <p:sp>
        <p:nvSpPr>
          <p:cNvPr id="26" name="TextBox 25"/>
          <p:cNvSpPr txBox="1"/>
          <p:nvPr/>
        </p:nvSpPr>
        <p:spPr>
          <a:xfrm>
            <a:off x="8842248" y="2194560"/>
            <a:ext cx="1234440" cy="228600"/>
          </a:xfrm>
          <a:prstGeom prst="rect">
            <a:avLst/>
          </a:prstGeom>
          <a:noFill/>
        </p:spPr>
        <p:txBody>
          <a:bodyPr wrap="square">
            <a:spAutoFit/>
          </a:bodyPr>
          <a:lstStyle/>
          <a:p>
            <a:pPr algn="l"/>
            <a:r>
              <a:rPr sz="1200" b="1">
                <a:solidFill>
                  <a:srgbClr val="F6F8FF"/>
                </a:solidFill>
                <a:latin typeface="Aptos"/>
              </a:rPr>
              <a:t>Cite</a:t>
            </a:r>
          </a:p>
        </p:txBody>
      </p:sp>
      <p:sp>
        <p:nvSpPr>
          <p:cNvPr id="27" name="TextBox 26"/>
          <p:cNvSpPr txBox="1"/>
          <p:nvPr/>
        </p:nvSpPr>
        <p:spPr>
          <a:xfrm>
            <a:off x="8366759" y="2670048"/>
            <a:ext cx="1691640" cy="411480"/>
          </a:xfrm>
          <a:prstGeom prst="rect">
            <a:avLst/>
          </a:prstGeom>
          <a:noFill/>
        </p:spPr>
        <p:txBody>
          <a:bodyPr wrap="square">
            <a:spAutoFit/>
          </a:bodyPr>
          <a:lstStyle/>
          <a:p>
            <a:pPr algn="l"/>
            <a:r>
              <a:rPr sz="1000" b="0">
                <a:solidFill>
                  <a:srgbClr val="94A3B8"/>
                </a:solidFill>
                <a:latin typeface="Aptos"/>
              </a:rPr>
              <a:t>Timestamp chips point to source moments.</a:t>
            </a:r>
          </a:p>
        </p:txBody>
      </p:sp>
      <p:cxnSp>
        <p:nvCxnSpPr>
          <p:cNvPr id="28" name="Connector 27"/>
          <p:cNvCxnSpPr/>
          <p:nvPr/>
        </p:nvCxnSpPr>
        <p:spPr>
          <a:xfrm>
            <a:off x="2971800" y="267004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40680" y="267004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09560" y="2670048"/>
            <a:ext cx="20116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 y="4800600"/>
            <a:ext cx="9875520" cy="457200"/>
          </a:xfrm>
          <a:prstGeom prst="rect">
            <a:avLst/>
          </a:prstGeom>
          <a:noFill/>
        </p:spPr>
        <p:txBody>
          <a:bodyPr wrap="square">
            <a:spAutoFit/>
          </a:bodyPr>
          <a:lstStyle/>
          <a:p>
            <a:pPr algn="l"/>
            <a:r>
              <a:rPr sz="1800" b="0">
                <a:solidFill>
                  <a:srgbClr val="94A3B8"/>
                </a:solidFill>
                <a:latin typeface="Aptos"/>
              </a:rPr>
              <a:t>If the transcript does not contain the answer, the system says it cannot answer from the video. This is the main anti-hallucination behavior.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07 / VOICE + CINEMATIC UX</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8686800" cy="548640"/>
          </a:xfrm>
          <a:prstGeom prst="rect">
            <a:avLst/>
          </a:prstGeom>
          <a:noFill/>
        </p:spPr>
        <p:txBody>
          <a:bodyPr wrap="square">
            <a:spAutoFit/>
          </a:bodyPr>
          <a:lstStyle/>
          <a:p>
            <a:pPr algn="l"/>
            <a:r>
              <a:rPr sz="3200" b="1">
                <a:solidFill>
                  <a:srgbClr val="F6F8FF"/>
                </a:solidFill>
                <a:latin typeface="Aptos"/>
              </a:rPr>
              <a:t>The interface feels like a learning product, not a backend demo.</a:t>
            </a:r>
          </a:p>
        </p:txBody>
      </p:sp>
      <p:sp>
        <p:nvSpPr>
          <p:cNvPr id="8" name="Rounded Rectangle 7"/>
          <p:cNvSpPr/>
          <p:nvPr/>
        </p:nvSpPr>
        <p:spPr>
          <a:xfrm>
            <a:off x="685800" y="1920240"/>
            <a:ext cx="3337560" cy="182880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1828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84832"/>
            <a:ext cx="3017520" cy="228600"/>
          </a:xfrm>
          <a:prstGeom prst="rect">
            <a:avLst/>
          </a:prstGeom>
          <a:noFill/>
        </p:spPr>
        <p:txBody>
          <a:bodyPr wrap="square">
            <a:spAutoFit/>
          </a:bodyPr>
          <a:lstStyle/>
          <a:p>
            <a:pPr algn="l"/>
            <a:r>
              <a:rPr sz="1100" b="1" spc="160">
                <a:solidFill>
                  <a:srgbClr val="22D3EE"/>
                </a:solidFill>
                <a:latin typeface="Aptos"/>
              </a:rPr>
              <a:t>VOICE SEARCH</a:t>
            </a:r>
          </a:p>
        </p:txBody>
      </p:sp>
      <p:sp>
        <p:nvSpPr>
          <p:cNvPr id="11" name="TextBox 10"/>
          <p:cNvSpPr txBox="1"/>
          <p:nvPr/>
        </p:nvSpPr>
        <p:spPr>
          <a:xfrm>
            <a:off x="886968" y="2423160"/>
            <a:ext cx="3017520" cy="1188720"/>
          </a:xfrm>
          <a:prstGeom prst="rect">
            <a:avLst/>
          </a:prstGeom>
          <a:noFill/>
        </p:spPr>
        <p:txBody>
          <a:bodyPr wrap="square">
            <a:spAutoFit/>
          </a:bodyPr>
          <a:lstStyle/>
          <a:p>
            <a:pPr algn="l"/>
            <a:r>
              <a:rPr sz="1400" b="0">
                <a:solidFill>
                  <a:srgbClr val="F6F8FF"/>
                </a:solidFill>
                <a:latin typeface="Aptos"/>
              </a:rPr>
              <a:t>Browser Web Speech API captures live dictation with waveform feedback. If it fails, MediaRecorder sends audio to /api/speech/transcribe.</a:t>
            </a:r>
          </a:p>
        </p:txBody>
      </p:sp>
      <p:sp>
        <p:nvSpPr>
          <p:cNvPr id="12" name="Rounded Rectangle 11"/>
          <p:cNvSpPr/>
          <p:nvPr/>
        </p:nvSpPr>
        <p:spPr>
          <a:xfrm>
            <a:off x="4434840" y="1920240"/>
            <a:ext cx="3337560" cy="1828800"/>
          </a:xfrm>
          <a:prstGeom prst="roundRect">
            <a:avLst/>
          </a:prstGeom>
          <a:solidFill>
            <a:srgbClr val="10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920240"/>
            <a:ext cx="73152" cy="1828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7" y="2084832"/>
            <a:ext cx="3017520" cy="228600"/>
          </a:xfrm>
          <a:prstGeom prst="rect">
            <a:avLst/>
          </a:prstGeom>
          <a:noFill/>
        </p:spPr>
        <p:txBody>
          <a:bodyPr wrap="square">
            <a:spAutoFit/>
          </a:bodyPr>
          <a:lstStyle/>
          <a:p>
            <a:pPr algn="l"/>
            <a:r>
              <a:rPr sz="1100" b="1" spc="160">
                <a:solidFill>
                  <a:srgbClr val="8B5CF6"/>
                </a:solidFill>
                <a:latin typeface="Aptos"/>
              </a:rPr>
              <a:t>ASSISTANT</a:t>
            </a:r>
          </a:p>
        </p:txBody>
      </p:sp>
      <p:sp>
        <p:nvSpPr>
          <p:cNvPr id="15" name="TextBox 14"/>
          <p:cNvSpPr txBox="1"/>
          <p:nvPr/>
        </p:nvSpPr>
        <p:spPr>
          <a:xfrm>
            <a:off x="4636007" y="2423160"/>
            <a:ext cx="3017520" cy="1188720"/>
          </a:xfrm>
          <a:prstGeom prst="rect">
            <a:avLst/>
          </a:prstGeom>
          <a:noFill/>
        </p:spPr>
        <p:txBody>
          <a:bodyPr wrap="square">
            <a:spAutoFit/>
          </a:bodyPr>
          <a:lstStyle/>
          <a:p>
            <a:pPr algn="l"/>
            <a:r>
              <a:rPr sz="1400" b="0">
                <a:solidFill>
                  <a:srgbClr val="F6F8FF"/>
                </a:solidFill>
                <a:latin typeface="Aptos"/>
              </a:rPr>
              <a:t>A floating 3D robot moves through the journey, speaks short guidance, and opens a compact transcript-grounded chat.</a:t>
            </a:r>
          </a:p>
        </p:txBody>
      </p:sp>
      <p:sp>
        <p:nvSpPr>
          <p:cNvPr id="16" name="Rounded Rectangle 15"/>
          <p:cNvSpPr/>
          <p:nvPr/>
        </p:nvSpPr>
        <p:spPr>
          <a:xfrm>
            <a:off x="8183879" y="1920240"/>
            <a:ext cx="3337560" cy="1828800"/>
          </a:xfrm>
          <a:prstGeom prst="roundRect">
            <a:avLst/>
          </a:prstGeom>
          <a:solidFill>
            <a:srgbClr val="10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920240"/>
            <a:ext cx="73152" cy="18288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2084832"/>
            <a:ext cx="3017520" cy="228600"/>
          </a:xfrm>
          <a:prstGeom prst="rect">
            <a:avLst/>
          </a:prstGeom>
          <a:noFill/>
        </p:spPr>
        <p:txBody>
          <a:bodyPr wrap="square">
            <a:spAutoFit/>
          </a:bodyPr>
          <a:lstStyle/>
          <a:p>
            <a:pPr algn="l"/>
            <a:r>
              <a:rPr sz="1100" b="1" spc="160">
                <a:solidFill>
                  <a:srgbClr val="34D399"/>
                </a:solidFill>
                <a:latin typeface="Aptos"/>
              </a:rPr>
              <a:t>ACCESSIBILITY</a:t>
            </a:r>
          </a:p>
        </p:txBody>
      </p:sp>
      <p:sp>
        <p:nvSpPr>
          <p:cNvPr id="19" name="TextBox 18"/>
          <p:cNvSpPr txBox="1"/>
          <p:nvPr/>
        </p:nvSpPr>
        <p:spPr>
          <a:xfrm>
            <a:off x="8385048" y="2423160"/>
            <a:ext cx="3017520" cy="1188720"/>
          </a:xfrm>
          <a:prstGeom prst="rect">
            <a:avLst/>
          </a:prstGeom>
          <a:noFill/>
        </p:spPr>
        <p:txBody>
          <a:bodyPr wrap="square">
            <a:spAutoFit/>
          </a:bodyPr>
          <a:lstStyle/>
          <a:p>
            <a:pPr algn="l"/>
            <a:r>
              <a:rPr sz="1400" b="0">
                <a:solidFill>
                  <a:srgbClr val="F6F8FF"/>
                </a:solidFill>
                <a:latin typeface="Aptos"/>
              </a:rPr>
              <a:t>Semantic labels, visible focus states, reduced-motion handling, screen-reader status messages, and touch-friendly layouts.</a:t>
            </a:r>
          </a:p>
        </p:txBody>
      </p:sp>
      <p:sp>
        <p:nvSpPr>
          <p:cNvPr id="20" name="TextBox 19"/>
          <p:cNvSpPr txBox="1"/>
          <p:nvPr/>
        </p:nvSpPr>
        <p:spPr>
          <a:xfrm>
            <a:off x="868680" y="4800600"/>
            <a:ext cx="9875520" cy="457200"/>
          </a:xfrm>
          <a:prstGeom prst="rect">
            <a:avLst/>
          </a:prstGeom>
          <a:noFill/>
        </p:spPr>
        <p:txBody>
          <a:bodyPr wrap="square">
            <a:spAutoFit/>
          </a:bodyPr>
          <a:lstStyle/>
          <a:p>
            <a:pPr algn="l"/>
            <a:r>
              <a:rPr sz="1800" b="0">
                <a:solidFill>
                  <a:srgbClr val="94A3B8"/>
                </a:solidFill>
                <a:latin typeface="Aptos"/>
              </a:rPr>
              <a:t>Extra polish: loading skeletons, retry states, TTS answer playback, responsive stacking, and collapsible evidence panels.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08 / ANALYTICS + OBSERVABILITY</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7680960" cy="548640"/>
          </a:xfrm>
          <a:prstGeom prst="rect">
            <a:avLst/>
          </a:prstGeom>
          <a:noFill/>
        </p:spPr>
        <p:txBody>
          <a:bodyPr wrap="square">
            <a:spAutoFit/>
          </a:bodyPr>
          <a:lstStyle/>
          <a:p>
            <a:pPr algn="l"/>
            <a:r>
              <a:rPr sz="3300" b="1">
                <a:solidFill>
                  <a:srgbClr val="F6F8FF"/>
                </a:solidFill>
                <a:latin typeface="Aptos"/>
              </a:rPr>
              <a:t>The platform is measurable, not just usable.</a:t>
            </a:r>
          </a:p>
        </p:txBody>
      </p:sp>
      <p:sp>
        <p:nvSpPr>
          <p:cNvPr id="8" name="TextBox 7"/>
          <p:cNvSpPr txBox="1"/>
          <p:nvPr/>
        </p:nvSpPr>
        <p:spPr>
          <a:xfrm>
            <a:off x="658368" y="1600200"/>
            <a:ext cx="9692640" cy="329184"/>
          </a:xfrm>
          <a:prstGeom prst="rect">
            <a:avLst/>
          </a:prstGeom>
          <a:noFill/>
        </p:spPr>
        <p:txBody>
          <a:bodyPr wrap="square">
            <a:spAutoFit/>
          </a:bodyPr>
          <a:lstStyle/>
          <a:p>
            <a:pPr algn="l"/>
            <a:r>
              <a:rPr sz="1600" b="0">
                <a:solidFill>
                  <a:srgbClr val="94A3B8"/>
                </a:solidFill>
                <a:latin typeface="Aptos"/>
              </a:rPr>
              <a:t>AskTube tracks product usage, RAG quality, pipeline performance, UX behaviour, and operational health.</a:t>
            </a:r>
          </a:p>
        </p:txBody>
      </p:sp>
      <p:sp>
        <p:nvSpPr>
          <p:cNvPr id="9" name="Rounded Rectangle 8"/>
          <p:cNvSpPr/>
          <p:nvPr/>
        </p:nvSpPr>
        <p:spPr>
          <a:xfrm>
            <a:off x="685800" y="2148840"/>
            <a:ext cx="3246120" cy="169164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148840"/>
            <a:ext cx="73152" cy="16916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313432"/>
            <a:ext cx="2926079" cy="228600"/>
          </a:xfrm>
          <a:prstGeom prst="rect">
            <a:avLst/>
          </a:prstGeom>
          <a:noFill/>
        </p:spPr>
        <p:txBody>
          <a:bodyPr wrap="square">
            <a:spAutoFit/>
          </a:bodyPr>
          <a:lstStyle/>
          <a:p>
            <a:pPr algn="l"/>
            <a:r>
              <a:rPr sz="1100" b="1" spc="160">
                <a:solidFill>
                  <a:srgbClr val="22D3EE"/>
                </a:solidFill>
                <a:latin typeface="Aptos"/>
              </a:rPr>
              <a:t>PRODUCT + UX</a:t>
            </a:r>
          </a:p>
        </p:txBody>
      </p:sp>
      <p:sp>
        <p:nvSpPr>
          <p:cNvPr id="12" name="TextBox 11"/>
          <p:cNvSpPr txBox="1"/>
          <p:nvPr/>
        </p:nvSpPr>
        <p:spPr>
          <a:xfrm>
            <a:off x="886968" y="2651760"/>
            <a:ext cx="2926079" cy="1051560"/>
          </a:xfrm>
          <a:prstGeom prst="rect">
            <a:avLst/>
          </a:prstGeom>
          <a:noFill/>
        </p:spPr>
        <p:txBody>
          <a:bodyPr wrap="square">
            <a:spAutoFit/>
          </a:bodyPr>
          <a:lstStyle/>
          <a:p>
            <a:pPr algn="l"/>
            <a:r>
              <a:rPr sz="1400" b="0">
                <a:solidFill>
                  <a:srgbClr val="F6F8FF"/>
                </a:solidFill>
                <a:latin typeface="Aptos"/>
              </a:rPr>
              <a:t>search_submitted, video_selected, voice_search_completed, suggested_prompt_clicked, timestamp_clicked, 3d_chatbot_interacted.</a:t>
            </a:r>
          </a:p>
        </p:txBody>
      </p:sp>
      <p:sp>
        <p:nvSpPr>
          <p:cNvPr id="13" name="Rounded Rectangle 12"/>
          <p:cNvSpPr/>
          <p:nvPr/>
        </p:nvSpPr>
        <p:spPr>
          <a:xfrm>
            <a:off x="4160520" y="2148840"/>
            <a:ext cx="3246120" cy="169164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148840"/>
            <a:ext cx="73152" cy="169164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2313432"/>
            <a:ext cx="2926079" cy="228600"/>
          </a:xfrm>
          <a:prstGeom prst="rect">
            <a:avLst/>
          </a:prstGeom>
          <a:noFill/>
        </p:spPr>
        <p:txBody>
          <a:bodyPr wrap="square">
            <a:spAutoFit/>
          </a:bodyPr>
          <a:lstStyle/>
          <a:p>
            <a:pPr algn="l"/>
            <a:r>
              <a:rPr sz="1100" b="1" spc="160">
                <a:solidFill>
                  <a:srgbClr val="EC4899"/>
                </a:solidFill>
                <a:latin typeface="Aptos"/>
              </a:rPr>
              <a:t>AI / RAG</a:t>
            </a:r>
          </a:p>
        </p:txBody>
      </p:sp>
      <p:sp>
        <p:nvSpPr>
          <p:cNvPr id="16" name="TextBox 15"/>
          <p:cNvSpPr txBox="1"/>
          <p:nvPr/>
        </p:nvSpPr>
        <p:spPr>
          <a:xfrm>
            <a:off x="4361688" y="2651760"/>
            <a:ext cx="2926079" cy="1051560"/>
          </a:xfrm>
          <a:prstGeom prst="rect">
            <a:avLst/>
          </a:prstGeom>
          <a:noFill/>
        </p:spPr>
        <p:txBody>
          <a:bodyPr wrap="square">
            <a:spAutoFit/>
          </a:bodyPr>
          <a:lstStyle/>
          <a:p>
            <a:pPr algn="l"/>
            <a:r>
              <a:rPr sz="1400" b="0">
                <a:solidFill>
                  <a:srgbClr val="F6F8FF"/>
                </a:solidFill>
                <a:latin typeface="Aptos"/>
              </a:rPr>
              <a:t>retrieval latency, generation latency, chunks retrieved, token estimates, citation coverage, hallucination warnings.</a:t>
            </a:r>
          </a:p>
        </p:txBody>
      </p:sp>
      <p:sp>
        <p:nvSpPr>
          <p:cNvPr id="17" name="Rounded Rectangle 16"/>
          <p:cNvSpPr/>
          <p:nvPr/>
        </p:nvSpPr>
        <p:spPr>
          <a:xfrm>
            <a:off x="7635240" y="2148840"/>
            <a:ext cx="3246120" cy="1691640"/>
          </a:xfrm>
          <a:prstGeom prst="roundRect">
            <a:avLst/>
          </a:prstGeom>
          <a:solidFill>
            <a:srgbClr val="10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35240" y="2148840"/>
            <a:ext cx="73152" cy="16916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2313432"/>
            <a:ext cx="2926079" cy="228600"/>
          </a:xfrm>
          <a:prstGeom prst="rect">
            <a:avLst/>
          </a:prstGeom>
          <a:noFill/>
        </p:spPr>
        <p:txBody>
          <a:bodyPr wrap="square">
            <a:spAutoFit/>
          </a:bodyPr>
          <a:lstStyle/>
          <a:p>
            <a:pPr algn="l"/>
            <a:r>
              <a:rPr sz="1100" b="1" spc="160">
                <a:solidFill>
                  <a:srgbClr val="FBBF24"/>
                </a:solidFill>
                <a:latin typeface="Aptos"/>
              </a:rPr>
              <a:t>PIPELINE</a:t>
            </a:r>
          </a:p>
        </p:txBody>
      </p:sp>
      <p:sp>
        <p:nvSpPr>
          <p:cNvPr id="20" name="TextBox 19"/>
          <p:cNvSpPr txBox="1"/>
          <p:nvPr/>
        </p:nvSpPr>
        <p:spPr>
          <a:xfrm>
            <a:off x="7836408" y="2651760"/>
            <a:ext cx="2926079" cy="1051560"/>
          </a:xfrm>
          <a:prstGeom prst="rect">
            <a:avLst/>
          </a:prstGeom>
          <a:noFill/>
        </p:spPr>
        <p:txBody>
          <a:bodyPr wrap="square">
            <a:spAutoFit/>
          </a:bodyPr>
          <a:lstStyle/>
          <a:p>
            <a:pPr algn="l"/>
            <a:r>
              <a:rPr sz="1400" b="0">
                <a:solidFill>
                  <a:srgbClr val="F6F8FF"/>
                </a:solidFill>
                <a:latin typeface="Aptos"/>
              </a:rPr>
              <a:t>transcript time, embedding duration, vector insert/query timing, chunk count, processing duration, Whisper fallback usage.</a:t>
            </a:r>
          </a:p>
        </p:txBody>
      </p:sp>
      <p:sp>
        <p:nvSpPr>
          <p:cNvPr id="21" name="Rounded Rectangle 20"/>
          <p:cNvSpPr/>
          <p:nvPr/>
        </p:nvSpPr>
        <p:spPr>
          <a:xfrm>
            <a:off x="777240" y="4434840"/>
            <a:ext cx="4800600" cy="777240"/>
          </a:xfrm>
          <a:prstGeom prst="roundRect">
            <a:avLst/>
          </a:prstGeom>
          <a:solidFill>
            <a:srgbClr val="10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608576"/>
            <a:ext cx="1600200" cy="256032"/>
          </a:xfrm>
          <a:prstGeom prst="rect">
            <a:avLst/>
          </a:prstGeom>
          <a:noFill/>
        </p:spPr>
        <p:txBody>
          <a:bodyPr wrap="square">
            <a:spAutoFit/>
          </a:bodyPr>
          <a:lstStyle/>
          <a:p>
            <a:pPr algn="l"/>
            <a:r>
              <a:rPr sz="1900" b="1">
                <a:solidFill>
                  <a:srgbClr val="34D399"/>
                </a:solidFill>
                <a:latin typeface="Aptos"/>
              </a:rPr>
              <a:t>/analytics</a:t>
            </a:r>
          </a:p>
        </p:txBody>
      </p:sp>
      <p:sp>
        <p:nvSpPr>
          <p:cNvPr id="23" name="TextBox 22"/>
          <p:cNvSpPr txBox="1"/>
          <p:nvPr/>
        </p:nvSpPr>
        <p:spPr>
          <a:xfrm>
            <a:off x="2651760" y="4617720"/>
            <a:ext cx="2743200" cy="256032"/>
          </a:xfrm>
          <a:prstGeom prst="rect">
            <a:avLst/>
          </a:prstGeom>
          <a:noFill/>
        </p:spPr>
        <p:txBody>
          <a:bodyPr wrap="square">
            <a:spAutoFit/>
          </a:bodyPr>
          <a:lstStyle/>
          <a:p>
            <a:pPr algn="l"/>
            <a:r>
              <a:rPr sz="1200" b="0">
                <a:solidFill>
                  <a:srgbClr val="F6F8FF"/>
                </a:solidFill>
                <a:latin typeface="Aptos"/>
              </a:rPr>
              <a:t>Next.js dashboard with overview, AI, pipeline, UX, business metrics, and recent events.</a:t>
            </a:r>
          </a:p>
        </p:txBody>
      </p:sp>
      <p:sp>
        <p:nvSpPr>
          <p:cNvPr id="24" name="Rounded Rectangle 23"/>
          <p:cNvSpPr/>
          <p:nvPr/>
        </p:nvSpPr>
        <p:spPr>
          <a:xfrm>
            <a:off x="5989320" y="4434840"/>
            <a:ext cx="4800600" cy="77724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4608576"/>
            <a:ext cx="1600200" cy="256032"/>
          </a:xfrm>
          <a:prstGeom prst="rect">
            <a:avLst/>
          </a:prstGeom>
          <a:noFill/>
        </p:spPr>
        <p:txBody>
          <a:bodyPr wrap="square">
            <a:spAutoFit/>
          </a:bodyPr>
          <a:lstStyle/>
          <a:p>
            <a:pPr algn="l"/>
            <a:r>
              <a:rPr sz="1900" b="1">
                <a:solidFill>
                  <a:srgbClr val="22D3EE"/>
                </a:solidFill>
                <a:latin typeface="Aptos"/>
              </a:rPr>
              <a:t>/metrics</a:t>
            </a:r>
          </a:p>
        </p:txBody>
      </p:sp>
      <p:sp>
        <p:nvSpPr>
          <p:cNvPr id="26" name="TextBox 25"/>
          <p:cNvSpPr txBox="1"/>
          <p:nvPr/>
        </p:nvSpPr>
        <p:spPr>
          <a:xfrm>
            <a:off x="7863840" y="4617720"/>
            <a:ext cx="2743200" cy="256032"/>
          </a:xfrm>
          <a:prstGeom prst="rect">
            <a:avLst/>
          </a:prstGeom>
          <a:noFill/>
        </p:spPr>
        <p:txBody>
          <a:bodyPr wrap="square">
            <a:spAutoFit/>
          </a:bodyPr>
          <a:lstStyle/>
          <a:p>
            <a:pPr algn="l"/>
            <a:r>
              <a:rPr sz="1200" b="0">
                <a:solidFill>
                  <a:srgbClr val="F6F8FF"/>
                </a:solidFill>
                <a:latin typeface="Aptos"/>
              </a:rPr>
              <a:t>Prometheus metrics for HTTP latency, RAG, embeddings, vector search, processing, and WebSockets.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09 / TESTING + EVALUATION</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8046720" cy="548640"/>
          </a:xfrm>
          <a:prstGeom prst="rect">
            <a:avLst/>
          </a:prstGeom>
          <a:noFill/>
        </p:spPr>
        <p:txBody>
          <a:bodyPr wrap="square">
            <a:spAutoFit/>
          </a:bodyPr>
          <a:lstStyle/>
          <a:p>
            <a:pPr algn="l"/>
            <a:r>
              <a:rPr sz="3300" b="1">
                <a:solidFill>
                  <a:srgbClr val="F6F8FF"/>
                </a:solidFill>
                <a:latin typeface="Aptos"/>
              </a:rPr>
              <a:t>The project is testable, explainable, and demo-ready.</a:t>
            </a:r>
          </a:p>
        </p:txBody>
      </p:sp>
      <p:sp>
        <p:nvSpPr>
          <p:cNvPr id="8" name="TextBox 7"/>
          <p:cNvSpPr txBox="1"/>
          <p:nvPr/>
        </p:nvSpPr>
        <p:spPr>
          <a:xfrm>
            <a:off x="822960" y="1965960"/>
            <a:ext cx="1828800" cy="594360"/>
          </a:xfrm>
          <a:prstGeom prst="rect">
            <a:avLst/>
          </a:prstGeom>
          <a:noFill/>
        </p:spPr>
        <p:txBody>
          <a:bodyPr wrap="square">
            <a:spAutoFit/>
          </a:bodyPr>
          <a:lstStyle/>
          <a:p>
            <a:pPr algn="l"/>
            <a:r>
              <a:rPr sz="3600" b="1">
                <a:solidFill>
                  <a:srgbClr val="22D3EE"/>
                </a:solidFill>
                <a:latin typeface="Aptos"/>
              </a:rPr>
              <a:t>98</a:t>
            </a:r>
          </a:p>
        </p:txBody>
      </p:sp>
      <p:sp>
        <p:nvSpPr>
          <p:cNvPr id="9" name="TextBox 8"/>
          <p:cNvSpPr txBox="1"/>
          <p:nvPr/>
        </p:nvSpPr>
        <p:spPr>
          <a:xfrm>
            <a:off x="822960" y="2532888"/>
            <a:ext cx="1828800" cy="320040"/>
          </a:xfrm>
          <a:prstGeom prst="rect">
            <a:avLst/>
          </a:prstGeom>
          <a:noFill/>
        </p:spPr>
        <p:txBody>
          <a:bodyPr wrap="square">
            <a:spAutoFit/>
          </a:bodyPr>
          <a:lstStyle/>
          <a:p>
            <a:pPr algn="l"/>
            <a:r>
              <a:rPr sz="1100" b="1" spc="140">
                <a:solidFill>
                  <a:srgbClr val="94A3B8"/>
                </a:solidFill>
                <a:latin typeface="Aptos"/>
              </a:rPr>
              <a:t>PYTEST TESTS</a:t>
            </a:r>
          </a:p>
        </p:txBody>
      </p:sp>
      <p:sp>
        <p:nvSpPr>
          <p:cNvPr id="10" name="TextBox 9"/>
          <p:cNvSpPr txBox="1"/>
          <p:nvPr/>
        </p:nvSpPr>
        <p:spPr>
          <a:xfrm>
            <a:off x="3063240" y="1965960"/>
            <a:ext cx="2011680" cy="594360"/>
          </a:xfrm>
          <a:prstGeom prst="rect">
            <a:avLst/>
          </a:prstGeom>
          <a:noFill/>
        </p:spPr>
        <p:txBody>
          <a:bodyPr wrap="square">
            <a:spAutoFit/>
          </a:bodyPr>
          <a:lstStyle/>
          <a:p>
            <a:pPr algn="l"/>
            <a:r>
              <a:rPr sz="3600" b="1">
                <a:solidFill>
                  <a:srgbClr val="EC4899"/>
                </a:solidFill>
                <a:latin typeface="Aptos"/>
              </a:rPr>
              <a:t>17</a:t>
            </a:r>
          </a:p>
        </p:txBody>
      </p:sp>
      <p:sp>
        <p:nvSpPr>
          <p:cNvPr id="11" name="TextBox 10"/>
          <p:cNvSpPr txBox="1"/>
          <p:nvPr/>
        </p:nvSpPr>
        <p:spPr>
          <a:xfrm>
            <a:off x="3063240" y="2532888"/>
            <a:ext cx="2011680" cy="320040"/>
          </a:xfrm>
          <a:prstGeom prst="rect">
            <a:avLst/>
          </a:prstGeom>
          <a:noFill/>
        </p:spPr>
        <p:txBody>
          <a:bodyPr wrap="square">
            <a:spAutoFit/>
          </a:bodyPr>
          <a:lstStyle/>
          <a:p>
            <a:pPr algn="l"/>
            <a:r>
              <a:rPr sz="1100" b="1" spc="140">
                <a:solidFill>
                  <a:srgbClr val="94A3B8"/>
                </a:solidFill>
                <a:latin typeface="Aptos"/>
              </a:rPr>
              <a:t>RAG EVAL CASES</a:t>
            </a:r>
          </a:p>
        </p:txBody>
      </p:sp>
      <p:sp>
        <p:nvSpPr>
          <p:cNvPr id="12" name="TextBox 11"/>
          <p:cNvSpPr txBox="1"/>
          <p:nvPr/>
        </p:nvSpPr>
        <p:spPr>
          <a:xfrm>
            <a:off x="5486400" y="1965960"/>
            <a:ext cx="2011680" cy="594360"/>
          </a:xfrm>
          <a:prstGeom prst="rect">
            <a:avLst/>
          </a:prstGeom>
          <a:noFill/>
        </p:spPr>
        <p:txBody>
          <a:bodyPr wrap="square">
            <a:spAutoFit/>
          </a:bodyPr>
          <a:lstStyle/>
          <a:p>
            <a:pPr algn="l"/>
            <a:r>
              <a:rPr sz="3600" b="1">
                <a:solidFill>
                  <a:srgbClr val="34D399"/>
                </a:solidFill>
                <a:latin typeface="Aptos"/>
              </a:rPr>
              <a:t>0</a:t>
            </a:r>
          </a:p>
        </p:txBody>
      </p:sp>
      <p:sp>
        <p:nvSpPr>
          <p:cNvPr id="13" name="TextBox 12"/>
          <p:cNvSpPr txBox="1"/>
          <p:nvPr/>
        </p:nvSpPr>
        <p:spPr>
          <a:xfrm>
            <a:off x="5486400" y="2532888"/>
            <a:ext cx="2011680" cy="320040"/>
          </a:xfrm>
          <a:prstGeom prst="rect">
            <a:avLst/>
          </a:prstGeom>
          <a:noFill/>
        </p:spPr>
        <p:txBody>
          <a:bodyPr wrap="square">
            <a:spAutoFit/>
          </a:bodyPr>
          <a:lstStyle/>
          <a:p>
            <a:pPr algn="l"/>
            <a:r>
              <a:rPr sz="1100" b="1" spc="140">
                <a:solidFill>
                  <a:srgbClr val="94A3B8"/>
                </a:solidFill>
                <a:latin typeface="Aptos"/>
              </a:rPr>
              <a:t>BEHAVIORAL FAILS</a:t>
            </a:r>
          </a:p>
        </p:txBody>
      </p:sp>
      <p:sp>
        <p:nvSpPr>
          <p:cNvPr id="14" name="TextBox 13"/>
          <p:cNvSpPr txBox="1"/>
          <p:nvPr/>
        </p:nvSpPr>
        <p:spPr>
          <a:xfrm>
            <a:off x="7726679" y="1965960"/>
            <a:ext cx="2011680" cy="594360"/>
          </a:xfrm>
          <a:prstGeom prst="rect">
            <a:avLst/>
          </a:prstGeom>
          <a:noFill/>
        </p:spPr>
        <p:txBody>
          <a:bodyPr wrap="square">
            <a:spAutoFit/>
          </a:bodyPr>
          <a:lstStyle/>
          <a:p>
            <a:pPr algn="l"/>
            <a:r>
              <a:rPr sz="3600" b="1">
                <a:solidFill>
                  <a:srgbClr val="FBBF24"/>
                </a:solidFill>
                <a:latin typeface="Aptos"/>
              </a:rPr>
              <a:t>3</a:t>
            </a:r>
          </a:p>
        </p:txBody>
      </p:sp>
      <p:sp>
        <p:nvSpPr>
          <p:cNvPr id="15" name="TextBox 14"/>
          <p:cNvSpPr txBox="1"/>
          <p:nvPr/>
        </p:nvSpPr>
        <p:spPr>
          <a:xfrm>
            <a:off x="7726679" y="2532888"/>
            <a:ext cx="2011680" cy="320040"/>
          </a:xfrm>
          <a:prstGeom prst="rect">
            <a:avLst/>
          </a:prstGeom>
          <a:noFill/>
        </p:spPr>
        <p:txBody>
          <a:bodyPr wrap="square">
            <a:spAutoFit/>
          </a:bodyPr>
          <a:lstStyle/>
          <a:p>
            <a:pPr algn="l"/>
            <a:r>
              <a:rPr sz="1100" b="1" spc="140">
                <a:solidFill>
                  <a:srgbClr val="94A3B8"/>
                </a:solidFill>
                <a:latin typeface="Aptos"/>
              </a:rPr>
              <a:t>DOCKER SERVICES</a:t>
            </a:r>
          </a:p>
        </p:txBody>
      </p:sp>
      <p:sp>
        <p:nvSpPr>
          <p:cNvPr id="16" name="TextBox 15"/>
          <p:cNvSpPr txBox="1"/>
          <p:nvPr/>
        </p:nvSpPr>
        <p:spPr>
          <a:xfrm>
            <a:off x="868680" y="3794760"/>
            <a:ext cx="10424160" cy="1600200"/>
          </a:xfrm>
          <a:prstGeom prst="rect">
            <a:avLst/>
          </a:prstGeom>
          <a:noFill/>
        </p:spPr>
        <p:txBody>
          <a:bodyPr wrap="square">
            <a:spAutoFit/>
          </a:bodyPr>
          <a:lstStyle/>
          <a:p>
            <a:pPr>
              <a:lnSpc>
                <a:spcPct val="105000"/>
              </a:lnSpc>
              <a:spcAft>
                <a:spcPts val="800"/>
              </a:spcAft>
            </a:pPr>
            <a:r>
              <a:rPr sz="1500" b="1">
                <a:solidFill>
                  <a:srgbClr val="34D399"/>
                </a:solidFill>
                <a:latin typeface="Aptos"/>
              </a:rPr>
              <a:t>- </a:t>
            </a:r>
            <a:r>
              <a:rPr sz="1500">
                <a:solidFill>
                  <a:srgbClr val="F6F8FF"/>
                </a:solidFill>
                <a:latin typeface="Aptos"/>
              </a:rPr>
              <a:t>Coverage includes routes, services, tools, WebSocket ingest, speech transcription, and RAG behavior.</a:t>
            </a:r>
          </a:p>
          <a:p>
            <a:pPr>
              <a:lnSpc>
                <a:spcPct val="105000"/>
              </a:lnSpc>
              <a:spcAft>
                <a:spcPts val="800"/>
              </a:spcAft>
            </a:pPr>
            <a:r>
              <a:rPr sz="1500" b="1">
                <a:solidFill>
                  <a:srgbClr val="34D399"/>
                </a:solidFill>
                <a:latin typeface="Aptos"/>
              </a:rPr>
              <a:t>- </a:t>
            </a:r>
            <a:r>
              <a:rPr sz="1500">
                <a:solidFill>
                  <a:srgbClr val="F6F8FF"/>
                </a:solidFill>
                <a:latin typeface="Aptos"/>
              </a:rPr>
              <a:t>Evaluation cases test answerable questions, refusals, citation accuracy, summaries, memory, and hallucination prevention.</a:t>
            </a:r>
          </a:p>
          <a:p>
            <a:pPr>
              <a:lnSpc>
                <a:spcPct val="105000"/>
              </a:lnSpc>
              <a:spcAft>
                <a:spcPts val="800"/>
              </a:spcAft>
            </a:pPr>
            <a:r>
              <a:rPr sz="1500" b="1">
                <a:solidFill>
                  <a:srgbClr val="34D399"/>
                </a:solidFill>
                <a:latin typeface="Aptos"/>
              </a:rPr>
              <a:t>- </a:t>
            </a:r>
            <a:r>
              <a:rPr sz="1500">
                <a:solidFill>
                  <a:srgbClr val="F6F8FF"/>
                </a:solidFill>
                <a:latin typeface="Aptos"/>
              </a:rPr>
              <a:t>LangSmith tracing can inspect latency, context, answer quality, and chain behavior.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7132320" cy="320040"/>
          </a:xfrm>
          <a:prstGeom prst="rect">
            <a:avLst/>
          </a:prstGeom>
          <a:noFill/>
        </p:spPr>
        <p:txBody>
          <a:bodyPr wrap="square">
            <a:spAutoFit/>
          </a:bodyPr>
          <a:lstStyle/>
          <a:p>
            <a:pPr algn="l"/>
            <a:r>
              <a:rPr sz="1100" b="1" spc="220">
                <a:solidFill>
                  <a:srgbClr val="94A3B8"/>
                </a:solidFill>
                <a:latin typeface="Aptos"/>
              </a:rPr>
              <a:t>10 / LIVE DEMO</a:t>
            </a:r>
          </a:p>
        </p:txBody>
      </p:sp>
      <p:cxnSp>
        <p:nvCxnSpPr>
          <p:cNvPr id="6" name="Connector 5"/>
          <p:cNvCxnSpPr/>
          <p:nvPr/>
        </p:nvCxnSpPr>
        <p:spPr>
          <a:xfrm>
            <a:off x="502920" y="749808"/>
            <a:ext cx="10652760"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896112"/>
            <a:ext cx="8046720" cy="548640"/>
          </a:xfrm>
          <a:prstGeom prst="rect">
            <a:avLst/>
          </a:prstGeom>
          <a:noFill/>
        </p:spPr>
        <p:txBody>
          <a:bodyPr wrap="square">
            <a:spAutoFit/>
          </a:bodyPr>
          <a:lstStyle/>
          <a:p>
            <a:pPr algn="l"/>
            <a:r>
              <a:rPr sz="3300" b="1">
                <a:solidFill>
                  <a:srgbClr val="F6F8FF"/>
                </a:solidFill>
                <a:latin typeface="Aptos"/>
              </a:rPr>
              <a:t>Demo path: search, prepare, ask, verify.</a:t>
            </a:r>
          </a:p>
        </p:txBody>
      </p:sp>
      <p:sp>
        <p:nvSpPr>
          <p:cNvPr id="8" name="TextBox 7"/>
          <p:cNvSpPr txBox="1"/>
          <p:nvPr/>
        </p:nvSpPr>
        <p:spPr>
          <a:xfrm>
            <a:off x="868680" y="1828800"/>
            <a:ext cx="5577840" cy="3931920"/>
          </a:xfrm>
          <a:prstGeom prst="rect">
            <a:avLst/>
          </a:prstGeom>
          <a:noFill/>
        </p:spPr>
        <p:txBody>
          <a:bodyPr wrap="square">
            <a:spAutoFit/>
          </a:bodyPr>
          <a:lstStyle/>
          <a:p>
            <a:pPr>
              <a:lnSpc>
                <a:spcPct val="105000"/>
              </a:lnSpc>
              <a:spcAft>
                <a:spcPts val="800"/>
              </a:spcAft>
            </a:pPr>
            <a:r>
              <a:rPr sz="1700" b="1">
                <a:solidFill>
                  <a:srgbClr val="22D3EE"/>
                </a:solidFill>
                <a:latin typeface="Aptos"/>
              </a:rPr>
              <a:t>- </a:t>
            </a:r>
            <a:r>
              <a:rPr sz="1700">
                <a:solidFill>
                  <a:srgbClr val="F6F8FF"/>
                </a:solidFill>
                <a:latin typeface="Aptos"/>
              </a:rPr>
              <a:t>Live app: http://18.157.233.122:3001/ (EC2 deployment with Webshare proxy)</a:t>
            </a:r>
          </a:p>
          <a:p>
            <a:pPr>
              <a:lnSpc>
                <a:spcPct val="105000"/>
              </a:lnSpc>
              <a:spcAft>
                <a:spcPts val="800"/>
              </a:spcAft>
            </a:pPr>
            <a:r>
              <a:rPr sz="1700" b="1">
                <a:solidFill>
                  <a:srgbClr val="22D3EE"/>
                </a:solidFill>
                <a:latin typeface="Aptos"/>
              </a:rPr>
              <a:t>- </a:t>
            </a:r>
            <a:r>
              <a:rPr sz="1700">
                <a:solidFill>
                  <a:srgbClr val="F6F8FF"/>
                </a:solidFill>
                <a:latin typeface="Aptos"/>
              </a:rPr>
              <a:t>Search with a duration filter, for example: python tutorial for beginners under 10 minutes.</a:t>
            </a:r>
          </a:p>
          <a:p>
            <a:pPr>
              <a:lnSpc>
                <a:spcPct val="105000"/>
              </a:lnSpc>
              <a:spcAft>
                <a:spcPts val="800"/>
              </a:spcAft>
            </a:pPr>
            <a:r>
              <a:rPr sz="1700" b="1">
                <a:solidFill>
                  <a:srgbClr val="22D3EE"/>
                </a:solidFill>
                <a:latin typeface="Aptos"/>
              </a:rPr>
              <a:t>- </a:t>
            </a:r>
            <a:r>
              <a:rPr sz="1700">
                <a:solidFill>
                  <a:srgbClr val="F6F8FF"/>
                </a:solidFill>
                <a:latin typeface="Aptos"/>
              </a:rPr>
              <a:t>Pick a video and click Prepare to show real ingestion progress.</a:t>
            </a:r>
          </a:p>
          <a:p>
            <a:pPr>
              <a:lnSpc>
                <a:spcPct val="105000"/>
              </a:lnSpc>
              <a:spcAft>
                <a:spcPts val="800"/>
              </a:spcAft>
            </a:pPr>
            <a:r>
              <a:rPr sz="1700" b="1">
                <a:solidFill>
                  <a:srgbClr val="22D3EE"/>
                </a:solidFill>
                <a:latin typeface="Aptos"/>
              </a:rPr>
              <a:t>- </a:t>
            </a:r>
            <a:r>
              <a:rPr sz="1700">
                <a:solidFill>
                  <a:srgbClr val="F6F8FF"/>
                </a:solidFill>
                <a:latin typeface="Aptos"/>
              </a:rPr>
              <a:t>Ask: What is Python used for?</a:t>
            </a:r>
          </a:p>
          <a:p>
            <a:pPr>
              <a:lnSpc>
                <a:spcPct val="105000"/>
              </a:lnSpc>
              <a:spcAft>
                <a:spcPts val="800"/>
              </a:spcAft>
            </a:pPr>
            <a:r>
              <a:rPr sz="1700" b="1">
                <a:solidFill>
                  <a:srgbClr val="22D3EE"/>
                </a:solidFill>
                <a:latin typeface="Aptos"/>
              </a:rPr>
              <a:t>- </a:t>
            </a:r>
            <a:r>
              <a:rPr sz="1700">
                <a:solidFill>
                  <a:srgbClr val="F6F8FF"/>
                </a:solidFill>
                <a:latin typeface="Aptos"/>
              </a:rPr>
              <a:t>Show timestamp citations and the tool breadcrumb.</a:t>
            </a:r>
          </a:p>
          <a:p>
            <a:pPr>
              <a:lnSpc>
                <a:spcPct val="105000"/>
              </a:lnSpc>
              <a:spcAft>
                <a:spcPts val="800"/>
              </a:spcAft>
            </a:pPr>
            <a:r>
              <a:rPr sz="1700" b="1">
                <a:solidFill>
                  <a:srgbClr val="22D3EE"/>
                </a:solidFill>
                <a:latin typeface="Aptos"/>
              </a:rPr>
              <a:t>- </a:t>
            </a:r>
            <a:r>
              <a:rPr sz="1700">
                <a:solidFill>
                  <a:srgbClr val="F6F8FF"/>
                </a:solidFill>
                <a:latin typeface="Aptos"/>
              </a:rPr>
              <a:t>Ask a follow-up to demonstrate memory.</a:t>
            </a:r>
          </a:p>
          <a:p>
            <a:pPr>
              <a:lnSpc>
                <a:spcPct val="105000"/>
              </a:lnSpc>
              <a:spcAft>
                <a:spcPts val="800"/>
              </a:spcAft>
            </a:pPr>
            <a:r>
              <a:rPr sz="1700" b="1">
                <a:solidFill>
                  <a:srgbClr val="22D3EE"/>
                </a:solidFill>
                <a:latin typeface="Aptos"/>
              </a:rPr>
              <a:t>- </a:t>
            </a:r>
            <a:r>
              <a:rPr sz="1700">
                <a:solidFill>
                  <a:srgbClr val="F6F8FF"/>
                </a:solidFill>
                <a:latin typeface="Aptos"/>
              </a:rPr>
              <a:t>Ask an unrelated question to show refusal behavior.</a:t>
            </a:r>
          </a:p>
          <a:p>
            <a:pPr>
              <a:lnSpc>
                <a:spcPct val="105000"/>
              </a:lnSpc>
              <a:spcAft>
                <a:spcPts val="800"/>
              </a:spcAft>
            </a:pPr>
            <a:r>
              <a:rPr sz="1700" b="1">
                <a:solidFill>
                  <a:srgbClr val="22D3EE"/>
                </a:solidFill>
                <a:latin typeface="Aptos"/>
              </a:rPr>
              <a:t>- </a:t>
            </a:r>
            <a:r>
              <a:rPr sz="1700">
                <a:solidFill>
                  <a:srgbClr val="F6F8FF"/>
                </a:solidFill>
                <a:latin typeface="Aptos"/>
              </a:rPr>
              <a:t>Use mic input and Read aloud if time allows.</a:t>
            </a:r>
          </a:p>
          <a:p>
            <a:pPr>
              <a:lnSpc>
                <a:spcPct val="105000"/>
              </a:lnSpc>
              <a:spcAft>
                <a:spcPts val="800"/>
              </a:spcAft>
            </a:pPr>
            <a:r>
              <a:rPr sz="1700" b="1">
                <a:solidFill>
                  <a:srgbClr val="22D3EE"/>
                </a:solidFill>
                <a:latin typeface="Aptos"/>
              </a:rPr>
              <a:t>- </a:t>
            </a:r>
            <a:r>
              <a:rPr sz="1700">
                <a:solidFill>
                  <a:srgbClr val="F6F8FF"/>
                </a:solidFill>
                <a:latin typeface="Aptos"/>
              </a:rPr>
              <a:t>Show /analytics and /metrics if time allows.</a:t>
            </a:r>
          </a:p>
          <a:p>
            <a:pPr>
              <a:lnSpc>
                <a:spcPct val="105000"/>
              </a:lnSpc>
              <a:spcAft>
                <a:spcPts val="800"/>
              </a:spcAft>
            </a:pPr>
            <a:r>
              <a:rPr sz="1700" b="1">
                <a:solidFill>
                  <a:srgbClr val="22D3EE"/>
                </a:solidFill>
                <a:latin typeface="Aptos"/>
              </a:rPr>
              <a:t>- </a:t>
            </a:r>
            <a:r>
              <a:rPr sz="1700">
                <a:solidFill>
                  <a:srgbClr val="F6F8FF"/>
                </a:solidFill>
                <a:latin typeface="Aptos"/>
              </a:rPr>
              <a:t>Show EC2 health endpoint and explain the YouTube cloud-IP transcript limitation.</a:t>
            </a:r>
          </a:p>
        </p:txBody>
      </p:sp>
      <p:sp>
        <p:nvSpPr>
          <p:cNvPr id="9" name="Rounded Rectangle 8"/>
          <p:cNvSpPr/>
          <p:nvPr/>
        </p:nvSpPr>
        <p:spPr>
          <a:xfrm>
            <a:off x="7360920" y="1874519"/>
            <a:ext cx="3566160" cy="342900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2176272"/>
            <a:ext cx="2926080" cy="320040"/>
          </a:xfrm>
          <a:prstGeom prst="rect">
            <a:avLst/>
          </a:prstGeom>
          <a:noFill/>
        </p:spPr>
        <p:txBody>
          <a:bodyPr wrap="square">
            <a:spAutoFit/>
          </a:bodyPr>
          <a:lstStyle/>
          <a:p>
            <a:pPr algn="l"/>
            <a:r>
              <a:rPr sz="1400" b="1" spc="150">
                <a:solidFill>
                  <a:srgbClr val="EC4899"/>
                </a:solidFill>
                <a:latin typeface="Aptos"/>
              </a:rPr>
              <a:t>WHAT TO EMPHASIZE</a:t>
            </a:r>
          </a:p>
        </p:txBody>
      </p:sp>
      <p:sp>
        <p:nvSpPr>
          <p:cNvPr id="11" name="TextBox 10"/>
          <p:cNvSpPr txBox="1"/>
          <p:nvPr/>
        </p:nvSpPr>
        <p:spPr>
          <a:xfrm>
            <a:off x="7662672" y="2743200"/>
            <a:ext cx="2834640" cy="1325880"/>
          </a:xfrm>
          <a:prstGeom prst="rect">
            <a:avLst/>
          </a:prstGeom>
          <a:noFill/>
        </p:spPr>
        <p:txBody>
          <a:bodyPr wrap="square">
            <a:spAutoFit/>
          </a:bodyPr>
          <a:lstStyle/>
          <a:p>
            <a:pPr algn="l"/>
            <a:r>
              <a:rPr sz="1800" b="0">
                <a:solidFill>
                  <a:srgbClr val="F6F8FF"/>
                </a:solidFill>
                <a:latin typeface="Aptos"/>
              </a:rPr>
              <a:t>This is not a generic chatbot. It is a transcript-grounded learning workflow with tools, memory, vector search, citations, analytics, and a polished UI.</a:t>
            </a:r>
          </a:p>
        </p:txBody>
      </p:sp>
      <p:sp>
        <p:nvSpPr>
          <p:cNvPr id="12" name="TextBox 11"/>
          <p:cNvSpPr txBox="1"/>
          <p:nvPr/>
        </p:nvSpPr>
        <p:spPr>
          <a:xfrm>
            <a:off x="7662672" y="4251960"/>
            <a:ext cx="2834640" cy="822960"/>
          </a:xfrm>
          <a:prstGeom prst="rect">
            <a:avLst/>
          </a:prstGeom>
          <a:noFill/>
        </p:spPr>
        <p:txBody>
          <a:bodyPr wrap="square">
            <a:spAutoFit/>
          </a:bodyPr>
          <a:lstStyle/>
          <a:p>
            <a:pPr algn="l"/>
            <a:r>
              <a:rPr sz="1100" b="0">
                <a:solidFill>
                  <a:srgbClr val="94A3B8"/>
                </a:solidFill>
                <a:latin typeface="Aptos"/>
              </a:rPr>
              <a:t>Keep the demo focused on trust: every answer links back to the video. EC2 proves deployment; local run proves full transcript access when YouTube blocks cloud 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70D"/>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680960" y="-640080"/>
            <a:ext cx="4754880" cy="29260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937760"/>
            <a:ext cx="3657600" cy="2468880"/>
          </a:xfrm>
          <a:prstGeom prst="round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9875520" cy="1143000"/>
          </a:xfrm>
          <a:prstGeom prst="rect">
            <a:avLst/>
          </a:prstGeom>
          <a:noFill/>
        </p:spPr>
        <p:txBody>
          <a:bodyPr wrap="square">
            <a:spAutoFit/>
          </a:bodyPr>
          <a:lstStyle/>
          <a:p>
            <a:pPr algn="l"/>
            <a:r>
              <a:rPr sz="4200" b="1">
                <a:solidFill>
                  <a:srgbClr val="F6F8FF"/>
                </a:solidFill>
                <a:latin typeface="Aptos"/>
              </a:rPr>
              <a:t>AskTube AI makes YouTube learnable by conversation.</a:t>
            </a:r>
          </a:p>
        </p:txBody>
      </p:sp>
      <p:sp>
        <p:nvSpPr>
          <p:cNvPr id="6" name="TextBox 5"/>
          <p:cNvSpPr txBox="1"/>
          <p:nvPr/>
        </p:nvSpPr>
        <p:spPr>
          <a:xfrm>
            <a:off x="777240" y="2423160"/>
            <a:ext cx="8869680" cy="457200"/>
          </a:xfrm>
          <a:prstGeom prst="rect">
            <a:avLst/>
          </a:prstGeom>
          <a:noFill/>
        </p:spPr>
        <p:txBody>
          <a:bodyPr wrap="square">
            <a:spAutoFit/>
          </a:bodyPr>
          <a:lstStyle/>
          <a:p>
            <a:pPr algn="l"/>
            <a:r>
              <a:rPr sz="2100" b="0">
                <a:solidFill>
                  <a:srgbClr val="22D3EE"/>
                </a:solidFill>
                <a:latin typeface="Aptos"/>
              </a:rPr>
              <a:t>Search videos. Build transcript knowledge. Ask questions. Verify with timestamps.</a:t>
            </a:r>
          </a:p>
        </p:txBody>
      </p:sp>
      <p:sp>
        <p:nvSpPr>
          <p:cNvPr id="7" name="Rounded Rectangle 6"/>
          <p:cNvSpPr/>
          <p:nvPr/>
        </p:nvSpPr>
        <p:spPr>
          <a:xfrm>
            <a:off x="777240" y="3749039"/>
            <a:ext cx="3474720" cy="1234440"/>
          </a:xfrm>
          <a:prstGeom prst="roundRect">
            <a:avLst/>
          </a:prstGeom>
          <a:solidFill>
            <a:srgbClr val="10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749039"/>
            <a:ext cx="73152" cy="1234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913631"/>
            <a:ext cx="3154679" cy="228600"/>
          </a:xfrm>
          <a:prstGeom prst="rect">
            <a:avLst/>
          </a:prstGeom>
          <a:noFill/>
        </p:spPr>
        <p:txBody>
          <a:bodyPr wrap="square">
            <a:spAutoFit/>
          </a:bodyPr>
          <a:lstStyle/>
          <a:p>
            <a:pPr algn="l"/>
            <a:r>
              <a:rPr sz="1100" b="1" spc="160">
                <a:solidFill>
                  <a:srgbClr val="34D399"/>
                </a:solidFill>
                <a:latin typeface="Aptos"/>
              </a:rPr>
              <a:t>MANDATORY REQUIREMENTS</a:t>
            </a:r>
          </a:p>
        </p:txBody>
      </p:sp>
      <p:sp>
        <p:nvSpPr>
          <p:cNvPr id="10" name="TextBox 9"/>
          <p:cNvSpPr txBox="1"/>
          <p:nvPr/>
        </p:nvSpPr>
        <p:spPr>
          <a:xfrm>
            <a:off x="978408" y="4251959"/>
            <a:ext cx="3154679" cy="594360"/>
          </a:xfrm>
          <a:prstGeom prst="rect">
            <a:avLst/>
          </a:prstGeom>
          <a:noFill/>
        </p:spPr>
        <p:txBody>
          <a:bodyPr wrap="square">
            <a:spAutoFit/>
          </a:bodyPr>
          <a:lstStyle/>
          <a:p>
            <a:pPr algn="l"/>
            <a:r>
              <a:rPr sz="1400" b="0">
                <a:solidFill>
                  <a:srgbClr val="F6F8FF"/>
                </a:solidFill>
                <a:latin typeface="Aptos"/>
              </a:rPr>
              <a:t>LLM chatbot, tools, memory, vector database, text processing, UI, tests, evaluation, and Docker deployment are covered.</a:t>
            </a:r>
          </a:p>
        </p:txBody>
      </p:sp>
      <p:sp>
        <p:nvSpPr>
          <p:cNvPr id="11" name="Rounded Rectangle 10"/>
          <p:cNvSpPr/>
          <p:nvPr/>
        </p:nvSpPr>
        <p:spPr>
          <a:xfrm>
            <a:off x="4526280" y="3749039"/>
            <a:ext cx="3474720" cy="1234440"/>
          </a:xfrm>
          <a:prstGeom prst="roundRect">
            <a:avLst/>
          </a:prstGeom>
          <a:solidFill>
            <a:srgbClr val="10172A"/>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3749039"/>
            <a:ext cx="73152" cy="123444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27448" y="3913631"/>
            <a:ext cx="3154679" cy="228600"/>
          </a:xfrm>
          <a:prstGeom prst="rect">
            <a:avLst/>
          </a:prstGeom>
          <a:noFill/>
        </p:spPr>
        <p:txBody>
          <a:bodyPr wrap="square">
            <a:spAutoFit/>
          </a:bodyPr>
          <a:lstStyle/>
          <a:p>
            <a:pPr algn="l"/>
            <a:r>
              <a:rPr sz="1100" b="1" spc="160">
                <a:solidFill>
                  <a:srgbClr val="EC4899"/>
                </a:solidFill>
                <a:latin typeface="Aptos"/>
              </a:rPr>
              <a:t>OPTIONAL FEATURES</a:t>
            </a:r>
          </a:p>
        </p:txBody>
      </p:sp>
      <p:sp>
        <p:nvSpPr>
          <p:cNvPr id="14" name="TextBox 13"/>
          <p:cNvSpPr txBox="1"/>
          <p:nvPr/>
        </p:nvSpPr>
        <p:spPr>
          <a:xfrm>
            <a:off x="4727448" y="4251959"/>
            <a:ext cx="3154679" cy="594360"/>
          </a:xfrm>
          <a:prstGeom prst="rect">
            <a:avLst/>
          </a:prstGeom>
          <a:noFill/>
        </p:spPr>
        <p:txBody>
          <a:bodyPr wrap="square">
            <a:spAutoFit/>
          </a:bodyPr>
          <a:lstStyle/>
          <a:p>
            <a:pPr algn="l"/>
            <a:r>
              <a:rPr sz="1400" b="0">
                <a:solidFill>
                  <a:srgbClr val="F6F8FF"/>
                </a:solidFill>
                <a:latin typeface="Aptos"/>
              </a:rPr>
              <a:t>Voice input, Whisper fallback, WebSocket streaming, TTS, 3D assistant, analytics, and LangSmith tracing are included.</a:t>
            </a:r>
          </a:p>
        </p:txBody>
      </p:sp>
      <p:sp>
        <p:nvSpPr>
          <p:cNvPr id="15" name="Rounded Rectangle 14"/>
          <p:cNvSpPr/>
          <p:nvPr/>
        </p:nvSpPr>
        <p:spPr>
          <a:xfrm>
            <a:off x="8275320" y="3749039"/>
            <a:ext cx="3108960" cy="1234440"/>
          </a:xfrm>
          <a:prstGeom prst="roundRect">
            <a:avLst/>
          </a:prstGeom>
          <a:solidFill>
            <a:srgbClr val="10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20" y="3749039"/>
            <a:ext cx="73152" cy="12344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3913631"/>
            <a:ext cx="2788920" cy="228600"/>
          </a:xfrm>
          <a:prstGeom prst="rect">
            <a:avLst/>
          </a:prstGeom>
          <a:noFill/>
        </p:spPr>
        <p:txBody>
          <a:bodyPr wrap="square">
            <a:spAutoFit/>
          </a:bodyPr>
          <a:lstStyle/>
          <a:p>
            <a:pPr algn="l"/>
            <a:r>
              <a:rPr sz="1100" b="1" spc="160">
                <a:solidFill>
                  <a:srgbClr val="22D3EE"/>
                </a:solidFill>
                <a:latin typeface="Aptos"/>
              </a:rPr>
              <a:t>NEXT IMPROVEMENTS</a:t>
            </a:r>
          </a:p>
        </p:txBody>
      </p:sp>
      <p:sp>
        <p:nvSpPr>
          <p:cNvPr id="18" name="TextBox 17"/>
          <p:cNvSpPr txBox="1"/>
          <p:nvPr/>
        </p:nvSpPr>
        <p:spPr>
          <a:xfrm>
            <a:off x="8476488" y="4251959"/>
            <a:ext cx="2788920" cy="594360"/>
          </a:xfrm>
          <a:prstGeom prst="rect">
            <a:avLst/>
          </a:prstGeom>
          <a:noFill/>
        </p:spPr>
        <p:txBody>
          <a:bodyPr wrap="square">
            <a:spAutoFit/>
          </a:bodyPr>
          <a:lstStyle/>
          <a:p>
            <a:pPr algn="l"/>
            <a:r>
              <a:rPr sz="1400" b="0">
                <a:solidFill>
                  <a:srgbClr val="F6F8FF"/>
                </a:solidFill>
                <a:latin typeface="Aptos"/>
              </a:rPr>
              <a:t>Persistent user accounts, multi-video comparison, HTTPS custom domain, and a stronger production transcript proxy.</a:t>
            </a:r>
          </a:p>
        </p:txBody>
      </p:sp>
      <p:sp>
        <p:nvSpPr>
          <p:cNvPr id="19" name="TextBox 18"/>
          <p:cNvSpPr txBox="1"/>
          <p:nvPr/>
        </p:nvSpPr>
        <p:spPr>
          <a:xfrm>
            <a:off x="777240" y="6144768"/>
            <a:ext cx="2743200" cy="274320"/>
          </a:xfrm>
          <a:prstGeom prst="rect">
            <a:avLst/>
          </a:prstGeom>
          <a:noFill/>
        </p:spPr>
        <p:txBody>
          <a:bodyPr wrap="square">
            <a:spAutoFit/>
          </a:bodyPr>
          <a:lstStyle/>
          <a:p>
            <a:pPr algn="l"/>
            <a:r>
              <a:rPr sz="1400" b="1">
                <a:solidFill>
                  <a:srgbClr val="94A3B8"/>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